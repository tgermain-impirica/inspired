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2563EB"/>
          </a:solidFill>
          <a:ln/>
        </p:spPr>
      </p:sp>
      <p:sp>
        <p:nvSpPr>
          <p:cNvPr id="3" name="Shape 1"/>
          <p:cNvSpPr/>
          <p:nvPr/>
        </p:nvSpPr>
        <p:spPr>
          <a:xfrm>
            <a:off x="4206240" y="0"/>
            <a:ext cx="640080" cy="6858000"/>
          </a:xfrm>
          <a:prstGeom prst="rect">
            <a:avLst/>
          </a:prstGeom>
          <a:solidFill>
            <a:srgbClr val="1D4ED8">
              <a:alpha val="70000"/>
            </a:srgbClr>
          </a:solidFill>
          <a:ln/>
        </p:spPr>
      </p:sp>
      <p:sp>
        <p:nvSpPr>
          <p:cNvPr id="4" name="Shape 2"/>
          <p:cNvSpPr/>
          <p:nvPr/>
        </p:nvSpPr>
        <p:spPr>
          <a:xfrm>
            <a:off x="5029200" y="457200"/>
            <a:ext cx="6400800" cy="73152"/>
          </a:xfrm>
          <a:prstGeom prst="rect">
            <a:avLst/>
          </a:prstGeom>
          <a:solidFill>
            <a:srgbClr val="93C5FD"/>
          </a:solidFill>
          <a:ln/>
        </p:spPr>
      </p:sp>
      <p:sp>
        <p:nvSpPr>
          <p:cNvPr id="5" name="Shape 3"/>
          <p:cNvSpPr/>
          <p:nvPr/>
        </p:nvSpPr>
        <p:spPr>
          <a:xfrm>
            <a:off x="5029200" y="6309360"/>
            <a:ext cx="6400800" cy="73152"/>
          </a:xfrm>
          <a:prstGeom prst="rect">
            <a:avLst/>
          </a:prstGeom>
          <a:solidFill>
            <a:srgbClr val="93C5FD"/>
          </a:solidFill>
          <a:ln/>
        </p:spPr>
      </p:sp>
      <p:sp>
        <p:nvSpPr>
          <p:cNvPr id="6" name="Text 4"/>
          <p:cNvSpPr/>
          <p:nvPr/>
        </p:nvSpPr>
        <p:spPr>
          <a:xfrm>
            <a:off x="274320" y="1097280"/>
            <a:ext cx="4114800" cy="1828800"/>
          </a:xfrm>
          <a:prstGeom prst="rect">
            <a:avLst/>
          </a:prstGeom>
          <a:noFill/>
          <a:ln/>
        </p:spPr>
        <p:txBody>
          <a:bodyPr wrap="square" lIns="0" tIns="0" rIns="0" bIns="0" rtlCol="0" anchor="ctr"/>
          <a:lstStyle/>
          <a:p>
            <a:pPr algn="ctr" indent="0" marL="0">
              <a:buNone/>
            </a:pPr>
            <a:r>
              <a:rPr lang="en-US" sz="7200" b="1" spc="800" kern="0" dirty="0">
                <a:solidFill>
                  <a:srgbClr val="FFFFFF"/>
                </a:solidFill>
                <a:latin typeface="Arial Black" pitchFamily="34" charset="0"/>
                <a:ea typeface="Arial Black" pitchFamily="34" charset="-122"/>
                <a:cs typeface="Arial Black" pitchFamily="34" charset="-120"/>
              </a:rPr>
              <a:t>INSPIRED</a:t>
            </a:r>
            <a:endParaRPr lang="en-US" sz="7200" dirty="0"/>
          </a:p>
        </p:txBody>
      </p:sp>
      <p:sp>
        <p:nvSpPr>
          <p:cNvPr id="7" name="Text 5"/>
          <p:cNvSpPr/>
          <p:nvPr/>
        </p:nvSpPr>
        <p:spPr>
          <a:xfrm>
            <a:off x="274320" y="2834640"/>
            <a:ext cx="4114800" cy="457200"/>
          </a:xfrm>
          <a:prstGeom prst="rect">
            <a:avLst/>
          </a:prstGeom>
          <a:noFill/>
          <a:ln/>
        </p:spPr>
        <p:txBody>
          <a:bodyPr wrap="square" lIns="0" tIns="0" rIns="0" bIns="0" rtlCol="0" anchor="ctr"/>
          <a:lstStyle/>
          <a:p>
            <a:pPr algn="ctr" indent="0" marL="0">
              <a:buNone/>
            </a:pPr>
            <a:r>
              <a:rPr lang="en-US" sz="1600" i="1" dirty="0">
                <a:solidFill>
                  <a:srgbClr val="0F172A"/>
                </a:solidFill>
                <a:latin typeface="Arial" pitchFamily="34" charset="0"/>
                <a:ea typeface="Arial" pitchFamily="34" charset="-122"/>
                <a:cs typeface="Arial" pitchFamily="34" charset="-120"/>
              </a:rPr>
              <a:t>by Marty Cagan</a:t>
            </a:r>
            <a:endParaRPr lang="en-US" sz="1600" dirty="0"/>
          </a:p>
        </p:txBody>
      </p:sp>
      <p:sp>
        <p:nvSpPr>
          <p:cNvPr id="8" name="Shape 6"/>
          <p:cNvSpPr/>
          <p:nvPr/>
        </p:nvSpPr>
        <p:spPr>
          <a:xfrm>
            <a:off x="1188720" y="3429000"/>
            <a:ext cx="2286000" cy="45720"/>
          </a:xfrm>
          <a:prstGeom prst="rect">
            <a:avLst/>
          </a:prstGeom>
          <a:solidFill>
            <a:srgbClr val="0F172A">
              <a:alpha val="70000"/>
            </a:srgbClr>
          </a:solidFill>
          <a:ln/>
        </p:spPr>
      </p:sp>
      <p:sp>
        <p:nvSpPr>
          <p:cNvPr id="9" name="Text 7"/>
          <p:cNvSpPr/>
          <p:nvPr/>
        </p:nvSpPr>
        <p:spPr>
          <a:xfrm>
            <a:off x="274320" y="3657600"/>
            <a:ext cx="4114800" cy="365760"/>
          </a:xfrm>
          <a:prstGeom prst="rect">
            <a:avLst/>
          </a:prstGeom>
          <a:noFill/>
          <a:ln/>
        </p:spPr>
        <p:txBody>
          <a:bodyPr wrap="square" lIns="0" tIns="0" rIns="0" bIns="0" rtlCol="0" anchor="ctr"/>
          <a:lstStyle/>
          <a:p>
            <a:pPr algn="ctr" indent="0" marL="0">
              <a:buNone/>
            </a:pPr>
            <a:r>
              <a:rPr lang="en-US" sz="1100" b="1" spc="300" kern="0" dirty="0">
                <a:solidFill>
                  <a:srgbClr val="0F172A"/>
                </a:solidFill>
                <a:latin typeface="Arial" pitchFamily="34" charset="0"/>
                <a:ea typeface="Arial" pitchFamily="34" charset="-122"/>
                <a:cs typeface="Arial" pitchFamily="34" charset="-120"/>
              </a:rPr>
              <a:t>SECOND EDITION</a:t>
            </a:r>
            <a:endParaRPr lang="en-US" sz="1100" dirty="0"/>
          </a:p>
        </p:txBody>
      </p:sp>
      <p:sp>
        <p:nvSpPr>
          <p:cNvPr id="10" name="Text 8"/>
          <p:cNvSpPr/>
          <p:nvPr/>
        </p:nvSpPr>
        <p:spPr>
          <a:xfrm>
            <a:off x="5303520" y="1188720"/>
            <a:ext cx="64008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How to Create Tech Products</a:t>
            </a:r>
            <a:endParaRPr lang="en-US" sz="3600" dirty="0"/>
          </a:p>
          <a:p>
            <a:pPr algn="l" indent="0" marL="0">
              <a:buNone/>
            </a:pPr>
            <a:r>
              <a:rPr lang="en-US" sz="3600" b="1" dirty="0">
                <a:solidFill>
                  <a:srgbClr val="FFFFFF"/>
                </a:solidFill>
                <a:latin typeface="Georgia" pitchFamily="34" charset="0"/>
                <a:ea typeface="Georgia" pitchFamily="34" charset="-122"/>
                <a:cs typeface="Georgia" pitchFamily="34" charset="-120"/>
              </a:rPr>
              <a:t>Customers Love</a:t>
            </a:r>
            <a:endParaRPr lang="en-US" sz="3600" dirty="0"/>
          </a:p>
        </p:txBody>
      </p:sp>
      <p:sp>
        <p:nvSpPr>
          <p:cNvPr id="11" name="Text 9"/>
          <p:cNvSpPr/>
          <p:nvPr/>
        </p:nvSpPr>
        <p:spPr>
          <a:xfrm>
            <a:off x="5303520" y="2926080"/>
            <a:ext cx="6400800" cy="914400"/>
          </a:xfrm>
          <a:prstGeom prst="rect">
            <a:avLst/>
          </a:prstGeom>
          <a:noFill/>
          <a:ln/>
        </p:spPr>
        <p:txBody>
          <a:bodyPr wrap="square" lIns="0" tIns="0" rIns="0" bIns="0" rtlCol="0" anchor="ctr"/>
          <a:lstStyle/>
          <a:p>
            <a:pPr algn="l" indent="0" marL="0">
              <a:buNone/>
            </a:pPr>
            <a:r>
              <a:rPr lang="en-US" sz="2000" dirty="0">
                <a:solidFill>
                  <a:srgbClr val="93C5FD"/>
                </a:solidFill>
                <a:latin typeface="Arial" pitchFamily="34" charset="0"/>
                <a:ea typeface="Arial" pitchFamily="34" charset="-122"/>
                <a:cs typeface="Arial" pitchFamily="34" charset="-120"/>
              </a:rPr>
              <a:t>Team Training &amp; Book Study</a:t>
            </a:r>
            <a:endParaRPr lang="en-US" sz="2000" dirty="0"/>
          </a:p>
          <a:p>
            <a:pPr algn="l" indent="0" marL="0">
              <a:buNone/>
            </a:pPr>
            <a:r>
              <a:rPr lang="en-US" sz="2000" dirty="0">
                <a:solidFill>
                  <a:srgbClr val="93C5FD"/>
                </a:solidFill>
                <a:latin typeface="Arial" pitchFamily="34" charset="0"/>
                <a:ea typeface="Arial" pitchFamily="34" charset="-122"/>
                <a:cs typeface="Arial" pitchFamily="34" charset="-120"/>
              </a:rPr>
              <a:t>Facilitation Guide</a:t>
            </a:r>
            <a:endParaRPr lang="en-US" sz="2000" dirty="0"/>
          </a:p>
        </p:txBody>
      </p:sp>
      <p:sp>
        <p:nvSpPr>
          <p:cNvPr id="12" name="Shape 10"/>
          <p:cNvSpPr/>
          <p:nvPr/>
        </p:nvSpPr>
        <p:spPr>
          <a:xfrm>
            <a:off x="5303520" y="5577840"/>
            <a:ext cx="6400800" cy="777240"/>
          </a:xfrm>
          <a:prstGeom prst="rect">
            <a:avLst/>
          </a:prstGeom>
          <a:solidFill>
            <a:srgbClr val="0F172A">
              <a:alpha val="60000"/>
            </a:srgbClr>
          </a:solidFill>
          <a:ln/>
        </p:spPr>
      </p:sp>
      <p:sp>
        <p:nvSpPr>
          <p:cNvPr id="13" name="Text 11"/>
          <p:cNvSpPr/>
          <p:nvPr/>
        </p:nvSpPr>
        <p:spPr>
          <a:xfrm>
            <a:off x="5486400" y="5623560"/>
            <a:ext cx="6217920" cy="640080"/>
          </a:xfrm>
          <a:prstGeom prst="rect">
            <a:avLst/>
          </a:prstGeom>
          <a:noFill/>
          <a:ln/>
        </p:spPr>
        <p:txBody>
          <a:bodyPr wrap="square" lIns="0" tIns="0" rIns="0" bIns="0" rtlCol="0" anchor="ctr"/>
          <a:lstStyle/>
          <a:p>
            <a:pPr algn="l" indent="0" marL="0">
              <a:buNone/>
            </a:pPr>
            <a:r>
              <a:rPr lang="en-US" sz="1200" b="1" dirty="0">
                <a:solidFill>
                  <a:srgbClr val="93C5FD"/>
                </a:solidFill>
                <a:latin typeface="Arial" pitchFamily="34" charset="0"/>
                <a:ea typeface="Arial" pitchFamily="34" charset="-122"/>
                <a:cs typeface="Arial" pitchFamily="34" charset="-120"/>
              </a:rPr>
              <a:t>Parts Covered: </a:t>
            </a:r>
            <a:pPr algn="l" indent="0" marL="0">
              <a:buNone/>
            </a:pPr>
            <a:r>
              <a:rPr lang="en-US" sz="1200" dirty="0">
                <a:solidFill>
                  <a:srgbClr val="FFFFFF"/>
                </a:solidFill>
                <a:latin typeface="Arial" pitchFamily="34" charset="0"/>
                <a:ea typeface="Arial" pitchFamily="34" charset="-122"/>
                <a:cs typeface="Arial" pitchFamily="34" charset="-120"/>
              </a:rPr>
              <a:t>1</a:t>
            </a:r>
            <a:pPr algn="l" indent="0" marL="0">
              <a:buNone/>
            </a:pPr>
            <a:r>
              <a:rPr lang="en-US" sz="1200" dirty="0">
                <a:solidFill>
                  <a:srgbClr val="7A7A9A"/>
                </a:solidFill>
                <a:latin typeface="Arial" pitchFamily="34" charset="0"/>
                <a:ea typeface="Arial" pitchFamily="34" charset="-122"/>
                <a:cs typeface="Arial" pitchFamily="34" charset="-120"/>
              </a:rPr>
              <a:t>   |   </a:t>
            </a:r>
            <a:pPr algn="l" indent="0" marL="0">
              <a:buNone/>
            </a:pPr>
            <a:r>
              <a:rPr lang="en-US" sz="1200" b="1" dirty="0">
                <a:solidFill>
                  <a:srgbClr val="93C5FD"/>
                </a:solidFill>
                <a:latin typeface="Arial" pitchFamily="34" charset="0"/>
                <a:ea typeface="Arial" pitchFamily="34" charset="-122"/>
                <a:cs typeface="Arial" pitchFamily="34" charset="-120"/>
              </a:rPr>
              <a:t>Chapters: </a:t>
            </a:r>
            <a:pPr algn="l" indent="0" marL="0">
              <a:buNone/>
            </a:pPr>
            <a:r>
              <a:rPr lang="en-US" sz="1200" dirty="0">
                <a:solidFill>
                  <a:srgbClr val="FFFFFF"/>
                </a:solidFill>
                <a:latin typeface="Arial" pitchFamily="34" charset="0"/>
                <a:ea typeface="Arial" pitchFamily="34" charset="-122"/>
                <a:cs typeface="Arial" pitchFamily="34" charset="-120"/>
              </a:rPr>
              <a:t>6</a:t>
            </a:r>
            <a:pPr algn="l" indent="0" marL="0">
              <a:buNone/>
            </a:pPr>
            <a:r>
              <a:rPr lang="en-US" sz="1200" dirty="0">
                <a:solidFill>
                  <a:srgbClr val="7A7A9A"/>
                </a:solidFill>
                <a:latin typeface="Arial" pitchFamily="34" charset="0"/>
                <a:ea typeface="Arial" pitchFamily="34" charset="-122"/>
                <a:cs typeface="Arial" pitchFamily="34" charset="-120"/>
              </a:rPr>
              <a:t>   |   </a:t>
            </a:r>
            <a:pPr algn="l" indent="0" marL="0">
              <a:buNone/>
            </a:pPr>
            <a:r>
              <a:rPr lang="en-US" sz="1200" b="1" dirty="0">
                <a:solidFill>
                  <a:srgbClr val="93C5FD"/>
                </a:solidFill>
                <a:latin typeface="Arial" pitchFamily="34" charset="0"/>
                <a:ea typeface="Arial" pitchFamily="34" charset="-122"/>
                <a:cs typeface="Arial" pitchFamily="34" charset="-120"/>
              </a:rPr>
              <a:t>Format: </a:t>
            </a:r>
            <a:pPr algn="l" indent="0" marL="0">
              <a:buNone/>
            </a:pPr>
            <a:r>
              <a:rPr lang="en-US" sz="1200" dirty="0">
                <a:solidFill>
                  <a:srgbClr val="FFFFFF"/>
                </a:solidFill>
                <a:latin typeface="Arial" pitchFamily="34" charset="0"/>
                <a:ea typeface="Arial" pitchFamily="34" charset="-122"/>
                <a:cs typeface="Arial" pitchFamily="34" charset="-120"/>
              </a:rPr>
              <a:t>Team Book Study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1097280"/>
          </a:xfrm>
          <a:prstGeom prst="rect">
            <a:avLst/>
          </a:prstGeom>
          <a:solidFill>
            <a:srgbClr val="0F172A"/>
          </a:solidFill>
          <a:ln/>
        </p:spPr>
      </p:sp>
      <p:sp>
        <p:nvSpPr>
          <p:cNvPr id="3" name="Text 1"/>
          <p:cNvSpPr/>
          <p:nvPr/>
        </p:nvSpPr>
        <p:spPr>
          <a:xfrm>
            <a:off x="457200" y="182880"/>
            <a:ext cx="10972800" cy="731520"/>
          </a:xfrm>
          <a:prstGeom prst="rect">
            <a:avLst/>
          </a:prstGeom>
          <a:noFill/>
          <a:ln/>
        </p:spPr>
        <p:txBody>
          <a:bodyPr wrap="square" lIns="0" tIns="0" rIns="0" bIns="0" rtlCol="0" anchor="ctr"/>
          <a:lstStyle/>
          <a:p>
            <a:pPr indent="0" marL="0">
              <a:buNone/>
            </a:pPr>
            <a:r>
              <a:rPr lang="en-US" sz="2000" b="1" spc="200" kern="0" dirty="0">
                <a:solidFill>
                  <a:srgbClr val="FFFFFF"/>
                </a:solidFill>
                <a:latin typeface="Arial Black" pitchFamily="34" charset="0"/>
                <a:ea typeface="Arial Black" pitchFamily="34" charset="-122"/>
                <a:cs typeface="Arial Black" pitchFamily="34" charset="-120"/>
              </a:rPr>
              <a:t>HOW TO USE THIS FACILITATION GUIDE</a:t>
            </a:r>
            <a:endParaRPr lang="en-US" sz="2000" dirty="0"/>
          </a:p>
        </p:txBody>
      </p:sp>
      <p:sp>
        <p:nvSpPr>
          <p:cNvPr id="4" name="Shape 2"/>
          <p:cNvSpPr/>
          <p:nvPr/>
        </p:nvSpPr>
        <p:spPr>
          <a:xfrm>
            <a:off x="365760" y="1371600"/>
            <a:ext cx="5486400" cy="219456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5" name="Shape 3"/>
          <p:cNvSpPr/>
          <p:nvPr/>
        </p:nvSpPr>
        <p:spPr>
          <a:xfrm>
            <a:off x="365760" y="1371600"/>
            <a:ext cx="137160" cy="2194560"/>
          </a:xfrm>
          <a:prstGeom prst="rect">
            <a:avLst/>
          </a:prstGeom>
          <a:solidFill>
            <a:srgbClr val="2563EB"/>
          </a:solidFill>
          <a:ln/>
        </p:spPr>
      </p:sp>
      <p:pic>
        <p:nvPicPr>
          <p:cNvPr id="6" name="Image 0" descr="preencoded.png">    </p:cNvPr>
          <p:cNvPicPr>
            <a:picLocks noChangeAspect="1"/>
          </p:cNvPicPr>
          <p:nvPr/>
        </p:nvPicPr>
        <p:blipFill>
          <a:blip r:embed="rId1"/>
          <a:stretch>
            <a:fillRect/>
          </a:stretch>
        </p:blipFill>
        <p:spPr>
          <a:xfrm>
            <a:off x="640080" y="1554480"/>
            <a:ext cx="457200" cy="457200"/>
          </a:xfrm>
          <a:prstGeom prst="rect">
            <a:avLst/>
          </a:prstGeom>
        </p:spPr>
      </p:pic>
      <p:sp>
        <p:nvSpPr>
          <p:cNvPr id="7" name="Text 4"/>
          <p:cNvSpPr/>
          <p:nvPr/>
        </p:nvSpPr>
        <p:spPr>
          <a:xfrm>
            <a:off x="640080" y="214884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Part Overview Slides</a:t>
            </a:r>
            <a:endParaRPr lang="en-US" sz="1600" dirty="0"/>
          </a:p>
        </p:txBody>
      </p:sp>
      <p:sp>
        <p:nvSpPr>
          <p:cNvPr id="8" name="Text 5"/>
          <p:cNvSpPr/>
          <p:nvPr/>
        </p:nvSpPr>
        <p:spPr>
          <a:xfrm>
            <a:off x="640080" y="2606040"/>
            <a:ext cx="5029200" cy="822960"/>
          </a:xfrm>
          <a:prstGeom prst="rect">
            <a:avLst/>
          </a:prstGeom>
          <a:noFill/>
          <a:ln/>
        </p:spPr>
        <p:txBody>
          <a:bodyPr wrap="square" lIns="0" tIns="0" rIns="0" bIns="0" rtlCol="0" anchor="ctr"/>
          <a:lstStyle/>
          <a:p>
            <a:pPr indent="0" marL="0">
              <a:buNone/>
            </a:pPr>
            <a:r>
              <a:rPr lang="en-US" sz="1200" dirty="0">
                <a:solidFill>
                  <a:srgbClr val="B0B4CC"/>
                </a:solidFill>
                <a:latin typeface="Arial" pitchFamily="34" charset="0"/>
                <a:ea typeface="Arial" pitchFamily="34" charset="-122"/>
                <a:cs typeface="Arial" pitchFamily="34" charset="-120"/>
              </a:rPr>
              <a:t>Each part opens with an overview slide covering the Big Idea, Key Themes, and which chapters are included. Start here before diving into chapter detail.</a:t>
            </a:r>
            <a:endParaRPr lang="en-US" sz="1200" dirty="0"/>
          </a:p>
        </p:txBody>
      </p:sp>
      <p:sp>
        <p:nvSpPr>
          <p:cNvPr id="9" name="Shape 6"/>
          <p:cNvSpPr/>
          <p:nvPr/>
        </p:nvSpPr>
        <p:spPr>
          <a:xfrm>
            <a:off x="6126480" y="1371600"/>
            <a:ext cx="5486400" cy="219456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0" name="Shape 7"/>
          <p:cNvSpPr/>
          <p:nvPr/>
        </p:nvSpPr>
        <p:spPr>
          <a:xfrm>
            <a:off x="6126480" y="1371600"/>
            <a:ext cx="137160" cy="2194560"/>
          </a:xfrm>
          <a:prstGeom prst="rect">
            <a:avLst/>
          </a:prstGeom>
          <a:solidFill>
            <a:srgbClr val="93C5FD"/>
          </a:solidFill>
          <a:ln/>
        </p:spPr>
      </p:sp>
      <p:pic>
        <p:nvPicPr>
          <p:cNvPr id="11" name="Image 1" descr="preencoded.png">    </p:cNvPr>
          <p:cNvPicPr>
            <a:picLocks noChangeAspect="1"/>
          </p:cNvPicPr>
          <p:nvPr/>
        </p:nvPicPr>
        <p:blipFill>
          <a:blip r:embed="rId2"/>
          <a:stretch>
            <a:fillRect/>
          </a:stretch>
        </p:blipFill>
        <p:spPr>
          <a:xfrm>
            <a:off x="6400800" y="1554480"/>
            <a:ext cx="457200" cy="457200"/>
          </a:xfrm>
          <a:prstGeom prst="rect">
            <a:avLst/>
          </a:prstGeom>
        </p:spPr>
      </p:pic>
      <p:sp>
        <p:nvSpPr>
          <p:cNvPr id="12" name="Text 8"/>
          <p:cNvSpPr/>
          <p:nvPr/>
        </p:nvSpPr>
        <p:spPr>
          <a:xfrm>
            <a:off x="6400800" y="214884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Chapter Detail Slides</a:t>
            </a:r>
            <a:endParaRPr lang="en-US" sz="1600" dirty="0"/>
          </a:p>
        </p:txBody>
      </p:sp>
      <p:sp>
        <p:nvSpPr>
          <p:cNvPr id="13" name="Text 9"/>
          <p:cNvSpPr/>
          <p:nvPr/>
        </p:nvSpPr>
        <p:spPr>
          <a:xfrm>
            <a:off x="6400800" y="2606040"/>
            <a:ext cx="5029200" cy="822960"/>
          </a:xfrm>
          <a:prstGeom prst="rect">
            <a:avLst/>
          </a:prstGeom>
          <a:noFill/>
          <a:ln/>
        </p:spPr>
        <p:txBody>
          <a:bodyPr wrap="square" lIns="0" tIns="0" rIns="0" bIns="0" rtlCol="0" anchor="ctr"/>
          <a:lstStyle/>
          <a:p>
            <a:pPr indent="0" marL="0">
              <a:buNone/>
            </a:pPr>
            <a:r>
              <a:rPr lang="en-US" sz="1200" dirty="0">
                <a:solidFill>
                  <a:srgbClr val="B0B4CC"/>
                </a:solidFill>
                <a:latin typeface="Arial" pitchFamily="34" charset="0"/>
                <a:ea typeface="Arial" pitchFamily="34" charset="-122"/>
                <a:cs typeface="Arial" pitchFamily="34" charset="-120"/>
              </a:rPr>
              <a:t>Each chapter has its own slide with the Big Idea, Key Points, and Discussion prompts. Use these for deeper chapter-by-chapter sessions.</a:t>
            </a:r>
            <a:endParaRPr lang="en-US" sz="1200" dirty="0"/>
          </a:p>
        </p:txBody>
      </p:sp>
      <p:sp>
        <p:nvSpPr>
          <p:cNvPr id="14" name="Shape 10"/>
          <p:cNvSpPr/>
          <p:nvPr/>
        </p:nvSpPr>
        <p:spPr>
          <a:xfrm>
            <a:off x="365760" y="3840480"/>
            <a:ext cx="5486400" cy="219456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5" name="Shape 11"/>
          <p:cNvSpPr/>
          <p:nvPr/>
        </p:nvSpPr>
        <p:spPr>
          <a:xfrm>
            <a:off x="365760" y="3840480"/>
            <a:ext cx="137160" cy="2194560"/>
          </a:xfrm>
          <a:prstGeom prst="rect">
            <a:avLst/>
          </a:prstGeom>
          <a:solidFill>
            <a:srgbClr val="06D6A0"/>
          </a:solidFill>
          <a:ln/>
        </p:spPr>
      </p:sp>
      <p:pic>
        <p:nvPicPr>
          <p:cNvPr id="16" name="Image 2" descr="preencoded.png">    </p:cNvPr>
          <p:cNvPicPr>
            <a:picLocks noChangeAspect="1"/>
          </p:cNvPicPr>
          <p:nvPr/>
        </p:nvPicPr>
        <p:blipFill>
          <a:blip r:embed="rId3"/>
          <a:stretch>
            <a:fillRect/>
          </a:stretch>
        </p:blipFill>
        <p:spPr>
          <a:xfrm>
            <a:off x="640080" y="4023360"/>
            <a:ext cx="457200" cy="457200"/>
          </a:xfrm>
          <a:prstGeom prst="rect">
            <a:avLst/>
          </a:prstGeom>
        </p:spPr>
      </p:pic>
      <p:sp>
        <p:nvSpPr>
          <p:cNvPr id="17" name="Text 12"/>
          <p:cNvSpPr/>
          <p:nvPr/>
        </p:nvSpPr>
        <p:spPr>
          <a:xfrm>
            <a:off x="640080" y="461772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Discussion Questions</a:t>
            </a:r>
            <a:endParaRPr lang="en-US" sz="1600" dirty="0"/>
          </a:p>
        </p:txBody>
      </p:sp>
      <p:sp>
        <p:nvSpPr>
          <p:cNvPr id="18" name="Text 13"/>
          <p:cNvSpPr/>
          <p:nvPr/>
        </p:nvSpPr>
        <p:spPr>
          <a:xfrm>
            <a:off x="640080" y="5074920"/>
            <a:ext cx="5029200" cy="822960"/>
          </a:xfrm>
          <a:prstGeom prst="rect">
            <a:avLst/>
          </a:prstGeom>
          <a:noFill/>
          <a:ln/>
        </p:spPr>
        <p:txBody>
          <a:bodyPr wrap="square" lIns="0" tIns="0" rIns="0" bIns="0" rtlCol="0" anchor="ctr"/>
          <a:lstStyle/>
          <a:p>
            <a:pPr indent="0" marL="0">
              <a:buNone/>
            </a:pPr>
            <a:r>
              <a:rPr lang="en-US" sz="1200" dirty="0">
                <a:solidFill>
                  <a:srgbClr val="B0B4CC"/>
                </a:solidFill>
                <a:latin typeface="Arial" pitchFamily="34" charset="0"/>
                <a:ea typeface="Arial" pitchFamily="34" charset="-122"/>
                <a:cs typeface="Arial" pitchFamily="34" charset="-120"/>
              </a:rPr>
              <a:t>Every slide includes team discussion prompts. Use them as conversation starters — pick whichever are most relevant to your team's context.</a:t>
            </a:r>
            <a:endParaRPr lang="en-US" sz="1200" dirty="0"/>
          </a:p>
        </p:txBody>
      </p:sp>
      <p:sp>
        <p:nvSpPr>
          <p:cNvPr id="19" name="Shape 14"/>
          <p:cNvSpPr/>
          <p:nvPr/>
        </p:nvSpPr>
        <p:spPr>
          <a:xfrm>
            <a:off x="6126480" y="3840480"/>
            <a:ext cx="5486400" cy="219456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0" name="Shape 15"/>
          <p:cNvSpPr/>
          <p:nvPr/>
        </p:nvSpPr>
        <p:spPr>
          <a:xfrm>
            <a:off x="6126480" y="3840480"/>
            <a:ext cx="137160" cy="2194560"/>
          </a:xfrm>
          <a:prstGeom prst="rect">
            <a:avLst/>
          </a:prstGeom>
          <a:solidFill>
            <a:srgbClr val="1E3A8A"/>
          </a:solidFill>
          <a:ln/>
        </p:spPr>
      </p:sp>
      <p:pic>
        <p:nvPicPr>
          <p:cNvPr id="21" name="Image 3" descr="preencoded.png">    </p:cNvPr>
          <p:cNvPicPr>
            <a:picLocks noChangeAspect="1"/>
          </p:cNvPicPr>
          <p:nvPr/>
        </p:nvPicPr>
        <p:blipFill>
          <a:blip r:embed="rId4"/>
          <a:stretch>
            <a:fillRect/>
          </a:stretch>
        </p:blipFill>
        <p:spPr>
          <a:xfrm>
            <a:off x="6400800" y="4023360"/>
            <a:ext cx="457200" cy="457200"/>
          </a:xfrm>
          <a:prstGeom prst="rect">
            <a:avLst/>
          </a:prstGeom>
        </p:spPr>
      </p:pic>
      <p:sp>
        <p:nvSpPr>
          <p:cNvPr id="22" name="Text 16"/>
          <p:cNvSpPr/>
          <p:nvPr/>
        </p:nvSpPr>
        <p:spPr>
          <a:xfrm>
            <a:off x="6400800" y="461772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Wrap Each Session</a:t>
            </a:r>
            <a:endParaRPr lang="en-US" sz="1600" dirty="0"/>
          </a:p>
        </p:txBody>
      </p:sp>
      <p:sp>
        <p:nvSpPr>
          <p:cNvPr id="23" name="Text 17"/>
          <p:cNvSpPr/>
          <p:nvPr/>
        </p:nvSpPr>
        <p:spPr>
          <a:xfrm>
            <a:off x="6400800" y="5074920"/>
            <a:ext cx="5029200" cy="822960"/>
          </a:xfrm>
          <a:prstGeom prst="rect">
            <a:avLst/>
          </a:prstGeom>
          <a:noFill/>
          <a:ln/>
        </p:spPr>
        <p:txBody>
          <a:bodyPr wrap="square" lIns="0" tIns="0" rIns="0" bIns="0" rtlCol="0" anchor="ctr"/>
          <a:lstStyle/>
          <a:p>
            <a:pPr indent="0" marL="0">
              <a:buNone/>
            </a:pPr>
            <a:r>
              <a:rPr lang="en-US" sz="1200" dirty="0">
                <a:solidFill>
                  <a:srgbClr val="B0B4CC"/>
                </a:solidFill>
                <a:latin typeface="Arial" pitchFamily="34" charset="0"/>
                <a:ea typeface="Arial" pitchFamily="34" charset="-122"/>
                <a:cs typeface="Arial" pitchFamily="34" charset="-120"/>
              </a:rPr>
              <a:t>End each session with: 'What's ONE thing you'll do differently because of this?' Concrete action commitment drives real change.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2563EB"/>
          </a:solidFill>
          <a:ln/>
        </p:spPr>
      </p:sp>
      <p:sp>
        <p:nvSpPr>
          <p:cNvPr id="3" name="Text 1"/>
          <p:cNvSpPr/>
          <p:nvPr/>
        </p:nvSpPr>
        <p:spPr>
          <a:xfrm>
            <a:off x="548640" y="365760"/>
            <a:ext cx="10972800" cy="5486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Arial" pitchFamily="34" charset="0"/>
                <a:ea typeface="Arial" pitchFamily="34" charset="-122"/>
                <a:cs typeface="Arial" pitchFamily="34" charset="-120"/>
              </a:rPr>
              <a:t>ABOUT THE BOOK</a:t>
            </a:r>
            <a:endParaRPr lang="en-US" sz="1200" dirty="0"/>
          </a:p>
        </p:txBody>
      </p:sp>
      <p:sp>
        <p:nvSpPr>
          <p:cNvPr id="4" name="Text 2"/>
          <p:cNvSpPr/>
          <p:nvPr/>
        </p:nvSpPr>
        <p:spPr>
          <a:xfrm>
            <a:off x="548640" y="822960"/>
            <a:ext cx="1097280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What is INSPIRED?</a:t>
            </a:r>
            <a:endParaRPr lang="en-US" sz="3800" dirty="0"/>
          </a:p>
        </p:txBody>
      </p:sp>
      <p:sp>
        <p:nvSpPr>
          <p:cNvPr id="5" name="Text 3"/>
          <p:cNvSpPr/>
          <p:nvPr/>
        </p:nvSpPr>
        <p:spPr>
          <a:xfrm>
            <a:off x="548640" y="1828800"/>
            <a:ext cx="6858000" cy="1645920"/>
          </a:xfrm>
          <a:prstGeom prst="rect">
            <a:avLst/>
          </a:prstGeom>
          <a:noFill/>
          <a:ln/>
        </p:spPr>
        <p:txBody>
          <a:bodyPr wrap="square" lIns="0" tIns="0" rIns="0" bIns="0" rtlCol="0" anchor="ctr"/>
          <a:lstStyle/>
          <a:p>
            <a:pPr indent="0" marL="0">
              <a:buNone/>
            </a:pPr>
            <a:r>
              <a:rPr lang="en-US" sz="1500" dirty="0">
                <a:solidFill>
                  <a:srgbClr val="C8CCDE"/>
                </a:solidFill>
                <a:latin typeface="Arial" pitchFamily="34" charset="0"/>
                <a:ea typeface="Arial" pitchFamily="34" charset="-122"/>
                <a:cs typeface="Arial" pitchFamily="34" charset="-120"/>
              </a:rPr>
              <a:t>INSPIRED is the definitive guide to modern product management written by Marty Cagan, founder of the Silicon Valley Product Group (SVPG). It distills decades of experience working with companies like HP, Netscape, and eBay into actionable principles for building technology products that customers actually love.</a:t>
            </a:r>
            <a:endParaRPr lang="en-US" sz="1500" dirty="0"/>
          </a:p>
        </p:txBody>
      </p:sp>
      <p:sp>
        <p:nvSpPr>
          <p:cNvPr id="6" name="Shape 4"/>
          <p:cNvSpPr/>
          <p:nvPr/>
        </p:nvSpPr>
        <p:spPr>
          <a:xfrm>
            <a:off x="548640" y="3657600"/>
            <a:ext cx="2103120" cy="1463040"/>
          </a:xfrm>
          <a:prstGeom prst="rect">
            <a:avLst/>
          </a:prstGeom>
          <a:solidFill>
            <a:srgbClr val="0F172A"/>
          </a:solidFill>
          <a:ln/>
          <a:effectLst>
            <a:outerShdw sx="100000" sy="100000" kx="0" ky="0" algn="bl" rotWithShape="0" blurRad="101600" dist="38100" dir="8100000">
              <a:srgbClr val="000000">
                <a:alpha val="18000"/>
              </a:srgbClr>
            </a:outerShdw>
          </a:effectLst>
        </p:spPr>
      </p:sp>
      <p:sp>
        <p:nvSpPr>
          <p:cNvPr id="7" name="Text 5"/>
          <p:cNvSpPr/>
          <p:nvPr/>
        </p:nvSpPr>
        <p:spPr>
          <a:xfrm>
            <a:off x="548640" y="3749040"/>
            <a:ext cx="2103120" cy="731520"/>
          </a:xfrm>
          <a:prstGeom prst="rect">
            <a:avLst/>
          </a:prstGeom>
          <a:noFill/>
          <a:ln/>
        </p:spPr>
        <p:txBody>
          <a:bodyPr wrap="square" lIns="0" tIns="0" rIns="0" bIns="0" rtlCol="0" anchor="ctr"/>
          <a:lstStyle/>
          <a:p>
            <a:pPr algn="ctr" indent="0" marL="0">
              <a:buNone/>
            </a:pPr>
            <a:r>
              <a:rPr lang="en-US" sz="4000" b="1" dirty="0">
                <a:solidFill>
                  <a:srgbClr val="2563EB"/>
                </a:solidFill>
                <a:latin typeface="Arial Black" pitchFamily="34" charset="0"/>
                <a:ea typeface="Arial Black" pitchFamily="34" charset="-122"/>
                <a:cs typeface="Arial Black" pitchFamily="34" charset="-120"/>
              </a:rPr>
              <a:t>5</a:t>
            </a:r>
            <a:endParaRPr lang="en-US" sz="4000" dirty="0"/>
          </a:p>
        </p:txBody>
      </p:sp>
      <p:sp>
        <p:nvSpPr>
          <p:cNvPr id="8" name="Text 6"/>
          <p:cNvSpPr/>
          <p:nvPr/>
        </p:nvSpPr>
        <p:spPr>
          <a:xfrm>
            <a:off x="548640" y="4389120"/>
            <a:ext cx="2103120" cy="457200"/>
          </a:xfrm>
          <a:prstGeom prst="rect">
            <a:avLst/>
          </a:prstGeom>
          <a:noFill/>
          <a:ln/>
        </p:spPr>
        <p:txBody>
          <a:bodyPr wrap="square" lIns="0" tIns="0" rIns="0" bIns="0" rtlCol="0" anchor="ctr"/>
          <a:lstStyle/>
          <a:p>
            <a:pPr algn="ctr" indent="0" marL="0">
              <a:buNone/>
            </a:pPr>
            <a:r>
              <a:rPr lang="en-US" sz="1200" dirty="0">
                <a:solidFill>
                  <a:srgbClr val="93C5FD"/>
                </a:solidFill>
                <a:latin typeface="Arial" pitchFamily="34" charset="0"/>
                <a:ea typeface="Arial" pitchFamily="34" charset="-122"/>
                <a:cs typeface="Arial" pitchFamily="34" charset="-120"/>
              </a:rPr>
              <a:t>Parts</a:t>
            </a:r>
            <a:endParaRPr lang="en-US" sz="1200" dirty="0"/>
          </a:p>
        </p:txBody>
      </p:sp>
      <p:sp>
        <p:nvSpPr>
          <p:cNvPr id="9" name="Shape 7"/>
          <p:cNvSpPr/>
          <p:nvPr/>
        </p:nvSpPr>
        <p:spPr>
          <a:xfrm>
            <a:off x="2926080" y="3657600"/>
            <a:ext cx="2103120" cy="1463040"/>
          </a:xfrm>
          <a:prstGeom prst="rect">
            <a:avLst/>
          </a:prstGeom>
          <a:solidFill>
            <a:srgbClr val="0F172A"/>
          </a:solidFill>
          <a:ln/>
          <a:effectLst>
            <a:outerShdw sx="100000" sy="100000" kx="0" ky="0" algn="bl" rotWithShape="0" blurRad="101600" dist="38100" dir="8100000">
              <a:srgbClr val="000000">
                <a:alpha val="18000"/>
              </a:srgbClr>
            </a:outerShdw>
          </a:effectLst>
        </p:spPr>
      </p:sp>
      <p:sp>
        <p:nvSpPr>
          <p:cNvPr id="10" name="Text 8"/>
          <p:cNvSpPr/>
          <p:nvPr/>
        </p:nvSpPr>
        <p:spPr>
          <a:xfrm>
            <a:off x="2926080" y="3749040"/>
            <a:ext cx="2103120" cy="731520"/>
          </a:xfrm>
          <a:prstGeom prst="rect">
            <a:avLst/>
          </a:prstGeom>
          <a:noFill/>
          <a:ln/>
        </p:spPr>
        <p:txBody>
          <a:bodyPr wrap="square" lIns="0" tIns="0" rIns="0" bIns="0" rtlCol="0" anchor="ctr"/>
          <a:lstStyle/>
          <a:p>
            <a:pPr algn="ctr" indent="0" marL="0">
              <a:buNone/>
            </a:pPr>
            <a:r>
              <a:rPr lang="en-US" sz="4000" b="1" dirty="0">
                <a:solidFill>
                  <a:srgbClr val="2563EB"/>
                </a:solidFill>
                <a:latin typeface="Arial Black" pitchFamily="34" charset="0"/>
                <a:ea typeface="Arial Black" pitchFamily="34" charset="-122"/>
                <a:cs typeface="Arial Black" pitchFamily="34" charset="-120"/>
              </a:rPr>
              <a:t>28</a:t>
            </a:r>
            <a:endParaRPr lang="en-US" sz="4000" dirty="0"/>
          </a:p>
        </p:txBody>
      </p:sp>
      <p:sp>
        <p:nvSpPr>
          <p:cNvPr id="11" name="Text 9"/>
          <p:cNvSpPr/>
          <p:nvPr/>
        </p:nvSpPr>
        <p:spPr>
          <a:xfrm>
            <a:off x="2926080" y="4389120"/>
            <a:ext cx="2103120" cy="457200"/>
          </a:xfrm>
          <a:prstGeom prst="rect">
            <a:avLst/>
          </a:prstGeom>
          <a:noFill/>
          <a:ln/>
        </p:spPr>
        <p:txBody>
          <a:bodyPr wrap="square" lIns="0" tIns="0" rIns="0" bIns="0" rtlCol="0" anchor="ctr"/>
          <a:lstStyle/>
          <a:p>
            <a:pPr algn="ctr" indent="0" marL="0">
              <a:buNone/>
            </a:pPr>
            <a:r>
              <a:rPr lang="en-US" sz="1200" dirty="0">
                <a:solidFill>
                  <a:srgbClr val="93C5FD"/>
                </a:solidFill>
                <a:latin typeface="Arial" pitchFamily="34" charset="0"/>
                <a:ea typeface="Arial" pitchFamily="34" charset="-122"/>
                <a:cs typeface="Arial" pitchFamily="34" charset="-120"/>
              </a:rPr>
              <a:t>Chapters</a:t>
            </a:r>
            <a:endParaRPr lang="en-US" sz="1200" dirty="0"/>
          </a:p>
        </p:txBody>
      </p:sp>
      <p:sp>
        <p:nvSpPr>
          <p:cNvPr id="12" name="Shape 10"/>
          <p:cNvSpPr/>
          <p:nvPr/>
        </p:nvSpPr>
        <p:spPr>
          <a:xfrm>
            <a:off x="5303520" y="3657600"/>
            <a:ext cx="2103120" cy="1463040"/>
          </a:xfrm>
          <a:prstGeom prst="rect">
            <a:avLst/>
          </a:prstGeom>
          <a:solidFill>
            <a:srgbClr val="0F172A"/>
          </a:solidFill>
          <a:ln/>
          <a:effectLst>
            <a:outerShdw sx="100000" sy="100000" kx="0" ky="0" algn="bl" rotWithShape="0" blurRad="101600" dist="38100" dir="8100000">
              <a:srgbClr val="000000">
                <a:alpha val="18000"/>
              </a:srgbClr>
            </a:outerShdw>
          </a:effectLst>
        </p:spPr>
      </p:sp>
      <p:sp>
        <p:nvSpPr>
          <p:cNvPr id="13" name="Text 11"/>
          <p:cNvSpPr/>
          <p:nvPr/>
        </p:nvSpPr>
        <p:spPr>
          <a:xfrm>
            <a:off x="5303520" y="3749040"/>
            <a:ext cx="2103120" cy="731520"/>
          </a:xfrm>
          <a:prstGeom prst="rect">
            <a:avLst/>
          </a:prstGeom>
          <a:noFill/>
          <a:ln/>
        </p:spPr>
        <p:txBody>
          <a:bodyPr wrap="square" lIns="0" tIns="0" rIns="0" bIns="0" rtlCol="0" anchor="ctr"/>
          <a:lstStyle/>
          <a:p>
            <a:pPr algn="ctr" indent="0" marL="0">
              <a:buNone/>
            </a:pPr>
            <a:r>
              <a:rPr lang="en-US" sz="4000" b="1" dirty="0">
                <a:solidFill>
                  <a:srgbClr val="2563EB"/>
                </a:solidFill>
                <a:latin typeface="Arial Black" pitchFamily="34" charset="0"/>
                <a:ea typeface="Arial Black" pitchFamily="34" charset="-122"/>
                <a:cs typeface="Arial Black" pitchFamily="34" charset="-120"/>
              </a:rPr>
              <a:t>1</a:t>
            </a:r>
            <a:endParaRPr lang="en-US" sz="4000" dirty="0"/>
          </a:p>
        </p:txBody>
      </p:sp>
      <p:sp>
        <p:nvSpPr>
          <p:cNvPr id="14" name="Text 12"/>
          <p:cNvSpPr/>
          <p:nvPr/>
        </p:nvSpPr>
        <p:spPr>
          <a:xfrm>
            <a:off x="5303520" y="4389120"/>
            <a:ext cx="2103120" cy="457200"/>
          </a:xfrm>
          <a:prstGeom prst="rect">
            <a:avLst/>
          </a:prstGeom>
          <a:noFill/>
          <a:ln/>
        </p:spPr>
        <p:txBody>
          <a:bodyPr wrap="square" lIns="0" tIns="0" rIns="0" bIns="0" rtlCol="0" anchor="ctr"/>
          <a:lstStyle/>
          <a:p>
            <a:pPr algn="ctr" indent="0" marL="0">
              <a:buNone/>
            </a:pPr>
            <a:r>
              <a:rPr lang="en-US" sz="1200" dirty="0">
                <a:solidFill>
                  <a:srgbClr val="93C5FD"/>
                </a:solidFill>
                <a:latin typeface="Arial" pitchFamily="34" charset="0"/>
                <a:ea typeface="Arial" pitchFamily="34" charset="-122"/>
                <a:cs typeface="Arial" pitchFamily="34" charset="-120"/>
              </a:rPr>
              <a:t>Core Mission</a:t>
            </a:r>
            <a:endParaRPr lang="en-US" sz="1200" dirty="0"/>
          </a:p>
        </p:txBody>
      </p:sp>
      <p:sp>
        <p:nvSpPr>
          <p:cNvPr id="15" name="Shape 13"/>
          <p:cNvSpPr/>
          <p:nvPr/>
        </p:nvSpPr>
        <p:spPr>
          <a:xfrm>
            <a:off x="7589520" y="1371600"/>
            <a:ext cx="4297680" cy="4754880"/>
          </a:xfrm>
          <a:prstGeom prst="rect">
            <a:avLst/>
          </a:prstGeom>
          <a:solidFill>
            <a:srgbClr val="12193A"/>
          </a:solidFill>
          <a:ln/>
          <a:effectLst>
            <a:outerShdw sx="100000" sy="100000" kx="0" ky="0" algn="bl" rotWithShape="0" blurRad="101600" dist="38100" dir="8100000">
              <a:srgbClr val="000000">
                <a:alpha val="18000"/>
              </a:srgbClr>
            </a:outerShdw>
          </a:effectLst>
        </p:spPr>
      </p:sp>
      <p:sp>
        <p:nvSpPr>
          <p:cNvPr id="16" name="Shape 14"/>
          <p:cNvSpPr/>
          <p:nvPr/>
        </p:nvSpPr>
        <p:spPr>
          <a:xfrm>
            <a:off x="7589520" y="1371600"/>
            <a:ext cx="4297680" cy="109728"/>
          </a:xfrm>
          <a:prstGeom prst="rect">
            <a:avLst/>
          </a:prstGeom>
          <a:solidFill>
            <a:srgbClr val="2563EB"/>
          </a:solidFill>
          <a:ln/>
        </p:spPr>
      </p:sp>
      <p:sp>
        <p:nvSpPr>
          <p:cNvPr id="17" name="Text 15"/>
          <p:cNvSpPr/>
          <p:nvPr/>
        </p:nvSpPr>
        <p:spPr>
          <a:xfrm>
            <a:off x="7772400" y="1554480"/>
            <a:ext cx="3931920" cy="457200"/>
          </a:xfrm>
          <a:prstGeom prst="rect">
            <a:avLst/>
          </a:prstGeom>
          <a:noFill/>
          <a:ln/>
        </p:spPr>
        <p:txBody>
          <a:bodyPr wrap="square" lIns="0" tIns="0" rIns="0" bIns="0" rtlCol="0" anchor="ctr"/>
          <a:lstStyle/>
          <a:p>
            <a:pPr indent="0" marL="0">
              <a:buNone/>
            </a:pPr>
            <a:r>
              <a:rPr lang="en-US" sz="1200" b="1" spc="300" kern="0" dirty="0">
                <a:solidFill>
                  <a:srgbClr val="2563EB"/>
                </a:solidFill>
                <a:latin typeface="Arial" pitchFamily="34" charset="0"/>
                <a:ea typeface="Arial" pitchFamily="34" charset="-122"/>
                <a:cs typeface="Arial" pitchFamily="34" charset="-120"/>
              </a:rPr>
              <a:t>CORE MISSION</a:t>
            </a:r>
            <a:endParaRPr lang="en-US" sz="1200" dirty="0"/>
          </a:p>
        </p:txBody>
      </p:sp>
      <p:sp>
        <p:nvSpPr>
          <p:cNvPr id="18" name="Text 16"/>
          <p:cNvSpPr/>
          <p:nvPr/>
        </p:nvSpPr>
        <p:spPr>
          <a:xfrm>
            <a:off x="7772400" y="2103120"/>
            <a:ext cx="3931920" cy="2286000"/>
          </a:xfrm>
          <a:prstGeom prst="rect">
            <a:avLst/>
          </a:prstGeom>
          <a:noFill/>
          <a:ln/>
        </p:spPr>
        <p:txBody>
          <a:bodyPr wrap="square" lIns="0" tIns="0" rIns="0" bIns="0"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“Behind every great product there is someone — usually someone behind the scenes, working tirelessly — who led the product team to combine technology and design to solve real customer problems in a way that met the needs of the business.”</a:t>
            </a:r>
            <a:endParaRPr lang="en-US" sz="1400" dirty="0"/>
          </a:p>
        </p:txBody>
      </p:sp>
      <p:sp>
        <p:nvSpPr>
          <p:cNvPr id="19" name="Text 17"/>
          <p:cNvSpPr/>
          <p:nvPr/>
        </p:nvSpPr>
        <p:spPr>
          <a:xfrm>
            <a:off x="7772400" y="4480560"/>
            <a:ext cx="3931920" cy="365760"/>
          </a:xfrm>
          <a:prstGeom prst="rect">
            <a:avLst/>
          </a:prstGeom>
          <a:noFill/>
          <a:ln/>
        </p:spPr>
        <p:txBody>
          <a:bodyPr wrap="square" lIns="0" tIns="0" rIns="0" bIns="0" rtlCol="0" anchor="ctr"/>
          <a:lstStyle/>
          <a:p>
            <a:pPr indent="0" marL="0">
              <a:buNone/>
            </a:pPr>
            <a:r>
              <a:rPr lang="en-US" sz="1200" dirty="0">
                <a:solidFill>
                  <a:srgbClr val="93C5FD"/>
                </a:solidFill>
                <a:latin typeface="Arial" pitchFamily="34" charset="0"/>
                <a:ea typeface="Arial" pitchFamily="34" charset="-122"/>
                <a:cs typeface="Arial" pitchFamily="34" charset="-120"/>
              </a:rPr>
              <a:t>— Marty Cagan</a:t>
            </a:r>
            <a:endParaRPr lang="en-US" sz="1200" dirty="0"/>
          </a:p>
        </p:txBody>
      </p:sp>
      <p:sp>
        <p:nvSpPr>
          <p:cNvPr id="20" name="Text 18"/>
          <p:cNvSpPr/>
          <p:nvPr/>
        </p:nvSpPr>
        <p:spPr>
          <a:xfrm>
            <a:off x="7772400" y="5029200"/>
            <a:ext cx="3931920" cy="822960"/>
          </a:xfrm>
          <a:prstGeom prst="rect">
            <a:avLst/>
          </a:prstGeom>
          <a:noFill/>
          <a:ln/>
        </p:spPr>
        <p:txBody>
          <a:bodyPr wrap="square" lIns="0" tIns="0" rIns="0" bIns="0" rtlCol="0" anchor="ctr"/>
          <a:lstStyle/>
          <a:p>
            <a:pPr indent="0" marL="0">
              <a:buNone/>
            </a:pPr>
            <a:r>
              <a:rPr lang="en-US" sz="1200" dirty="0">
                <a:solidFill>
                  <a:srgbClr val="C8CCDE"/>
                </a:solidFill>
                <a:latin typeface="Arial" pitchFamily="34" charset="0"/>
                <a:ea typeface="Arial" pitchFamily="34" charset="-122"/>
                <a:cs typeface="Arial" pitchFamily="34" charset="-120"/>
              </a:rPr>
              <a:t>Perfect for: Product Managers, Designers,</a:t>
            </a:r>
            <a:endParaRPr lang="en-US" sz="1200" dirty="0"/>
          </a:p>
          <a:p>
            <a:pPr indent="0" marL="0">
              <a:buNone/>
            </a:pPr>
            <a:r>
              <a:rPr lang="en-US" sz="1200" dirty="0">
                <a:solidFill>
                  <a:srgbClr val="C8CCDE"/>
                </a:solidFill>
                <a:latin typeface="Arial" pitchFamily="34" charset="0"/>
                <a:ea typeface="Arial" pitchFamily="34" charset="-122"/>
                <a:cs typeface="Arial" pitchFamily="34" charset="-120"/>
              </a:rPr>
              <a:t>Engineers, and anyone building tech products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230"/>
        </a:solidFill>
      </p:bgPr>
    </p:bg>
    <p:spTree>
      <p:nvGrpSpPr>
        <p:cNvPr id="1" name=""/>
        <p:cNvGrpSpPr/>
        <p:nvPr/>
      </p:nvGrpSpPr>
      <p:grpSpPr>
        <a:xfrm>
          <a:off x="0" y="0"/>
          <a:ext cx="0" cy="0"/>
          <a:chOff x="0" y="0"/>
          <a:chExt cx="0" cy="0"/>
        </a:xfrm>
      </p:grpSpPr>
      <p:sp>
        <p:nvSpPr>
          <p:cNvPr id="2" name="Shape 0"/>
          <p:cNvSpPr/>
          <p:nvPr/>
        </p:nvSpPr>
        <p:spPr>
          <a:xfrm>
            <a:off x="0" y="0"/>
            <a:ext cx="7132320" cy="182880"/>
          </a:xfrm>
          <a:prstGeom prst="rect">
            <a:avLst/>
          </a:prstGeom>
          <a:solidFill>
            <a:srgbClr val="93C5FD"/>
          </a:solidFill>
          <a:ln/>
        </p:spPr>
      </p:sp>
      <p:sp>
        <p:nvSpPr>
          <p:cNvPr id="3" name="Text 1"/>
          <p:cNvSpPr/>
          <p:nvPr/>
        </p:nvSpPr>
        <p:spPr>
          <a:xfrm>
            <a:off x="-457200" y="91440"/>
            <a:ext cx="3657600" cy="3200400"/>
          </a:xfrm>
          <a:prstGeom prst="rect">
            <a:avLst/>
          </a:prstGeom>
          <a:noFill/>
          <a:ln/>
        </p:spPr>
        <p:txBody>
          <a:bodyPr wrap="square" lIns="0" tIns="0" rIns="0" bIns="0" rtlCol="0" anchor="ctr"/>
          <a:lstStyle/>
          <a:p>
            <a:pPr algn="l" indent="0" marL="0">
              <a:buNone/>
            </a:pPr>
            <a:r>
              <a:rPr lang="en-US" sz="20000" b="1" dirty="0">
                <a:solidFill>
                  <a:srgbClr val="0F172A"/>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411480" y="292608"/>
            <a:ext cx="3657600" cy="411480"/>
          </a:xfrm>
          <a:prstGeom prst="rect">
            <a:avLst/>
          </a:prstGeom>
          <a:noFill/>
          <a:ln/>
        </p:spPr>
        <p:txBody>
          <a:bodyPr wrap="square" lIns="0" tIns="0" rIns="0" bIns="0" rtlCol="0" anchor="ctr"/>
          <a:lstStyle/>
          <a:p>
            <a:pPr indent="0" marL="0">
              <a:buNone/>
            </a:pPr>
            <a:r>
              <a:rPr lang="en-US" sz="1100" b="1" spc="500" kern="0" dirty="0">
                <a:solidFill>
                  <a:srgbClr val="93C5FD"/>
                </a:solidFill>
                <a:latin typeface="Arial" pitchFamily="34" charset="0"/>
                <a:ea typeface="Arial" pitchFamily="34" charset="-122"/>
                <a:cs typeface="Arial" pitchFamily="34" charset="-120"/>
              </a:rPr>
              <a:t>PART 01</a:t>
            </a:r>
            <a:endParaRPr lang="en-US" sz="1100" dirty="0"/>
          </a:p>
        </p:txBody>
      </p:sp>
      <p:sp>
        <p:nvSpPr>
          <p:cNvPr id="5" name="Text 3"/>
          <p:cNvSpPr/>
          <p:nvPr/>
        </p:nvSpPr>
        <p:spPr>
          <a:xfrm>
            <a:off x="2743200" y="347472"/>
            <a:ext cx="1828800" cy="32004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Ch. 1–6</a:t>
            </a:r>
            <a:endParaRPr lang="en-US" sz="1000" dirty="0"/>
          </a:p>
        </p:txBody>
      </p:sp>
      <p:sp>
        <p:nvSpPr>
          <p:cNvPr id="6" name="Text 4"/>
          <p:cNvSpPr/>
          <p:nvPr/>
        </p:nvSpPr>
        <p:spPr>
          <a:xfrm>
            <a:off x="411480" y="685800"/>
            <a:ext cx="6537960" cy="10972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Lessons from Top Tech Companies</a:t>
            </a:r>
            <a:endParaRPr lang="en-US" sz="3200" dirty="0"/>
          </a:p>
        </p:txBody>
      </p:sp>
      <p:sp>
        <p:nvSpPr>
          <p:cNvPr id="7" name="Text 5"/>
          <p:cNvSpPr/>
          <p:nvPr/>
        </p:nvSpPr>
        <p:spPr>
          <a:xfrm>
            <a:off x="411480" y="1764792"/>
            <a:ext cx="6537960" cy="548640"/>
          </a:xfrm>
          <a:prstGeom prst="rect">
            <a:avLst/>
          </a:prstGeom>
          <a:noFill/>
          <a:ln/>
        </p:spPr>
        <p:txBody>
          <a:bodyPr wrap="square" lIns="0" tIns="0" rIns="0" bIns="0" rtlCol="0" anchor="ctr"/>
          <a:lstStyle/>
          <a:p>
            <a:pPr indent="0" marL="0">
              <a:buNone/>
            </a:pPr>
            <a:r>
              <a:rPr lang="en-US" sz="1200" i="1" dirty="0">
                <a:solidFill>
                  <a:srgbClr val="93C5FD"/>
                </a:solidFill>
                <a:latin typeface="Arial" pitchFamily="34" charset="0"/>
                <a:ea typeface="Arial" pitchFamily="34" charset="-122"/>
                <a:cs typeface="Arial" pitchFamily="34" charset="-120"/>
              </a:rPr>
              <a:t>The gap between how most companies build products and how the best do it is enormous — and it's not about talent.</a:t>
            </a:r>
            <a:endParaRPr lang="en-US" sz="1200" dirty="0"/>
          </a:p>
        </p:txBody>
      </p:sp>
      <p:sp>
        <p:nvSpPr>
          <p:cNvPr id="8" name="Shape 6"/>
          <p:cNvSpPr/>
          <p:nvPr/>
        </p:nvSpPr>
        <p:spPr>
          <a:xfrm>
            <a:off x="411480" y="2423160"/>
            <a:ext cx="653796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9" name="Shape 7"/>
          <p:cNvSpPr/>
          <p:nvPr/>
        </p:nvSpPr>
        <p:spPr>
          <a:xfrm>
            <a:off x="411480" y="2423160"/>
            <a:ext cx="118872" cy="1371600"/>
          </a:xfrm>
          <a:prstGeom prst="rect">
            <a:avLst/>
          </a:prstGeom>
          <a:solidFill>
            <a:srgbClr val="93C5FD"/>
          </a:solidFill>
          <a:ln/>
        </p:spPr>
      </p:sp>
      <p:sp>
        <p:nvSpPr>
          <p:cNvPr id="10" name="Text 8"/>
          <p:cNvSpPr/>
          <p:nvPr/>
        </p:nvSpPr>
        <p:spPr>
          <a:xfrm>
            <a:off x="658368" y="2487168"/>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1" name="Text 9"/>
          <p:cNvSpPr/>
          <p:nvPr/>
        </p:nvSpPr>
        <p:spPr>
          <a:xfrm>
            <a:off x="658368" y="2761488"/>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The best tech companies give teams problems to solve, not features to build. Most companies do the opposite — turning their product teams into feature factories — and that's the root cause of most mediocre products.</a:t>
            </a:r>
            <a:endParaRPr lang="en-US" sz="1150" dirty="0"/>
          </a:p>
        </p:txBody>
      </p:sp>
      <p:sp>
        <p:nvSpPr>
          <p:cNvPr id="12" name="Text 10"/>
          <p:cNvSpPr/>
          <p:nvPr/>
        </p:nvSpPr>
        <p:spPr>
          <a:xfrm>
            <a:off x="411480" y="3950208"/>
            <a:ext cx="2743200" cy="292608"/>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THEMES</a:t>
            </a:r>
            <a:endParaRPr lang="en-US" sz="800" dirty="0"/>
          </a:p>
        </p:txBody>
      </p:sp>
      <p:sp>
        <p:nvSpPr>
          <p:cNvPr id="13" name="Text 11"/>
          <p:cNvSpPr/>
          <p:nvPr/>
        </p:nvSpPr>
        <p:spPr>
          <a:xfrm>
            <a:off x="411480" y="4242816"/>
            <a:ext cx="6537960" cy="233172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Empowered teams solve problems; feature factories execute requests — this single difference defines most outcomes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Technology products are uniquely improvable post-launch — continuous delivery changes everything about how teams should think</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Company stage defines your challenge: Startups → find PMF; Growth → scale without breaking; Enterprise → fight organizational gravity</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Root causes of failure are predictable: wrong people, wrong process, or no genuine product strategy</a:t>
            </a:r>
            <a:endParaRPr lang="en-US" sz="1100" dirty="0"/>
          </a:p>
        </p:txBody>
      </p:sp>
      <p:sp>
        <p:nvSpPr>
          <p:cNvPr id="14" name="Shape 12"/>
          <p:cNvSpPr/>
          <p:nvPr/>
        </p:nvSpPr>
        <p:spPr>
          <a:xfrm>
            <a:off x="0" y="6583680"/>
            <a:ext cx="7132320" cy="274320"/>
          </a:xfrm>
          <a:prstGeom prst="rect">
            <a:avLst/>
          </a:prstGeom>
          <a:solidFill>
            <a:srgbClr val="080E22"/>
          </a:solidFill>
          <a:ln/>
        </p:spPr>
      </p:sp>
      <p:sp>
        <p:nvSpPr>
          <p:cNvPr id="15" name="Text 13"/>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4A5274"/>
                </a:solidFill>
                <a:latin typeface="Arial" pitchFamily="34" charset="0"/>
                <a:ea typeface="Arial" pitchFamily="34" charset="-122"/>
                <a:cs typeface="Arial" pitchFamily="34" charset="-120"/>
              </a:rPr>
              <a:t>INSPIRED  ·  Part 1: Lessons from Top Tech Companies</a:t>
            </a:r>
            <a:endParaRPr lang="en-US" sz="800" dirty="0"/>
          </a:p>
        </p:txBody>
      </p:sp>
      <p:sp>
        <p:nvSpPr>
          <p:cNvPr id="16" name="Shape 14"/>
          <p:cNvSpPr/>
          <p:nvPr/>
        </p:nvSpPr>
        <p:spPr>
          <a:xfrm>
            <a:off x="7132320" y="0"/>
            <a:ext cx="5029200" cy="6858000"/>
          </a:xfrm>
          <a:prstGeom prst="rect">
            <a:avLst/>
          </a:prstGeom>
          <a:solidFill>
            <a:srgbClr val="0A1628"/>
          </a:solidFill>
          <a:ln/>
        </p:spPr>
      </p:sp>
      <p:sp>
        <p:nvSpPr>
          <p:cNvPr id="17" name="Shape 15"/>
          <p:cNvSpPr/>
          <p:nvPr/>
        </p:nvSpPr>
        <p:spPr>
          <a:xfrm>
            <a:off x="7132320" y="0"/>
            <a:ext cx="5029200" cy="182880"/>
          </a:xfrm>
          <a:prstGeom prst="rect">
            <a:avLst/>
          </a:prstGeom>
          <a:solidFill>
            <a:srgbClr val="2563EB"/>
          </a:solidFill>
          <a:ln/>
        </p:spPr>
      </p:sp>
      <p:sp>
        <p:nvSpPr>
          <p:cNvPr id="18" name="Text 16"/>
          <p:cNvSpPr/>
          <p:nvPr/>
        </p:nvSpPr>
        <p:spPr>
          <a:xfrm>
            <a:off x="7388352" y="292608"/>
            <a:ext cx="4663440" cy="347472"/>
          </a:xfrm>
          <a:prstGeom prst="rect">
            <a:avLst/>
          </a:prstGeom>
          <a:noFill/>
          <a:ln/>
        </p:spPr>
        <p:txBody>
          <a:bodyPr wrap="square" lIns="0" tIns="0" rIns="0" bIns="0" rtlCol="0" anchor="ctr"/>
          <a:lstStyle/>
          <a:p>
            <a:pPr indent="0" marL="0">
              <a:buNone/>
            </a:pPr>
            <a:r>
              <a:rPr lang="en-US" sz="800" b="1" spc="200" kern="0" dirty="0">
                <a:solidFill>
                  <a:srgbClr val="2563EB"/>
                </a:solidFill>
                <a:latin typeface="Arial" pitchFamily="34" charset="0"/>
                <a:ea typeface="Arial" pitchFamily="34" charset="-122"/>
                <a:cs typeface="Arial" pitchFamily="34" charset="-120"/>
              </a:rPr>
              <a:t>CHAPTERS IN THIS PART</a:t>
            </a:r>
            <a:endParaRPr lang="en-US" sz="800" dirty="0"/>
          </a:p>
        </p:txBody>
      </p:sp>
      <p:sp>
        <p:nvSpPr>
          <p:cNvPr id="19" name="Shape 17"/>
          <p:cNvSpPr/>
          <p:nvPr/>
        </p:nvSpPr>
        <p:spPr>
          <a:xfrm>
            <a:off x="7388352" y="749808"/>
            <a:ext cx="4590288" cy="493776"/>
          </a:xfrm>
          <a:prstGeom prst="rect">
            <a:avLst/>
          </a:prstGeom>
          <a:solidFill>
            <a:srgbClr val="0D1F3C"/>
          </a:solidFill>
          <a:ln/>
        </p:spPr>
      </p:sp>
      <p:sp>
        <p:nvSpPr>
          <p:cNvPr id="20" name="Text 18"/>
          <p:cNvSpPr/>
          <p:nvPr/>
        </p:nvSpPr>
        <p:spPr>
          <a:xfrm>
            <a:off x="7479792" y="795528"/>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1  </a:t>
            </a:r>
            <a:pPr indent="0" marL="0">
              <a:buNone/>
            </a:pPr>
            <a:r>
              <a:rPr lang="en-US" sz="1050" b="1" dirty="0">
                <a:solidFill>
                  <a:srgbClr val="FFFFFF"/>
                </a:solidFill>
                <a:latin typeface="Arial" pitchFamily="34" charset="0"/>
                <a:ea typeface="Arial" pitchFamily="34" charset="-122"/>
                <a:cs typeface="Arial" pitchFamily="34" charset="-120"/>
              </a:rPr>
              <a:t>Behind Every Great Product</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PM as champion; Valuable + Usable + Feasible</a:t>
            </a:r>
            <a:endParaRPr lang="en-US" sz="1100" dirty="0"/>
          </a:p>
        </p:txBody>
      </p:sp>
      <p:sp>
        <p:nvSpPr>
          <p:cNvPr id="21" name="Shape 19"/>
          <p:cNvSpPr/>
          <p:nvPr/>
        </p:nvSpPr>
        <p:spPr>
          <a:xfrm>
            <a:off x="7388352" y="1316736"/>
            <a:ext cx="4590288" cy="493776"/>
          </a:xfrm>
          <a:prstGeom prst="rect">
            <a:avLst/>
          </a:prstGeom>
          <a:solidFill>
            <a:srgbClr val="0D1F3C"/>
          </a:solidFill>
          <a:ln/>
        </p:spPr>
      </p:sp>
      <p:sp>
        <p:nvSpPr>
          <p:cNvPr id="22" name="Text 20"/>
          <p:cNvSpPr/>
          <p:nvPr/>
        </p:nvSpPr>
        <p:spPr>
          <a:xfrm>
            <a:off x="7479792" y="1362456"/>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2  </a:t>
            </a:r>
            <a:pPr indent="0" marL="0">
              <a:buNone/>
            </a:pPr>
            <a:r>
              <a:rPr lang="en-US" sz="1050" b="1" dirty="0">
                <a:solidFill>
                  <a:srgbClr val="FFFFFF"/>
                </a:solidFill>
                <a:latin typeface="Arial" pitchFamily="34" charset="0"/>
                <a:ea typeface="Arial" pitchFamily="34" charset="-122"/>
                <a:cs typeface="Arial" pitchFamily="34" charset="-120"/>
              </a:rPr>
              <a:t>Technology-Powered Products</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Why software's continuous improvability changes everything</a:t>
            </a:r>
            <a:endParaRPr lang="en-US" sz="1100" dirty="0"/>
          </a:p>
        </p:txBody>
      </p:sp>
      <p:sp>
        <p:nvSpPr>
          <p:cNvPr id="23" name="Shape 21"/>
          <p:cNvSpPr/>
          <p:nvPr/>
        </p:nvSpPr>
        <p:spPr>
          <a:xfrm>
            <a:off x="7388352" y="1883664"/>
            <a:ext cx="4590288" cy="493776"/>
          </a:xfrm>
          <a:prstGeom prst="rect">
            <a:avLst/>
          </a:prstGeom>
          <a:solidFill>
            <a:srgbClr val="0D1F3C"/>
          </a:solidFill>
          <a:ln/>
        </p:spPr>
      </p:sp>
      <p:sp>
        <p:nvSpPr>
          <p:cNvPr id="24" name="Text 22"/>
          <p:cNvSpPr/>
          <p:nvPr/>
        </p:nvSpPr>
        <p:spPr>
          <a:xfrm>
            <a:off x="7479792" y="1929384"/>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3  </a:t>
            </a:r>
            <a:pPr indent="0" marL="0">
              <a:buNone/>
            </a:pPr>
            <a:r>
              <a:rPr lang="en-US" sz="1050" b="1" dirty="0">
                <a:solidFill>
                  <a:srgbClr val="FFFFFF"/>
                </a:solidFill>
                <a:latin typeface="Arial" pitchFamily="34" charset="0"/>
                <a:ea typeface="Arial" pitchFamily="34" charset="-122"/>
                <a:cs typeface="Arial" pitchFamily="34" charset="-120"/>
              </a:rPr>
              <a:t>Startups: Getting to PMF</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Find product/market fit before money runs out</a:t>
            </a:r>
            <a:endParaRPr lang="en-US" sz="1100" dirty="0"/>
          </a:p>
        </p:txBody>
      </p:sp>
      <p:sp>
        <p:nvSpPr>
          <p:cNvPr id="25" name="Shape 23"/>
          <p:cNvSpPr/>
          <p:nvPr/>
        </p:nvSpPr>
        <p:spPr>
          <a:xfrm>
            <a:off x="7388352" y="2450592"/>
            <a:ext cx="4590288" cy="493776"/>
          </a:xfrm>
          <a:prstGeom prst="rect">
            <a:avLst/>
          </a:prstGeom>
          <a:solidFill>
            <a:srgbClr val="0D1F3C"/>
          </a:solidFill>
          <a:ln/>
        </p:spPr>
      </p:sp>
      <p:sp>
        <p:nvSpPr>
          <p:cNvPr id="26" name="Text 24"/>
          <p:cNvSpPr/>
          <p:nvPr/>
        </p:nvSpPr>
        <p:spPr>
          <a:xfrm>
            <a:off x="7479792" y="2496312"/>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4  </a:t>
            </a:r>
            <a:pPr indent="0" marL="0">
              <a:buNone/>
            </a:pPr>
            <a:r>
              <a:rPr lang="en-US" sz="1050" b="1" dirty="0">
                <a:solidFill>
                  <a:srgbClr val="FFFFFF"/>
                </a:solidFill>
                <a:latin typeface="Arial" pitchFamily="34" charset="0"/>
                <a:ea typeface="Arial" pitchFamily="34" charset="-122"/>
                <a:cs typeface="Arial" pitchFamily="34" charset="-120"/>
              </a:rPr>
              <a:t>Growth-Stage Companies</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Scale without losing what made you successful</a:t>
            </a:r>
            <a:endParaRPr lang="en-US" sz="1100" dirty="0"/>
          </a:p>
        </p:txBody>
      </p:sp>
      <p:sp>
        <p:nvSpPr>
          <p:cNvPr id="27" name="Shape 25"/>
          <p:cNvSpPr/>
          <p:nvPr/>
        </p:nvSpPr>
        <p:spPr>
          <a:xfrm>
            <a:off x="7388352" y="3017520"/>
            <a:ext cx="4590288" cy="493776"/>
          </a:xfrm>
          <a:prstGeom prst="rect">
            <a:avLst/>
          </a:prstGeom>
          <a:solidFill>
            <a:srgbClr val="0D1F3C"/>
          </a:solidFill>
          <a:ln/>
        </p:spPr>
      </p:sp>
      <p:sp>
        <p:nvSpPr>
          <p:cNvPr id="28" name="Text 26"/>
          <p:cNvSpPr/>
          <p:nvPr/>
        </p:nvSpPr>
        <p:spPr>
          <a:xfrm>
            <a:off x="7479792" y="3063240"/>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5  </a:t>
            </a:r>
            <a:pPr indent="0" marL="0">
              <a:buNone/>
            </a:pPr>
            <a:r>
              <a:rPr lang="en-US" sz="1050" b="1" dirty="0">
                <a:solidFill>
                  <a:srgbClr val="FFFFFF"/>
                </a:solidFill>
                <a:latin typeface="Arial" pitchFamily="34" charset="0"/>
                <a:ea typeface="Arial" pitchFamily="34" charset="-122"/>
                <a:cs typeface="Arial" pitchFamily="34" charset="-120"/>
              </a:rPr>
              <a:t>Enterprise Companies</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Sustain innovation against organizational gravity</a:t>
            </a:r>
            <a:endParaRPr lang="en-US" sz="1100" dirty="0"/>
          </a:p>
        </p:txBody>
      </p:sp>
      <p:sp>
        <p:nvSpPr>
          <p:cNvPr id="29" name="Shape 27"/>
          <p:cNvSpPr/>
          <p:nvPr/>
        </p:nvSpPr>
        <p:spPr>
          <a:xfrm>
            <a:off x="7388352" y="3584448"/>
            <a:ext cx="4590288" cy="493776"/>
          </a:xfrm>
          <a:prstGeom prst="rect">
            <a:avLst/>
          </a:prstGeom>
          <a:solidFill>
            <a:srgbClr val="0D1F3C"/>
          </a:solidFill>
          <a:ln/>
        </p:spPr>
      </p:sp>
      <p:sp>
        <p:nvSpPr>
          <p:cNvPr id="30" name="Text 28"/>
          <p:cNvSpPr/>
          <p:nvPr/>
        </p:nvSpPr>
        <p:spPr>
          <a:xfrm>
            <a:off x="7479792" y="3630168"/>
            <a:ext cx="4434840" cy="402336"/>
          </a:xfrm>
          <a:prstGeom prst="rect">
            <a:avLst/>
          </a:prstGeom>
          <a:noFill/>
          <a:ln/>
        </p:spPr>
        <p:txBody>
          <a:bodyPr wrap="square" lIns="0" tIns="0" rIns="0" bIns="0" rtlCol="0" anchor="t"/>
          <a:lstStyle/>
          <a:p>
            <a:pPr indent="0" marL="0">
              <a:buNone/>
            </a:pPr>
            <a:r>
              <a:rPr lang="en-US" sz="1100" b="1" dirty="0">
                <a:solidFill>
                  <a:srgbClr val="93C5FD"/>
                </a:solidFill>
                <a:latin typeface="Arial" pitchFamily="34" charset="0"/>
                <a:ea typeface="Arial" pitchFamily="34" charset="-122"/>
                <a:cs typeface="Arial" pitchFamily="34" charset="-120"/>
              </a:rPr>
              <a:t>6  </a:t>
            </a:r>
            <a:pPr indent="0" marL="0">
              <a:buNone/>
            </a:pPr>
            <a:r>
              <a:rPr lang="en-US" sz="1050" b="1" dirty="0">
                <a:solidFill>
                  <a:srgbClr val="FFFFFF"/>
                </a:solidFill>
                <a:latin typeface="Arial" pitchFamily="34" charset="0"/>
                <a:ea typeface="Arial" pitchFamily="34" charset="-122"/>
                <a:cs typeface="Arial" pitchFamily="34" charset="-120"/>
              </a:rPr>
              <a:t>Root Causes of Failure</a:t>
            </a:r>
            <a:pPr indent="0" marL="0">
              <a:buNone/>
            </a:pPr>
            <a:endParaRPr lang="en-US" sz="1100" dirty="0"/>
          </a:p>
          <a:p>
            <a:pPr indent="0" marL="0">
              <a:buNone/>
            </a:pPr>
            <a:r>
              <a:rPr lang="en-US" sz="900" dirty="0">
                <a:solidFill>
                  <a:srgbClr val="64748B"/>
                </a:solidFill>
                <a:latin typeface="Arial" pitchFamily="34" charset="0"/>
                <a:ea typeface="Arial" pitchFamily="34" charset="-122"/>
                <a:cs typeface="Arial" pitchFamily="34" charset="-120"/>
              </a:rPr>
              <a:t>     People + Process + Strategy failures = feature factory</a:t>
            </a:r>
            <a:endParaRPr lang="en-US" sz="1100" dirty="0"/>
          </a:p>
        </p:txBody>
      </p:sp>
      <p:sp>
        <p:nvSpPr>
          <p:cNvPr id="31" name="Shape 29"/>
          <p:cNvSpPr/>
          <p:nvPr/>
        </p:nvSpPr>
        <p:spPr>
          <a:xfrm>
            <a:off x="7388352" y="4206240"/>
            <a:ext cx="4590288" cy="36576"/>
          </a:xfrm>
          <a:prstGeom prst="rect">
            <a:avLst/>
          </a:prstGeom>
          <a:solidFill>
            <a:srgbClr val="2A3460"/>
          </a:solidFill>
          <a:ln/>
        </p:spPr>
      </p:sp>
      <p:sp>
        <p:nvSpPr>
          <p:cNvPr id="32" name="Text 30"/>
          <p:cNvSpPr/>
          <p:nvPr/>
        </p:nvSpPr>
        <p:spPr>
          <a:xfrm>
            <a:off x="7388352" y="4315968"/>
            <a:ext cx="4663440" cy="320040"/>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33" name="Shape 31"/>
          <p:cNvSpPr/>
          <p:nvPr/>
        </p:nvSpPr>
        <p:spPr>
          <a:xfrm>
            <a:off x="7388352" y="4681728"/>
            <a:ext cx="4590288" cy="566928"/>
          </a:xfrm>
          <a:prstGeom prst="rect">
            <a:avLst/>
          </a:prstGeom>
          <a:solidFill>
            <a:srgbClr val="0D1F3C"/>
          </a:solidFill>
          <a:ln/>
        </p:spPr>
      </p:sp>
      <p:sp>
        <p:nvSpPr>
          <p:cNvPr id="34" name="Shape 32"/>
          <p:cNvSpPr/>
          <p:nvPr/>
        </p:nvSpPr>
        <p:spPr>
          <a:xfrm>
            <a:off x="7388352" y="4681728"/>
            <a:ext cx="73152" cy="566928"/>
          </a:xfrm>
          <a:prstGeom prst="rect">
            <a:avLst/>
          </a:prstGeom>
          <a:solidFill>
            <a:srgbClr val="2563EB"/>
          </a:solidFill>
          <a:ln/>
        </p:spPr>
      </p:sp>
      <p:sp>
        <p:nvSpPr>
          <p:cNvPr id="35" name="Text 33"/>
          <p:cNvSpPr/>
          <p:nvPr/>
        </p:nvSpPr>
        <p:spPr>
          <a:xfrm>
            <a:off x="7534656" y="4754880"/>
            <a:ext cx="4407408" cy="420624"/>
          </a:xfrm>
          <a:prstGeom prst="rect">
            <a:avLst/>
          </a:prstGeom>
          <a:noFill/>
          <a:ln/>
        </p:spPr>
        <p:txBody>
          <a:bodyPr wrap="square" lIns="0" tIns="0" rIns="0" bIns="0" rtlCol="0" anchor="t"/>
          <a:lstStyle/>
          <a:p>
            <a:pPr indent="0" marL="0">
              <a:buNone/>
            </a:pPr>
            <a:r>
              <a:rPr lang="en-US" sz="1000" dirty="0">
                <a:solidFill>
                  <a:srgbClr val="CDD3EA"/>
                </a:solidFill>
                <a:latin typeface="Arial" pitchFamily="34" charset="0"/>
                <a:ea typeface="Arial" pitchFamily="34" charset="-122"/>
                <a:cs typeface="Arial" pitchFamily="34" charset="-120"/>
              </a:rPr>
              <a:t>Q1  Does your team operate more like a feature factory or an empowered product team? What's your honest evidence?</a:t>
            </a:r>
            <a:endParaRPr lang="en-US" sz="1000" dirty="0"/>
          </a:p>
        </p:txBody>
      </p:sp>
      <p:sp>
        <p:nvSpPr>
          <p:cNvPr id="36" name="Shape 34"/>
          <p:cNvSpPr/>
          <p:nvPr/>
        </p:nvSpPr>
        <p:spPr>
          <a:xfrm>
            <a:off x="7388352" y="5340096"/>
            <a:ext cx="4590288" cy="566928"/>
          </a:xfrm>
          <a:prstGeom prst="rect">
            <a:avLst/>
          </a:prstGeom>
          <a:solidFill>
            <a:srgbClr val="0D1F3C"/>
          </a:solidFill>
          <a:ln/>
        </p:spPr>
      </p:sp>
      <p:sp>
        <p:nvSpPr>
          <p:cNvPr id="37" name="Shape 35"/>
          <p:cNvSpPr/>
          <p:nvPr/>
        </p:nvSpPr>
        <p:spPr>
          <a:xfrm>
            <a:off x="7388352" y="5340096"/>
            <a:ext cx="73152" cy="566928"/>
          </a:xfrm>
          <a:prstGeom prst="rect">
            <a:avLst/>
          </a:prstGeom>
          <a:solidFill>
            <a:srgbClr val="93C5FD"/>
          </a:solidFill>
          <a:ln/>
        </p:spPr>
      </p:sp>
      <p:sp>
        <p:nvSpPr>
          <p:cNvPr id="38" name="Text 36"/>
          <p:cNvSpPr/>
          <p:nvPr/>
        </p:nvSpPr>
        <p:spPr>
          <a:xfrm>
            <a:off x="7534656" y="5413248"/>
            <a:ext cx="4407408" cy="420624"/>
          </a:xfrm>
          <a:prstGeom prst="rect">
            <a:avLst/>
          </a:prstGeom>
          <a:noFill/>
          <a:ln/>
        </p:spPr>
        <p:txBody>
          <a:bodyPr wrap="square" lIns="0" tIns="0" rIns="0" bIns="0" rtlCol="0" anchor="t"/>
          <a:lstStyle/>
          <a:p>
            <a:pPr indent="0" marL="0">
              <a:buNone/>
            </a:pPr>
            <a:r>
              <a:rPr lang="en-US" sz="1000" dirty="0">
                <a:solidFill>
                  <a:srgbClr val="CDD3EA"/>
                </a:solidFill>
                <a:latin typeface="Arial" pitchFamily="34" charset="0"/>
                <a:ea typeface="Arial" pitchFamily="34" charset="-122"/>
                <a:cs typeface="Arial" pitchFamily="34" charset="-120"/>
              </a:rPr>
              <a:t>Q2  Which company stage best describes where you are — and what unique challenges come with it?</a:t>
            </a:r>
            <a:endParaRPr lang="en-US" sz="1000" dirty="0"/>
          </a:p>
        </p:txBody>
      </p:sp>
      <p:sp>
        <p:nvSpPr>
          <p:cNvPr id="39" name="Shape 37"/>
          <p:cNvSpPr/>
          <p:nvPr/>
        </p:nvSpPr>
        <p:spPr>
          <a:xfrm>
            <a:off x="7388352" y="6172200"/>
            <a:ext cx="4590288" cy="548640"/>
          </a:xfrm>
          <a:prstGeom prst="rect">
            <a:avLst/>
          </a:prstGeom>
          <a:solidFill>
            <a:srgbClr val="2563EB">
              <a:alpha val="80000"/>
            </a:srgbClr>
          </a:solidFill>
          <a:ln/>
        </p:spPr>
      </p:sp>
      <p:sp>
        <p:nvSpPr>
          <p:cNvPr id="40" name="Text 38"/>
          <p:cNvSpPr/>
          <p:nvPr/>
        </p:nvSpPr>
        <p:spPr>
          <a:xfrm>
            <a:off x="7516368" y="6199632"/>
            <a:ext cx="4434840" cy="201168"/>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Core Transformation</a:t>
            </a:r>
            <a:endParaRPr lang="en-US" sz="700" dirty="0"/>
          </a:p>
        </p:txBody>
      </p:sp>
      <p:sp>
        <p:nvSpPr>
          <p:cNvPr id="41" name="Text 39"/>
          <p:cNvSpPr/>
          <p:nvPr/>
        </p:nvSpPr>
        <p:spPr>
          <a:xfrm>
            <a:off x="7516368" y="6373368"/>
            <a:ext cx="44348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Feature Factory → Empowered Team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01</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Behind Every Great Product</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The PM's core mission: the person who makes great products happen</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Great products don't happen by accident — they need a champion who relentlessly drives the team to solve real customer problems at the intersection of technology, design, and business viability.</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Every great product has a person working behind the scenes — usually a PM — who owns making it happen</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PM's job: discover a product that is Valuable (customers want it), Usable (they can figure it out), and Feasible (engineers can build it)</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Most companies fail at product not due to lack of talent, but because of broken processes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bar is not 'good enough' — the goal is to build products customers LOVE</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1: Behind Every Great Product</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Who is the 'product champion' in your team right now? Is that role clearly owned?</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Think of a product you personally love — what did that team get right?</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Do we build things customers love, or things they merely tolerate? How do we know?</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Where do we struggle most: making something Valuable, Usable, or Feasible?</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PM's Core Trinity</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Valuable · Usable · Feasible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02</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Technology-Powered Products and Services</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Software is fundamentally different — and that changes how you build it</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Unlike physical products, technology-powered products can be continuously improved after they reach customers. Teams that embrace this reality — and build discovery into how they work — unlock a compounding advantage unavailable to everyone else.</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Software can be continuously updated after launch — a structural advantage that most teams underutilize</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Traditional plan → build → ship is mismatched to how software actually works best</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combination of technology + design creates leverage: one product can serve millions at near-zero marginal cost</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Effective product teams build discovery into their ongoing process — not as a phase, but as a habit</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2: Technology-Powered Products and Services</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How well does your team currently leverage the ability to ship, learn, and iterate continuously?</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Where does your development process still look more like waterfall than continuous discovery?</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What would it look like to truly embrace 'release and learn' rather than 'plan and ship'?</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Are there areas where you're building more than you need to learn what you need to know?</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Software Advantage</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Build → Learn → Improve → Repeat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03</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Startups: Getting to Product/Market Fit</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The existential challenge: find what customers love before the money runs out</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For startups, one thing matters above all else: achieving product/market fit before running out of runway. Everything else — process, team structure, scale — is secondary until you've found a product that a real market genuinely wants.</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Product/market fit is the startup's north star — everything else is secondary until you've found it</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Speed-to-learning matters more than speed-to-shipping — building the wrong thing faster is not an advantage</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Startups must be willing to radically pivot when evidence demands it — premature scaling before PMF is a killer</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At this stage, everyone on the team should be closely connected to customer discovery</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3: Startups: Getting to Product/Market Fit</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Has your team definitively found product/market fit? What's your evidence — beyond gut feel?</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Are you optimizing for speed-to-learning or speed-to-shipping? What's the practical difference for you?</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What customer assumptions have you tested recently — and what did you find?</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If you had to describe your current product/market fit in one sentence, what would you say?</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Startup Imperative</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Find PMF before the money runs 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04</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Growth-Stage Companies: Scaling to Success</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Scaling is where many successful startups stumble — what got you here won't get you there</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Once a company has found product/market fit, a new and often fatal challenge emerges: how to scale the team, process, and culture without losing the speed and innovation that drove success. The informal processes that worked at 10 people break down at 100.</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informal coordination that worked at startup stage becomes a liability as the team scales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Scaling too fast before establishing effective product practices leads to loss of quality and velocity</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key challenge: distribute product decision-making while maintaining alignment on strategy and outcomes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Growth-stage companies must actively resist becoming feature factories even as stakeholder demands multiply</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4: Growth-Stage Companies: Scaling to Success</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Has your organization scaled past the point where informal coordination still works effectively?</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What processes have you added that genuinely help — vs. those that slow you down?</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How do you maintain alignment on product strategy as more people join the team?</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Where do you feel the most organizational pressure to sacrifice product quality for speed?</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Growth Paradox</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Scale the team. Protect the culture.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05</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Enterprise Companies: Consistent Product Innovation</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The hardest challenge: sustaining innovation inside an organization optimized for efficiency</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Large enterprises naturally evolve toward treating product teams as IT departments — taking requirements and delivering on schedule. This isn't malicious; it's a natural response to the need for predictability at scale. But it systematically destroys the ability to innovate.</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Enterprises naturally evolve toward the IT model — stakeholders request, teams deliver. Innovation is the casualty.</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Organizational pressure for predictability directly conflicts with the uncertainty inherent in genuine product discovery</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Innovation labs and skunkworks rarely work — real innovation must happen within the core product teams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Enterprise product leaders must actively fight organizational gravity to preserve conditions for discovery</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5: Enterprise Companies: Consistent Product Innovation</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Does your organization treat product teams as empowered problem-solvers or as IT execution teams?</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Where do you feel the most pressure to sacrifice discovery for predictability?</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Has your company tried innovation labs or skunkworks? What happened?</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What would it look like to protect your team's ability to genuinely innovate?</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Enterprise Challenge</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Fight organizational gravity — actively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132320" cy="6858000"/>
          </a:xfrm>
          <a:prstGeom prst="rect">
            <a:avLst/>
          </a:prstGeom>
          <a:solidFill>
            <a:srgbClr val="0F172A"/>
          </a:solidFill>
          <a:ln/>
        </p:spPr>
      </p:sp>
      <p:sp>
        <p:nvSpPr>
          <p:cNvPr id="3" name="Shape 1"/>
          <p:cNvSpPr/>
          <p:nvPr/>
        </p:nvSpPr>
        <p:spPr>
          <a:xfrm>
            <a:off x="0" y="0"/>
            <a:ext cx="7132320" cy="164592"/>
          </a:xfrm>
          <a:prstGeom prst="rect">
            <a:avLst/>
          </a:prstGeom>
          <a:solidFill>
            <a:srgbClr val="2563EB"/>
          </a:solidFill>
          <a:ln/>
        </p:spPr>
      </p:sp>
      <p:sp>
        <p:nvSpPr>
          <p:cNvPr id="4" name="Text 2"/>
          <p:cNvSpPr/>
          <p:nvPr/>
        </p:nvSpPr>
        <p:spPr>
          <a:xfrm>
            <a:off x="411480" y="274320"/>
            <a:ext cx="4572000" cy="365760"/>
          </a:xfrm>
          <a:prstGeom prst="rect">
            <a:avLst/>
          </a:prstGeom>
          <a:noFill/>
          <a:ln/>
        </p:spPr>
        <p:txBody>
          <a:bodyPr wrap="square" lIns="0" tIns="0" rIns="0" bIns="0" rtlCol="0" anchor="ctr"/>
          <a:lstStyle/>
          <a:p>
            <a:pPr indent="0" marL="0">
              <a:buNone/>
            </a:pPr>
            <a:r>
              <a:rPr lang="en-US" sz="1000" b="1" spc="200" kern="0" dirty="0">
                <a:solidFill>
                  <a:srgbClr val="2563EB"/>
                </a:solidFill>
                <a:latin typeface="Arial" pitchFamily="34" charset="0"/>
                <a:ea typeface="Arial" pitchFamily="34" charset="-122"/>
                <a:cs typeface="Arial" pitchFamily="34" charset="-120"/>
              </a:rPr>
              <a:t>PART 1  ›  CH. 06</a:t>
            </a:r>
            <a:endParaRPr lang="en-US" sz="1000" dirty="0"/>
          </a:p>
        </p:txBody>
      </p:sp>
      <p:sp>
        <p:nvSpPr>
          <p:cNvPr id="5" name="Text 3"/>
          <p:cNvSpPr/>
          <p:nvPr/>
        </p:nvSpPr>
        <p:spPr>
          <a:xfrm>
            <a:off x="411480" y="621792"/>
            <a:ext cx="6492240" cy="10058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Root Causes of Failed Product Efforts</a:t>
            </a:r>
            <a:endParaRPr lang="en-US" sz="2800" dirty="0"/>
          </a:p>
        </p:txBody>
      </p:sp>
      <p:sp>
        <p:nvSpPr>
          <p:cNvPr id="6" name="Text 4"/>
          <p:cNvSpPr/>
          <p:nvPr/>
        </p:nvSpPr>
        <p:spPr>
          <a:xfrm>
            <a:off x="411480" y="1609344"/>
            <a:ext cx="6492240" cy="502920"/>
          </a:xfrm>
          <a:prstGeom prst="rect">
            <a:avLst/>
          </a:prstGeom>
          <a:noFill/>
          <a:ln/>
        </p:spPr>
        <p:txBody>
          <a:bodyPr wrap="square" lIns="0" tIns="0" rIns="0" bIns="0" rtlCol="0" anchor="ctr"/>
          <a:lstStyle/>
          <a:p>
            <a:pPr indent="0" marL="0">
              <a:buNone/>
            </a:pPr>
            <a:r>
              <a:rPr lang="en-US" sz="1150" i="1" dirty="0">
                <a:solidFill>
                  <a:srgbClr val="93C5FD"/>
                </a:solidFill>
                <a:latin typeface="Arial" pitchFamily="34" charset="0"/>
                <a:ea typeface="Arial" pitchFamily="34" charset="-122"/>
                <a:cs typeface="Arial" pitchFamily="34" charset="-120"/>
              </a:rPr>
              <a:t>Failure isn't random — the same predictable mistakes appear again and again</a:t>
            </a:r>
            <a:endParaRPr lang="en-US" sz="1150" dirty="0"/>
          </a:p>
        </p:txBody>
      </p:sp>
      <p:sp>
        <p:nvSpPr>
          <p:cNvPr id="7" name="Shape 5"/>
          <p:cNvSpPr/>
          <p:nvPr/>
        </p:nvSpPr>
        <p:spPr>
          <a:xfrm>
            <a:off x="411480" y="2240280"/>
            <a:ext cx="6492240" cy="1371600"/>
          </a:xfrm>
          <a:prstGeom prst="rect">
            <a:avLst/>
          </a:prstGeom>
          <a:solidFill>
            <a:srgbClr val="0D2260"/>
          </a:solidFill>
          <a:ln/>
          <a:effectLst>
            <a:outerShdw sx="100000" sy="100000" kx="0" ky="0" algn="bl" rotWithShape="0" blurRad="101600" dist="38100" dir="8100000">
              <a:srgbClr val="000000">
                <a:alpha val="18000"/>
              </a:srgbClr>
            </a:outerShdw>
          </a:effectLst>
        </p:spPr>
      </p:sp>
      <p:sp>
        <p:nvSpPr>
          <p:cNvPr id="8" name="Shape 6"/>
          <p:cNvSpPr/>
          <p:nvPr/>
        </p:nvSpPr>
        <p:spPr>
          <a:xfrm>
            <a:off x="411480" y="2240280"/>
            <a:ext cx="109728" cy="1371600"/>
          </a:xfrm>
          <a:prstGeom prst="rect">
            <a:avLst/>
          </a:prstGeom>
          <a:solidFill>
            <a:srgbClr val="93C5FD"/>
          </a:solidFill>
          <a:ln/>
        </p:spPr>
      </p:sp>
      <p:sp>
        <p:nvSpPr>
          <p:cNvPr id="9" name="Text 7"/>
          <p:cNvSpPr/>
          <p:nvPr/>
        </p:nvSpPr>
        <p:spPr>
          <a:xfrm>
            <a:off x="640080" y="2313432"/>
            <a:ext cx="6217920" cy="274320"/>
          </a:xfrm>
          <a:prstGeom prst="rect">
            <a:avLst/>
          </a:prstGeom>
          <a:noFill/>
          <a:ln/>
        </p:spPr>
        <p:txBody>
          <a:bodyPr wrap="square" lIns="0" tIns="0" rIns="0" bIns="0" rtlCol="0" anchor="ctr"/>
          <a:lstStyle/>
          <a:p>
            <a:pPr indent="0" marL="0">
              <a:buNone/>
            </a:pPr>
            <a:r>
              <a:rPr lang="en-US" sz="800" b="1" spc="300" kern="0" dirty="0">
                <a:solidFill>
                  <a:srgbClr val="93C5FD"/>
                </a:solidFill>
                <a:latin typeface="Arial" pitchFamily="34" charset="0"/>
                <a:ea typeface="Arial" pitchFamily="34" charset="-122"/>
                <a:cs typeface="Arial" pitchFamily="34" charset="-120"/>
              </a:rPr>
              <a:t>BIG IDEA</a:t>
            </a:r>
            <a:endParaRPr lang="en-US" sz="800" dirty="0"/>
          </a:p>
        </p:txBody>
      </p:sp>
      <p:sp>
        <p:nvSpPr>
          <p:cNvPr id="10" name="Text 8"/>
          <p:cNvSpPr/>
          <p:nvPr/>
        </p:nvSpPr>
        <p:spPr>
          <a:xfrm>
            <a:off x="640080" y="2587752"/>
            <a:ext cx="6217920" cy="960120"/>
          </a:xfrm>
          <a:prstGeom prst="rect">
            <a:avLst/>
          </a:prstGeom>
          <a:noFill/>
          <a:ln/>
        </p:spPr>
        <p:txBody>
          <a:bodyPr wrap="square" lIns="0" tIns="0" rIns="0" bIns="0" rtlCol="0" anchor="ctr"/>
          <a:lstStyle/>
          <a:p>
            <a:pPr indent="0" marL="0">
              <a:buNone/>
            </a:pPr>
            <a:r>
              <a:rPr lang="en-US" sz="1150" i="1" dirty="0">
                <a:solidFill>
                  <a:srgbClr val="FFFFFF"/>
                </a:solidFill>
                <a:latin typeface="Georgia" pitchFamily="34" charset="0"/>
                <a:ea typeface="Georgia" pitchFamily="34" charset="-122"/>
                <a:cs typeface="Georgia" pitchFamily="34" charset="-120"/>
              </a:rPr>
              <a:t>Product failure is almost never due to bad luck or a lack of talent. The same root causes appear repeatedly: the wrong people in key roles, the wrong process for discovery, and the absence of genuine product strategy. Diagnosing your specific failure mode is the first step to fixing it.</a:t>
            </a:r>
            <a:endParaRPr lang="en-US" sz="1150" dirty="0"/>
          </a:p>
        </p:txBody>
      </p:sp>
      <p:sp>
        <p:nvSpPr>
          <p:cNvPr id="11" name="Text 9"/>
          <p:cNvSpPr/>
          <p:nvPr/>
        </p:nvSpPr>
        <p:spPr>
          <a:xfrm>
            <a:off x="411480" y="3749040"/>
            <a:ext cx="2743200" cy="301752"/>
          </a:xfrm>
          <a:prstGeom prst="rect">
            <a:avLst/>
          </a:prstGeom>
          <a:noFill/>
          <a:ln/>
        </p:spPr>
        <p:txBody>
          <a:bodyPr wrap="square" lIns="0" tIns="0" rIns="0" bIns="0" rtlCol="0" anchor="ctr"/>
          <a:lstStyle/>
          <a:p>
            <a:pPr indent="0" marL="0">
              <a:buNone/>
            </a:pPr>
            <a:r>
              <a:rPr lang="en-US" sz="800" b="1" spc="300" kern="0" dirty="0">
                <a:solidFill>
                  <a:srgbClr val="2563EB"/>
                </a:solidFill>
                <a:latin typeface="Arial" pitchFamily="34" charset="0"/>
                <a:ea typeface="Arial" pitchFamily="34" charset="-122"/>
                <a:cs typeface="Arial" pitchFamily="34" charset="-120"/>
              </a:rPr>
              <a:t>KEY POINTS</a:t>
            </a:r>
            <a:endParaRPr lang="en-US" sz="800" dirty="0"/>
          </a:p>
        </p:txBody>
      </p:sp>
      <p:sp>
        <p:nvSpPr>
          <p:cNvPr id="12" name="Text 10"/>
          <p:cNvSpPr/>
          <p:nvPr/>
        </p:nvSpPr>
        <p:spPr>
          <a:xfrm>
            <a:off x="411480" y="4050792"/>
            <a:ext cx="6492240" cy="2514600"/>
          </a:xfrm>
          <a:prstGeom prst="rect">
            <a:avLst/>
          </a:prstGeom>
          <a:noFill/>
          <a:ln/>
        </p:spPr>
        <p:txBody>
          <a:bodyPr wrap="square" lIns="0" tIns="0" rIns="0" bIns="0" rtlCol="0" anchor="t"/>
          <a:lstStyle/>
          <a:p>
            <a:pPr indent="0" marL="0">
              <a:spcAft>
                <a:spcPts val="700"/>
              </a:spcAft>
              <a:buNone/>
            </a:pPr>
            <a:r>
              <a:rPr lang="en-US" sz="1100" b="1" dirty="0">
                <a:solidFill>
                  <a:srgbClr val="93C5FD"/>
                </a:solidFill>
                <a:latin typeface="Arial" pitchFamily="34" charset="0"/>
                <a:ea typeface="Arial" pitchFamily="34" charset="-122"/>
                <a:cs typeface="Arial" pitchFamily="34" charset="-120"/>
              </a:rPr>
              <a:t>1.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same root causes of failure appear across companies: wrong people, wrong process, no real product strategy</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2. </a:t>
            </a:r>
            <a:pPr indent="0" marL="0">
              <a:spcAft>
                <a:spcPts val="700"/>
              </a:spcAft>
              <a:buNone/>
            </a:pPr>
            <a:r>
              <a:rPr lang="en-US" sz="1100" dirty="0">
                <a:solidFill>
                  <a:srgbClr val="FFFFFF"/>
                </a:solidFill>
                <a:latin typeface="Arial" pitchFamily="34" charset="0"/>
                <a:ea typeface="Arial" pitchFamily="34" charset="-122"/>
                <a:cs typeface="Arial" pitchFamily="34" charset="-120"/>
              </a:rPr>
              <a:t>PMs who act as project managers — taking requirements and managing delivery — are a leading cause of poor outcomes</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3. </a:t>
            </a:r>
            <a:pPr indent="0" marL="0">
              <a:spcAft>
                <a:spcPts val="700"/>
              </a:spcAft>
              <a:buNone/>
            </a:pPr>
            <a:r>
              <a:rPr lang="en-US" sz="1100" dirty="0">
                <a:solidFill>
                  <a:srgbClr val="FFFFFF"/>
                </a:solidFill>
                <a:latin typeface="Arial" pitchFamily="34" charset="0"/>
                <a:ea typeface="Arial" pitchFamily="34" charset="-122"/>
                <a:cs typeface="Arial" pitchFamily="34" charset="-120"/>
              </a:rPr>
              <a:t>The 'feature factory' is the most common failure pattern: teams measure themselves by features shipped, not problems solved</a:t>
            </a:r>
            <a:pPr indent="0" marL="0">
              <a:spcAft>
                <a:spcPts val="700"/>
              </a:spcAft>
              <a:buNone/>
            </a:pPr>
            <a:r>
              <a:rPr lang="en-US" sz="1100" dirty="0">
                <a:solidFill>
                  <a:srgbClr val="000000"/>
                </a:solidFill>
                <a:latin typeface="Arial" pitchFamily="34" charset="0"/>
                <a:ea typeface="Arial" pitchFamily="34" charset="-122"/>
                <a:cs typeface="Arial" pitchFamily="34" charset="-120"/>
              </a:rPr>
              <a:t>
</a:t>
            </a:r>
            <a:pPr indent="0" marL="0">
              <a:spcAft>
                <a:spcPts val="700"/>
              </a:spcAft>
              <a:buNone/>
            </a:pPr>
            <a:r>
              <a:rPr lang="en-US" sz="1100" b="1" dirty="0">
                <a:solidFill>
                  <a:srgbClr val="93C5FD"/>
                </a:solidFill>
                <a:latin typeface="Arial" pitchFamily="34" charset="0"/>
                <a:ea typeface="Arial" pitchFamily="34" charset="-122"/>
                <a:cs typeface="Arial" pitchFamily="34" charset="-120"/>
              </a:rPr>
              <a:t>4. </a:t>
            </a:r>
            <a:pPr indent="0" marL="0">
              <a:spcAft>
                <a:spcPts val="700"/>
              </a:spcAft>
              <a:buNone/>
            </a:pPr>
            <a:r>
              <a:rPr lang="en-US" sz="1100" dirty="0">
                <a:solidFill>
                  <a:srgbClr val="FFFFFF"/>
                </a:solidFill>
                <a:latin typeface="Arial" pitchFamily="34" charset="0"/>
                <a:ea typeface="Arial" pitchFamily="34" charset="-122"/>
                <a:cs typeface="Arial" pitchFamily="34" charset="-120"/>
              </a:rPr>
              <a:t>Most of these failures are fixable — but require honest acknowledgment that the current approach isn't working</a:t>
            </a:r>
            <a:endParaRPr lang="en-US" sz="1100" dirty="0"/>
          </a:p>
        </p:txBody>
      </p:sp>
      <p:sp>
        <p:nvSpPr>
          <p:cNvPr id="13" name="Shape 11"/>
          <p:cNvSpPr/>
          <p:nvPr/>
        </p:nvSpPr>
        <p:spPr>
          <a:xfrm>
            <a:off x="0" y="6583680"/>
            <a:ext cx="7132320" cy="274320"/>
          </a:xfrm>
          <a:prstGeom prst="rect">
            <a:avLst/>
          </a:prstGeom>
          <a:solidFill>
            <a:srgbClr val="0D1230"/>
          </a:solidFill>
          <a:ln/>
        </p:spPr>
      </p:sp>
      <p:sp>
        <p:nvSpPr>
          <p:cNvPr id="14" name="Text 12"/>
          <p:cNvSpPr/>
          <p:nvPr/>
        </p:nvSpPr>
        <p:spPr>
          <a:xfrm>
            <a:off x="411480" y="6601968"/>
            <a:ext cx="6675120" cy="228600"/>
          </a:xfrm>
          <a:prstGeom prst="rect">
            <a:avLst/>
          </a:prstGeom>
          <a:noFill/>
          <a:ln/>
        </p:spPr>
        <p:txBody>
          <a:bodyPr wrap="square" lIns="0" tIns="0" rIns="0" bIns="0" rtlCol="0" anchor="ctr"/>
          <a:lstStyle/>
          <a:p>
            <a:pPr indent="0" marL="0">
              <a:buNone/>
            </a:pPr>
            <a:r>
              <a:rPr lang="en-US" sz="800" dirty="0">
                <a:solidFill>
                  <a:srgbClr val="5A6384"/>
                </a:solidFill>
                <a:latin typeface="Arial" pitchFamily="34" charset="0"/>
                <a:ea typeface="Arial" pitchFamily="34" charset="-122"/>
                <a:cs typeface="Arial" pitchFamily="34" charset="-120"/>
              </a:rPr>
              <a:t>INSPIRED  ·  Part 1  ›  Chapter 6: The Root Causes of Failed Product Efforts</a:t>
            </a:r>
            <a:endParaRPr lang="en-US" sz="800" dirty="0"/>
          </a:p>
        </p:txBody>
      </p:sp>
      <p:sp>
        <p:nvSpPr>
          <p:cNvPr id="15" name="Shape 13"/>
          <p:cNvSpPr/>
          <p:nvPr/>
        </p:nvSpPr>
        <p:spPr>
          <a:xfrm>
            <a:off x="7132320" y="0"/>
            <a:ext cx="5029200" cy="6858000"/>
          </a:xfrm>
          <a:prstGeom prst="rect">
            <a:avLst/>
          </a:prstGeom>
          <a:solidFill>
            <a:srgbClr val="0A1628"/>
          </a:solidFill>
          <a:ln/>
        </p:spPr>
      </p:sp>
      <p:sp>
        <p:nvSpPr>
          <p:cNvPr id="16" name="Shape 14"/>
          <p:cNvSpPr/>
          <p:nvPr/>
        </p:nvSpPr>
        <p:spPr>
          <a:xfrm>
            <a:off x="7132320" y="0"/>
            <a:ext cx="5029200" cy="164592"/>
          </a:xfrm>
          <a:prstGeom prst="rect">
            <a:avLst/>
          </a:prstGeom>
          <a:solidFill>
            <a:srgbClr val="93C5FD"/>
          </a:solidFill>
          <a:ln/>
        </p:spPr>
      </p:sp>
      <p:sp>
        <p:nvSpPr>
          <p:cNvPr id="17" name="Text 15"/>
          <p:cNvSpPr/>
          <p:nvPr/>
        </p:nvSpPr>
        <p:spPr>
          <a:xfrm>
            <a:off x="7406640" y="274320"/>
            <a:ext cx="4663440" cy="384048"/>
          </a:xfrm>
          <a:prstGeom prst="rect">
            <a:avLst/>
          </a:prstGeom>
          <a:noFill/>
          <a:ln/>
        </p:spPr>
        <p:txBody>
          <a:bodyPr wrap="square" lIns="0" tIns="0" rIns="0" bIns="0" rtlCol="0" anchor="ctr"/>
          <a:lstStyle/>
          <a:p>
            <a:pPr indent="0" marL="0">
              <a:buNone/>
            </a:pPr>
            <a:r>
              <a:rPr lang="en-US" sz="800" b="1" spc="200" kern="0" dirty="0">
                <a:solidFill>
                  <a:srgbClr val="93C5FD"/>
                </a:solidFill>
                <a:latin typeface="Arial" pitchFamily="34" charset="0"/>
                <a:ea typeface="Arial" pitchFamily="34" charset="-122"/>
                <a:cs typeface="Arial" pitchFamily="34" charset="-120"/>
              </a:rPr>
              <a:t>DISCUSS WITH YOUR TEAM</a:t>
            </a:r>
            <a:endParaRPr lang="en-US" sz="800" dirty="0"/>
          </a:p>
        </p:txBody>
      </p:sp>
      <p:sp>
        <p:nvSpPr>
          <p:cNvPr id="18" name="Shape 16"/>
          <p:cNvSpPr/>
          <p:nvPr/>
        </p:nvSpPr>
        <p:spPr>
          <a:xfrm>
            <a:off x="7406640" y="804672"/>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19" name="Shape 17"/>
          <p:cNvSpPr/>
          <p:nvPr/>
        </p:nvSpPr>
        <p:spPr>
          <a:xfrm>
            <a:off x="7406640" y="804672"/>
            <a:ext cx="91440" cy="1234440"/>
          </a:xfrm>
          <a:prstGeom prst="rect">
            <a:avLst/>
          </a:prstGeom>
          <a:solidFill>
            <a:srgbClr val="2563EB"/>
          </a:solidFill>
          <a:ln/>
        </p:spPr>
      </p:sp>
      <p:sp>
        <p:nvSpPr>
          <p:cNvPr id="20" name="Text 18"/>
          <p:cNvSpPr/>
          <p:nvPr/>
        </p:nvSpPr>
        <p:spPr>
          <a:xfrm>
            <a:off x="7635240" y="877824"/>
            <a:ext cx="365760" cy="274320"/>
          </a:xfrm>
          <a:prstGeom prst="rect">
            <a:avLst/>
          </a:prstGeom>
          <a:noFill/>
          <a:ln/>
        </p:spPr>
        <p:txBody>
          <a:bodyPr wrap="square" lIns="0" tIns="0" rIns="0" bIns="0" rtlCol="0" anchor="ctr"/>
          <a:lstStyle/>
          <a:p>
            <a:pPr indent="0" marL="0">
              <a:buNone/>
            </a:pPr>
            <a:r>
              <a:rPr lang="en-US" sz="800" b="1" dirty="0">
                <a:solidFill>
                  <a:srgbClr val="2563EB"/>
                </a:solidFill>
                <a:latin typeface="Arial" pitchFamily="34" charset="0"/>
                <a:ea typeface="Arial" pitchFamily="34" charset="-122"/>
                <a:cs typeface="Arial" pitchFamily="34" charset="-120"/>
              </a:rPr>
              <a:t>Q1</a:t>
            </a:r>
            <a:endParaRPr lang="en-US" sz="800" dirty="0"/>
          </a:p>
        </p:txBody>
      </p:sp>
      <p:sp>
        <p:nvSpPr>
          <p:cNvPr id="21" name="Text 19"/>
          <p:cNvSpPr/>
          <p:nvPr/>
        </p:nvSpPr>
        <p:spPr>
          <a:xfrm>
            <a:off x="7635240" y="1143000"/>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Which root cause (people, process, or strategy) is most present in your organization right now?</a:t>
            </a:r>
            <a:endParaRPr lang="en-US" sz="1100" dirty="0"/>
          </a:p>
        </p:txBody>
      </p:sp>
      <p:sp>
        <p:nvSpPr>
          <p:cNvPr id="22" name="Shape 20"/>
          <p:cNvSpPr/>
          <p:nvPr/>
        </p:nvSpPr>
        <p:spPr>
          <a:xfrm>
            <a:off x="7406640" y="2194560"/>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3" name="Shape 21"/>
          <p:cNvSpPr/>
          <p:nvPr/>
        </p:nvSpPr>
        <p:spPr>
          <a:xfrm>
            <a:off x="7406640" y="2194560"/>
            <a:ext cx="91440" cy="1234440"/>
          </a:xfrm>
          <a:prstGeom prst="rect">
            <a:avLst/>
          </a:prstGeom>
          <a:solidFill>
            <a:srgbClr val="93C5FD"/>
          </a:solidFill>
          <a:ln/>
        </p:spPr>
      </p:sp>
      <p:sp>
        <p:nvSpPr>
          <p:cNvPr id="24" name="Text 22"/>
          <p:cNvSpPr/>
          <p:nvPr/>
        </p:nvSpPr>
        <p:spPr>
          <a:xfrm>
            <a:off x="7635240" y="2267712"/>
            <a:ext cx="365760" cy="274320"/>
          </a:xfrm>
          <a:prstGeom prst="rect">
            <a:avLst/>
          </a:prstGeom>
          <a:noFill/>
          <a:ln/>
        </p:spPr>
        <p:txBody>
          <a:bodyPr wrap="square" lIns="0" tIns="0" rIns="0" bIns="0" rtlCol="0" anchor="ctr"/>
          <a:lstStyle/>
          <a:p>
            <a:pPr indent="0" marL="0">
              <a:buNone/>
            </a:pPr>
            <a:r>
              <a:rPr lang="en-US" sz="800" b="1" dirty="0">
                <a:solidFill>
                  <a:srgbClr val="93C5FD"/>
                </a:solidFill>
                <a:latin typeface="Arial" pitchFamily="34" charset="0"/>
                <a:ea typeface="Arial" pitchFamily="34" charset="-122"/>
                <a:cs typeface="Arial" pitchFamily="34" charset="-120"/>
              </a:rPr>
              <a:t>Q2</a:t>
            </a:r>
            <a:endParaRPr lang="en-US" sz="800" dirty="0"/>
          </a:p>
        </p:txBody>
      </p:sp>
      <p:sp>
        <p:nvSpPr>
          <p:cNvPr id="25" name="Text 23"/>
          <p:cNvSpPr/>
          <p:nvPr/>
        </p:nvSpPr>
        <p:spPr>
          <a:xfrm>
            <a:off x="7635240" y="2532888"/>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Are your PMs acting as true product managers or glorified project managers? What's the honest answer?</a:t>
            </a:r>
            <a:endParaRPr lang="en-US" sz="1100" dirty="0"/>
          </a:p>
        </p:txBody>
      </p:sp>
      <p:sp>
        <p:nvSpPr>
          <p:cNvPr id="26" name="Shape 24"/>
          <p:cNvSpPr/>
          <p:nvPr/>
        </p:nvSpPr>
        <p:spPr>
          <a:xfrm>
            <a:off x="7406640" y="3584448"/>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27" name="Shape 25"/>
          <p:cNvSpPr/>
          <p:nvPr/>
        </p:nvSpPr>
        <p:spPr>
          <a:xfrm>
            <a:off x="7406640" y="3584448"/>
            <a:ext cx="91440" cy="1234440"/>
          </a:xfrm>
          <a:prstGeom prst="rect">
            <a:avLst/>
          </a:prstGeom>
          <a:solidFill>
            <a:srgbClr val="06D6A0"/>
          </a:solidFill>
          <a:ln/>
        </p:spPr>
      </p:sp>
      <p:sp>
        <p:nvSpPr>
          <p:cNvPr id="28" name="Text 26"/>
          <p:cNvSpPr/>
          <p:nvPr/>
        </p:nvSpPr>
        <p:spPr>
          <a:xfrm>
            <a:off x="7635240" y="3657600"/>
            <a:ext cx="365760" cy="274320"/>
          </a:xfrm>
          <a:prstGeom prst="rect">
            <a:avLst/>
          </a:prstGeom>
          <a:noFill/>
          <a:ln/>
        </p:spPr>
        <p:txBody>
          <a:bodyPr wrap="square" lIns="0" tIns="0" rIns="0" bIns="0" rtlCol="0" anchor="ctr"/>
          <a:lstStyle/>
          <a:p>
            <a:pPr indent="0" marL="0">
              <a:buNone/>
            </a:pPr>
            <a:r>
              <a:rPr lang="en-US" sz="800" b="1" dirty="0">
                <a:solidFill>
                  <a:srgbClr val="06D6A0"/>
                </a:solidFill>
                <a:latin typeface="Arial" pitchFamily="34" charset="0"/>
                <a:ea typeface="Arial" pitchFamily="34" charset="-122"/>
                <a:cs typeface="Arial" pitchFamily="34" charset="-120"/>
              </a:rPr>
              <a:t>Q3</a:t>
            </a:r>
            <a:endParaRPr lang="en-US" sz="800" dirty="0"/>
          </a:p>
        </p:txBody>
      </p:sp>
      <p:sp>
        <p:nvSpPr>
          <p:cNvPr id="29" name="Text 27"/>
          <p:cNvSpPr/>
          <p:nvPr/>
        </p:nvSpPr>
        <p:spPr>
          <a:xfrm>
            <a:off x="7635240" y="3922776"/>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Does your team have a clear, shared product strategy — or are you reacting to whoever is loudest?</a:t>
            </a:r>
            <a:endParaRPr lang="en-US" sz="1100" dirty="0"/>
          </a:p>
        </p:txBody>
      </p:sp>
      <p:sp>
        <p:nvSpPr>
          <p:cNvPr id="30" name="Shape 28"/>
          <p:cNvSpPr/>
          <p:nvPr/>
        </p:nvSpPr>
        <p:spPr>
          <a:xfrm>
            <a:off x="7406640" y="4974336"/>
            <a:ext cx="4572000" cy="1234440"/>
          </a:xfrm>
          <a:prstGeom prst="rect">
            <a:avLst/>
          </a:prstGeom>
          <a:solidFill>
            <a:srgbClr val="0D1F3C"/>
          </a:solidFill>
          <a:ln/>
          <a:effectLst>
            <a:outerShdw sx="100000" sy="100000" kx="0" ky="0" algn="bl" rotWithShape="0" blurRad="101600" dist="38100" dir="8100000">
              <a:srgbClr val="000000">
                <a:alpha val="18000"/>
              </a:srgbClr>
            </a:outerShdw>
          </a:effectLst>
        </p:spPr>
      </p:sp>
      <p:sp>
        <p:nvSpPr>
          <p:cNvPr id="31" name="Shape 29"/>
          <p:cNvSpPr/>
          <p:nvPr/>
        </p:nvSpPr>
        <p:spPr>
          <a:xfrm>
            <a:off x="7406640" y="4974336"/>
            <a:ext cx="91440" cy="1234440"/>
          </a:xfrm>
          <a:prstGeom prst="rect">
            <a:avLst/>
          </a:prstGeom>
          <a:solidFill>
            <a:srgbClr val="1E3A8A"/>
          </a:solidFill>
          <a:ln/>
        </p:spPr>
      </p:sp>
      <p:sp>
        <p:nvSpPr>
          <p:cNvPr id="32" name="Text 30"/>
          <p:cNvSpPr/>
          <p:nvPr/>
        </p:nvSpPr>
        <p:spPr>
          <a:xfrm>
            <a:off x="7635240" y="5047488"/>
            <a:ext cx="365760" cy="274320"/>
          </a:xfrm>
          <a:prstGeom prst="rect">
            <a:avLst/>
          </a:prstGeom>
          <a:noFill/>
          <a:ln/>
        </p:spPr>
        <p:txBody>
          <a:bodyPr wrap="square" lIns="0" tIns="0" rIns="0" bIns="0" rtlCol="0" anchor="ctr"/>
          <a:lstStyle/>
          <a:p>
            <a:pPr indent="0" marL="0">
              <a:buNone/>
            </a:pPr>
            <a:r>
              <a:rPr lang="en-US" sz="800" b="1" dirty="0">
                <a:solidFill>
                  <a:srgbClr val="1E3A8A"/>
                </a:solidFill>
                <a:latin typeface="Arial" pitchFamily="34" charset="0"/>
                <a:ea typeface="Arial" pitchFamily="34" charset="-122"/>
                <a:cs typeface="Arial" pitchFamily="34" charset="-120"/>
              </a:rPr>
              <a:t>Q4</a:t>
            </a:r>
            <a:endParaRPr lang="en-US" sz="800" dirty="0"/>
          </a:p>
        </p:txBody>
      </p:sp>
      <p:sp>
        <p:nvSpPr>
          <p:cNvPr id="33" name="Text 31"/>
          <p:cNvSpPr/>
          <p:nvPr/>
        </p:nvSpPr>
        <p:spPr>
          <a:xfrm>
            <a:off x="7635240" y="5312664"/>
            <a:ext cx="4343400" cy="822960"/>
          </a:xfrm>
          <a:prstGeom prst="rect">
            <a:avLst/>
          </a:prstGeom>
          <a:noFill/>
          <a:ln/>
        </p:spPr>
        <p:txBody>
          <a:bodyPr wrap="square" lIns="0" tIns="0" rIns="0" bIns="0" rtlCol="0" anchor="t"/>
          <a:lstStyle/>
          <a:p>
            <a:pPr indent="0" marL="0">
              <a:buNone/>
            </a:pPr>
            <a:r>
              <a:rPr lang="en-US" sz="1100" dirty="0">
                <a:solidFill>
                  <a:srgbClr val="CDD3EA"/>
                </a:solidFill>
                <a:latin typeface="Arial" pitchFamily="34" charset="0"/>
                <a:ea typeface="Arial" pitchFamily="34" charset="-122"/>
                <a:cs typeface="Arial" pitchFamily="34" charset="-120"/>
              </a:rPr>
              <a:t>What would it take to honestly diagnose and start fixing your team's primary root cause?</a:t>
            </a:r>
            <a:endParaRPr lang="en-US" sz="1100" dirty="0"/>
          </a:p>
        </p:txBody>
      </p:sp>
      <p:sp>
        <p:nvSpPr>
          <p:cNvPr id="34" name="Shape 32"/>
          <p:cNvSpPr/>
          <p:nvPr/>
        </p:nvSpPr>
        <p:spPr>
          <a:xfrm>
            <a:off x="7406640" y="5870448"/>
            <a:ext cx="4572000" cy="758952"/>
          </a:xfrm>
          <a:prstGeom prst="rect">
            <a:avLst/>
          </a:prstGeom>
          <a:solidFill>
            <a:srgbClr val="2563EB">
              <a:alpha val="85000"/>
            </a:srgbClr>
          </a:solidFill>
          <a:ln/>
        </p:spPr>
      </p:sp>
      <p:sp>
        <p:nvSpPr>
          <p:cNvPr id="35" name="Text 33"/>
          <p:cNvSpPr/>
          <p:nvPr/>
        </p:nvSpPr>
        <p:spPr>
          <a:xfrm>
            <a:off x="7543800" y="5925312"/>
            <a:ext cx="4389120" cy="237744"/>
          </a:xfrm>
          <a:prstGeom prst="rect">
            <a:avLst/>
          </a:prstGeom>
          <a:noFill/>
          <a:ln/>
        </p:spPr>
        <p:txBody>
          <a:bodyPr wrap="square" lIns="0" tIns="0" rIns="0" bIns="0" rtlCol="0" anchor="ctr"/>
          <a:lstStyle/>
          <a:p>
            <a:pPr indent="0" marL="0">
              <a:buNone/>
            </a:pPr>
            <a:r>
              <a:rPr lang="en-US" sz="700" b="1" spc="200" kern="0" dirty="0">
                <a:solidFill>
                  <a:srgbClr val="93C5FD"/>
                </a:solidFill>
                <a:latin typeface="Arial" pitchFamily="34" charset="0"/>
                <a:ea typeface="Arial" pitchFamily="34" charset="-122"/>
                <a:cs typeface="Arial" pitchFamily="34" charset="-120"/>
              </a:rPr>
              <a:t>The Failure Formula</a:t>
            </a:r>
            <a:endParaRPr lang="en-US" sz="700" dirty="0"/>
          </a:p>
        </p:txBody>
      </p:sp>
      <p:sp>
        <p:nvSpPr>
          <p:cNvPr id="36" name="Text 34"/>
          <p:cNvSpPr/>
          <p:nvPr/>
        </p:nvSpPr>
        <p:spPr>
          <a:xfrm>
            <a:off x="7543800" y="6135624"/>
            <a:ext cx="4389120" cy="41148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Wrong people + Wrong process + No strategy = Mediocrity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INSPIRED — Team Training Deck</dc:title>
  <dc:subject>PptxGenJS Presentation</dc:subject>
  <dc:creator>Book Study Facilitation Guide</dc:creator>
  <cp:lastModifiedBy>Book Study Facilitation Guide</cp:lastModifiedBy>
  <cp:revision>1</cp:revision>
  <dcterms:created xsi:type="dcterms:W3CDTF">2026-03-06T22:36:24Z</dcterms:created>
  <dcterms:modified xsi:type="dcterms:W3CDTF">2026-03-06T22:36:24Z</dcterms:modified>
</cp:coreProperties>
</file>