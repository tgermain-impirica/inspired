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2563EB"/>
          </a:solidFill>
          <a:ln/>
        </p:spPr>
      </p:sp>
      <p:sp>
        <p:nvSpPr>
          <p:cNvPr id="3" name="Shape 1"/>
          <p:cNvSpPr/>
          <p:nvPr/>
        </p:nvSpPr>
        <p:spPr>
          <a:xfrm>
            <a:off x="4206240" y="0"/>
            <a:ext cx="640080" cy="6858000"/>
          </a:xfrm>
          <a:prstGeom prst="rect">
            <a:avLst/>
          </a:prstGeom>
          <a:solidFill>
            <a:srgbClr val="1D4ED8">
              <a:alpha val="70000"/>
            </a:srgbClr>
          </a:solidFill>
          <a:ln/>
        </p:spPr>
      </p:sp>
      <p:sp>
        <p:nvSpPr>
          <p:cNvPr id="4" name="Shape 2"/>
          <p:cNvSpPr/>
          <p:nvPr/>
        </p:nvSpPr>
        <p:spPr>
          <a:xfrm>
            <a:off x="5029200" y="457200"/>
            <a:ext cx="6400800" cy="73152"/>
          </a:xfrm>
          <a:prstGeom prst="rect">
            <a:avLst/>
          </a:prstGeom>
          <a:solidFill>
            <a:srgbClr val="93C5FD"/>
          </a:solidFill>
          <a:ln/>
        </p:spPr>
      </p:sp>
      <p:sp>
        <p:nvSpPr>
          <p:cNvPr id="5" name="Shape 3"/>
          <p:cNvSpPr/>
          <p:nvPr/>
        </p:nvSpPr>
        <p:spPr>
          <a:xfrm>
            <a:off x="5029200" y="6309360"/>
            <a:ext cx="6400800" cy="73152"/>
          </a:xfrm>
          <a:prstGeom prst="rect">
            <a:avLst/>
          </a:prstGeom>
          <a:solidFill>
            <a:srgbClr val="93C5FD"/>
          </a:solidFill>
          <a:ln/>
        </p:spPr>
      </p:sp>
      <p:sp>
        <p:nvSpPr>
          <p:cNvPr id="6" name="Text 4"/>
          <p:cNvSpPr/>
          <p:nvPr/>
        </p:nvSpPr>
        <p:spPr>
          <a:xfrm>
            <a:off x="274320" y="1097280"/>
            <a:ext cx="4114800" cy="1828800"/>
          </a:xfrm>
          <a:prstGeom prst="rect">
            <a:avLst/>
          </a:prstGeom>
          <a:noFill/>
          <a:ln/>
        </p:spPr>
        <p:txBody>
          <a:bodyPr wrap="square" lIns="0" tIns="0" rIns="0" bIns="0" rtlCol="0" anchor="ctr"/>
          <a:lstStyle/>
          <a:p>
            <a:pPr algn="ctr" indent="0" marL="0">
              <a:buNone/>
            </a:pPr>
            <a:r>
              <a:rPr lang="en-US" sz="7200" b="1" spc="800" kern="0" dirty="0">
                <a:solidFill>
                  <a:srgbClr val="FFFFFF"/>
                </a:solidFill>
                <a:latin typeface="Arial Black" pitchFamily="34" charset="0"/>
                <a:ea typeface="Arial Black" pitchFamily="34" charset="-122"/>
                <a:cs typeface="Arial Black" pitchFamily="34" charset="-120"/>
              </a:rPr>
              <a:t>INSPIRED</a:t>
            </a:r>
            <a:endParaRPr lang="en-US" sz="7200" dirty="0"/>
          </a:p>
        </p:txBody>
      </p:sp>
      <p:sp>
        <p:nvSpPr>
          <p:cNvPr id="7" name="Text 5"/>
          <p:cNvSpPr/>
          <p:nvPr/>
        </p:nvSpPr>
        <p:spPr>
          <a:xfrm>
            <a:off x="274320" y="2834640"/>
            <a:ext cx="4114800" cy="457200"/>
          </a:xfrm>
          <a:prstGeom prst="rect">
            <a:avLst/>
          </a:prstGeom>
          <a:noFill/>
          <a:ln/>
        </p:spPr>
        <p:txBody>
          <a:bodyPr wrap="square" lIns="0" tIns="0" rIns="0" bIns="0" rtlCol="0" anchor="ctr"/>
          <a:lstStyle/>
          <a:p>
            <a:pPr algn="ctr" indent="0" marL="0">
              <a:buNone/>
            </a:pPr>
            <a:r>
              <a:rPr lang="en-US" sz="1600" i="1" dirty="0">
                <a:solidFill>
                  <a:srgbClr val="0F172A"/>
                </a:solidFill>
                <a:latin typeface="Arial" pitchFamily="34" charset="0"/>
                <a:ea typeface="Arial" pitchFamily="34" charset="-122"/>
                <a:cs typeface="Arial" pitchFamily="34" charset="-120"/>
              </a:rPr>
              <a:t>by Marty Cagan</a:t>
            </a:r>
            <a:endParaRPr lang="en-US" sz="1600" dirty="0"/>
          </a:p>
        </p:txBody>
      </p:sp>
      <p:sp>
        <p:nvSpPr>
          <p:cNvPr id="8" name="Shape 6"/>
          <p:cNvSpPr/>
          <p:nvPr/>
        </p:nvSpPr>
        <p:spPr>
          <a:xfrm>
            <a:off x="1188720" y="3429000"/>
            <a:ext cx="2286000" cy="45720"/>
          </a:xfrm>
          <a:prstGeom prst="rect">
            <a:avLst/>
          </a:prstGeom>
          <a:solidFill>
            <a:srgbClr val="0F172A">
              <a:alpha val="70000"/>
            </a:srgbClr>
          </a:solidFill>
          <a:ln/>
        </p:spPr>
      </p:sp>
      <p:sp>
        <p:nvSpPr>
          <p:cNvPr id="9" name="Text 7"/>
          <p:cNvSpPr/>
          <p:nvPr/>
        </p:nvSpPr>
        <p:spPr>
          <a:xfrm>
            <a:off x="274320" y="3657600"/>
            <a:ext cx="4114800" cy="365760"/>
          </a:xfrm>
          <a:prstGeom prst="rect">
            <a:avLst/>
          </a:prstGeom>
          <a:noFill/>
          <a:ln/>
        </p:spPr>
        <p:txBody>
          <a:bodyPr wrap="square" lIns="0" tIns="0" rIns="0" bIns="0" rtlCol="0" anchor="ctr"/>
          <a:lstStyle/>
          <a:p>
            <a:pPr algn="ctr" indent="0" marL="0">
              <a:buNone/>
            </a:pPr>
            <a:r>
              <a:rPr lang="en-US" sz="1100" b="1" spc="300" kern="0" dirty="0">
                <a:solidFill>
                  <a:srgbClr val="0F172A"/>
                </a:solidFill>
                <a:latin typeface="Arial" pitchFamily="34" charset="0"/>
                <a:ea typeface="Arial" pitchFamily="34" charset="-122"/>
                <a:cs typeface="Arial" pitchFamily="34" charset="-120"/>
              </a:rPr>
              <a:t>SECOND EDITION</a:t>
            </a:r>
            <a:endParaRPr lang="en-US" sz="1100" dirty="0"/>
          </a:p>
        </p:txBody>
      </p:sp>
      <p:sp>
        <p:nvSpPr>
          <p:cNvPr id="10" name="Text 8"/>
          <p:cNvSpPr/>
          <p:nvPr/>
        </p:nvSpPr>
        <p:spPr>
          <a:xfrm>
            <a:off x="5303520" y="1188720"/>
            <a:ext cx="64008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Georgia" pitchFamily="34" charset="0"/>
                <a:ea typeface="Georgia" pitchFamily="34" charset="-122"/>
                <a:cs typeface="Georgia" pitchFamily="34" charset="-120"/>
              </a:rPr>
              <a:t>How to Create Tech Products</a:t>
            </a:r>
            <a:endParaRPr lang="en-US" sz="3600" dirty="0"/>
          </a:p>
          <a:p>
            <a:pPr algn="l" indent="0" marL="0">
              <a:buNone/>
            </a:pPr>
            <a:r>
              <a:rPr lang="en-US" sz="3600" b="1" dirty="0">
                <a:solidFill>
                  <a:srgbClr val="FFFFFF"/>
                </a:solidFill>
                <a:latin typeface="Georgia" pitchFamily="34" charset="0"/>
                <a:ea typeface="Georgia" pitchFamily="34" charset="-122"/>
                <a:cs typeface="Georgia" pitchFamily="34" charset="-120"/>
              </a:rPr>
              <a:t>Customers Love</a:t>
            </a:r>
            <a:endParaRPr lang="en-US" sz="3600" dirty="0"/>
          </a:p>
        </p:txBody>
      </p:sp>
      <p:sp>
        <p:nvSpPr>
          <p:cNvPr id="11" name="Text 9"/>
          <p:cNvSpPr/>
          <p:nvPr/>
        </p:nvSpPr>
        <p:spPr>
          <a:xfrm>
            <a:off x="5303520" y="2926080"/>
            <a:ext cx="6400800" cy="914400"/>
          </a:xfrm>
          <a:prstGeom prst="rect">
            <a:avLst/>
          </a:prstGeom>
          <a:noFill/>
          <a:ln/>
        </p:spPr>
        <p:txBody>
          <a:bodyPr wrap="square" lIns="0" tIns="0" rIns="0" bIns="0" rtlCol="0" anchor="ctr"/>
          <a:lstStyle/>
          <a:p>
            <a:pPr algn="l" indent="0" marL="0">
              <a:buNone/>
            </a:pPr>
            <a:r>
              <a:rPr lang="en-US" sz="2000" dirty="0">
                <a:solidFill>
                  <a:srgbClr val="93C5FD"/>
                </a:solidFill>
                <a:latin typeface="Arial" pitchFamily="34" charset="0"/>
                <a:ea typeface="Arial" pitchFamily="34" charset="-122"/>
                <a:cs typeface="Arial" pitchFamily="34" charset="-120"/>
              </a:rPr>
              <a:t>Team Training &amp; Book Study</a:t>
            </a:r>
            <a:endParaRPr lang="en-US" sz="2000" dirty="0"/>
          </a:p>
          <a:p>
            <a:pPr algn="l" indent="0" marL="0">
              <a:buNone/>
            </a:pPr>
            <a:r>
              <a:rPr lang="en-US" sz="2000" dirty="0">
                <a:solidFill>
                  <a:srgbClr val="93C5FD"/>
                </a:solidFill>
                <a:latin typeface="Arial" pitchFamily="34" charset="0"/>
                <a:ea typeface="Arial" pitchFamily="34" charset="-122"/>
                <a:cs typeface="Arial" pitchFamily="34" charset="-120"/>
              </a:rPr>
              <a:t>Facilitation Guide</a:t>
            </a:r>
            <a:endParaRPr lang="en-US" sz="2000" dirty="0"/>
          </a:p>
        </p:txBody>
      </p:sp>
      <p:sp>
        <p:nvSpPr>
          <p:cNvPr id="12" name="Shape 10"/>
          <p:cNvSpPr/>
          <p:nvPr/>
        </p:nvSpPr>
        <p:spPr>
          <a:xfrm>
            <a:off x="5303520" y="5577840"/>
            <a:ext cx="6400800" cy="777240"/>
          </a:xfrm>
          <a:prstGeom prst="rect">
            <a:avLst/>
          </a:prstGeom>
          <a:solidFill>
            <a:srgbClr val="0F172A">
              <a:alpha val="60000"/>
            </a:srgbClr>
          </a:solidFill>
          <a:ln/>
        </p:spPr>
      </p:sp>
      <p:sp>
        <p:nvSpPr>
          <p:cNvPr id="13" name="Text 11"/>
          <p:cNvSpPr/>
          <p:nvPr/>
        </p:nvSpPr>
        <p:spPr>
          <a:xfrm>
            <a:off x="5486400" y="5623560"/>
            <a:ext cx="6217920" cy="640080"/>
          </a:xfrm>
          <a:prstGeom prst="rect">
            <a:avLst/>
          </a:prstGeom>
          <a:noFill/>
          <a:ln/>
        </p:spPr>
        <p:txBody>
          <a:bodyPr wrap="square" lIns="0" tIns="0" rIns="0" bIns="0" rtlCol="0" anchor="ctr"/>
          <a:lstStyle/>
          <a:p>
            <a:pPr algn="l" indent="0" marL="0">
              <a:buNone/>
            </a:pPr>
            <a:r>
              <a:rPr lang="en-US" sz="1200" b="1" dirty="0">
                <a:solidFill>
                  <a:srgbClr val="93C5FD"/>
                </a:solidFill>
                <a:latin typeface="Arial" pitchFamily="34" charset="0"/>
                <a:ea typeface="Arial" pitchFamily="34" charset="-122"/>
                <a:cs typeface="Arial" pitchFamily="34" charset="-120"/>
              </a:rPr>
              <a:t>Parts Covered: </a:t>
            </a:r>
            <a:pPr algn="l" indent="0" marL="0">
              <a:buNone/>
            </a:pPr>
            <a:r>
              <a:rPr lang="en-US" sz="1200" dirty="0">
                <a:solidFill>
                  <a:srgbClr val="FFFFFF"/>
                </a:solidFill>
                <a:latin typeface="Arial" pitchFamily="34" charset="0"/>
                <a:ea typeface="Arial" pitchFamily="34" charset="-122"/>
                <a:cs typeface="Arial" pitchFamily="34" charset="-120"/>
              </a:rPr>
              <a:t>5</a:t>
            </a:r>
            <a:pPr algn="l" indent="0" marL="0">
              <a:buNone/>
            </a:pPr>
            <a:r>
              <a:rPr lang="en-US" sz="1200" dirty="0">
                <a:solidFill>
                  <a:srgbClr val="7A7A9A"/>
                </a:solidFill>
                <a:latin typeface="Arial" pitchFamily="34" charset="0"/>
                <a:ea typeface="Arial" pitchFamily="34" charset="-122"/>
                <a:cs typeface="Arial" pitchFamily="34" charset="-120"/>
              </a:rPr>
              <a:t>   |   </a:t>
            </a:r>
            <a:pPr algn="l" indent="0" marL="0">
              <a:buNone/>
            </a:pPr>
            <a:r>
              <a:rPr lang="en-US" sz="1200" b="1" dirty="0">
                <a:solidFill>
                  <a:srgbClr val="93C5FD"/>
                </a:solidFill>
                <a:latin typeface="Arial" pitchFamily="34" charset="0"/>
                <a:ea typeface="Arial" pitchFamily="34" charset="-122"/>
                <a:cs typeface="Arial" pitchFamily="34" charset="-120"/>
              </a:rPr>
              <a:t>Chapters: </a:t>
            </a:r>
            <a:pPr algn="l" indent="0" marL="0">
              <a:buNone/>
            </a:pPr>
            <a:r>
              <a:rPr lang="en-US" sz="1200" dirty="0">
                <a:solidFill>
                  <a:srgbClr val="FFFFFF"/>
                </a:solidFill>
                <a:latin typeface="Arial" pitchFamily="34" charset="0"/>
                <a:ea typeface="Arial" pitchFamily="34" charset="-122"/>
                <a:cs typeface="Arial" pitchFamily="34" charset="-120"/>
              </a:rPr>
              <a:t>40</a:t>
            </a:r>
            <a:pPr algn="l" indent="0" marL="0">
              <a:buNone/>
            </a:pPr>
            <a:r>
              <a:rPr lang="en-US" sz="1200" dirty="0">
                <a:solidFill>
                  <a:srgbClr val="7A7A9A"/>
                </a:solidFill>
                <a:latin typeface="Arial" pitchFamily="34" charset="0"/>
                <a:ea typeface="Arial" pitchFamily="34" charset="-122"/>
                <a:cs typeface="Arial" pitchFamily="34" charset="-120"/>
              </a:rPr>
              <a:t>   |   </a:t>
            </a:r>
            <a:pPr algn="l" indent="0" marL="0">
              <a:buNone/>
            </a:pPr>
            <a:r>
              <a:rPr lang="en-US" sz="1200" b="1" dirty="0">
                <a:solidFill>
                  <a:srgbClr val="93C5FD"/>
                </a:solidFill>
                <a:latin typeface="Arial" pitchFamily="34" charset="0"/>
                <a:ea typeface="Arial" pitchFamily="34" charset="-122"/>
                <a:cs typeface="Arial" pitchFamily="34" charset="-120"/>
              </a:rPr>
              <a:t>Format: </a:t>
            </a:r>
            <a:pPr algn="l" indent="0" marL="0">
              <a:buNone/>
            </a:pPr>
            <a:r>
              <a:rPr lang="en-US" sz="1200" dirty="0">
                <a:solidFill>
                  <a:srgbClr val="FFFFFF"/>
                </a:solidFill>
                <a:latin typeface="Arial" pitchFamily="34" charset="0"/>
                <a:ea typeface="Arial" pitchFamily="34" charset="-122"/>
                <a:cs typeface="Arial" pitchFamily="34" charset="-120"/>
              </a:rPr>
              <a:t>Team Book Study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61520" cy="1097280"/>
          </a:xfrm>
          <a:prstGeom prst="rect">
            <a:avLst/>
          </a:prstGeom>
          <a:solidFill>
            <a:srgbClr val="0F172A"/>
          </a:solidFill>
          <a:ln/>
        </p:spPr>
      </p:sp>
      <p:sp>
        <p:nvSpPr>
          <p:cNvPr id="3" name="Text 1"/>
          <p:cNvSpPr/>
          <p:nvPr/>
        </p:nvSpPr>
        <p:spPr>
          <a:xfrm>
            <a:off x="457200" y="182880"/>
            <a:ext cx="10972800" cy="731520"/>
          </a:xfrm>
          <a:prstGeom prst="rect">
            <a:avLst/>
          </a:prstGeom>
          <a:noFill/>
          <a:ln/>
        </p:spPr>
        <p:txBody>
          <a:bodyPr wrap="square" lIns="0" tIns="0" rIns="0" bIns="0" rtlCol="0" anchor="ctr"/>
          <a:lstStyle/>
          <a:p>
            <a:pPr indent="0" marL="0">
              <a:buNone/>
            </a:pPr>
            <a:r>
              <a:rPr lang="en-US" sz="2000" b="1" spc="200" kern="0" dirty="0">
                <a:solidFill>
                  <a:srgbClr val="FFFFFF"/>
                </a:solidFill>
                <a:latin typeface="Arial Black" pitchFamily="34" charset="0"/>
                <a:ea typeface="Arial Black" pitchFamily="34" charset="-122"/>
                <a:cs typeface="Arial Black" pitchFamily="34" charset="-120"/>
              </a:rPr>
              <a:t>HOW TO USE THIS FACILITATION GUIDE</a:t>
            </a:r>
            <a:endParaRPr lang="en-US" sz="2000" dirty="0"/>
          </a:p>
        </p:txBody>
      </p:sp>
      <p:sp>
        <p:nvSpPr>
          <p:cNvPr id="4" name="Shape 2"/>
          <p:cNvSpPr/>
          <p:nvPr/>
        </p:nvSpPr>
        <p:spPr>
          <a:xfrm>
            <a:off x="365760" y="1371600"/>
            <a:ext cx="5486400" cy="219456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5" name="Shape 3"/>
          <p:cNvSpPr/>
          <p:nvPr/>
        </p:nvSpPr>
        <p:spPr>
          <a:xfrm>
            <a:off x="365760" y="1371600"/>
            <a:ext cx="137160" cy="2194560"/>
          </a:xfrm>
          <a:prstGeom prst="rect">
            <a:avLst/>
          </a:prstGeom>
          <a:solidFill>
            <a:srgbClr val="2563EB"/>
          </a:solidFill>
          <a:ln/>
        </p:spPr>
      </p:sp>
      <p:pic>
        <p:nvPicPr>
          <p:cNvPr id="6" name="Image 0" descr="preencoded.png">    </p:cNvPr>
          <p:cNvPicPr>
            <a:picLocks noChangeAspect="1"/>
          </p:cNvPicPr>
          <p:nvPr/>
        </p:nvPicPr>
        <p:blipFill>
          <a:blip r:embed="rId1"/>
          <a:stretch>
            <a:fillRect/>
          </a:stretch>
        </p:blipFill>
        <p:spPr>
          <a:xfrm>
            <a:off x="640080" y="1554480"/>
            <a:ext cx="457200" cy="457200"/>
          </a:xfrm>
          <a:prstGeom prst="rect">
            <a:avLst/>
          </a:prstGeom>
        </p:spPr>
      </p:pic>
      <p:sp>
        <p:nvSpPr>
          <p:cNvPr id="7" name="Text 4"/>
          <p:cNvSpPr/>
          <p:nvPr/>
        </p:nvSpPr>
        <p:spPr>
          <a:xfrm>
            <a:off x="640080" y="2148840"/>
            <a:ext cx="50292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Part Overview Slides</a:t>
            </a:r>
            <a:endParaRPr lang="en-US" sz="1600" dirty="0"/>
          </a:p>
        </p:txBody>
      </p:sp>
      <p:sp>
        <p:nvSpPr>
          <p:cNvPr id="8" name="Text 5"/>
          <p:cNvSpPr/>
          <p:nvPr/>
        </p:nvSpPr>
        <p:spPr>
          <a:xfrm>
            <a:off x="640080" y="2606040"/>
            <a:ext cx="5029200" cy="822960"/>
          </a:xfrm>
          <a:prstGeom prst="rect">
            <a:avLst/>
          </a:prstGeom>
          <a:noFill/>
          <a:ln/>
        </p:spPr>
        <p:txBody>
          <a:bodyPr wrap="square" lIns="0" tIns="0" rIns="0" bIns="0" rtlCol="0" anchor="ctr"/>
          <a:lstStyle/>
          <a:p>
            <a:pPr indent="0" marL="0">
              <a:buNone/>
            </a:pPr>
            <a:r>
              <a:rPr lang="en-US" sz="1200" dirty="0">
                <a:solidFill>
                  <a:srgbClr val="B0B4CC"/>
                </a:solidFill>
                <a:latin typeface="Arial" pitchFamily="34" charset="0"/>
                <a:ea typeface="Arial" pitchFamily="34" charset="-122"/>
                <a:cs typeface="Arial" pitchFamily="34" charset="-120"/>
              </a:rPr>
              <a:t>Each part opens with an overview slide covering the Big Idea, Key Themes, and which chapters are included. Start here before diving into chapter detail.</a:t>
            </a:r>
            <a:endParaRPr lang="en-US" sz="1200" dirty="0"/>
          </a:p>
        </p:txBody>
      </p:sp>
      <p:sp>
        <p:nvSpPr>
          <p:cNvPr id="9" name="Shape 6"/>
          <p:cNvSpPr/>
          <p:nvPr/>
        </p:nvSpPr>
        <p:spPr>
          <a:xfrm>
            <a:off x="6126480" y="1371600"/>
            <a:ext cx="5486400" cy="219456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0" name="Shape 7"/>
          <p:cNvSpPr/>
          <p:nvPr/>
        </p:nvSpPr>
        <p:spPr>
          <a:xfrm>
            <a:off x="6126480" y="1371600"/>
            <a:ext cx="137160" cy="2194560"/>
          </a:xfrm>
          <a:prstGeom prst="rect">
            <a:avLst/>
          </a:prstGeom>
          <a:solidFill>
            <a:srgbClr val="93C5FD"/>
          </a:solidFill>
          <a:ln/>
        </p:spPr>
      </p:sp>
      <p:pic>
        <p:nvPicPr>
          <p:cNvPr id="11" name="Image 1" descr="preencoded.png">    </p:cNvPr>
          <p:cNvPicPr>
            <a:picLocks noChangeAspect="1"/>
          </p:cNvPicPr>
          <p:nvPr/>
        </p:nvPicPr>
        <p:blipFill>
          <a:blip r:embed="rId2"/>
          <a:stretch>
            <a:fillRect/>
          </a:stretch>
        </p:blipFill>
        <p:spPr>
          <a:xfrm>
            <a:off x="6400800" y="1554480"/>
            <a:ext cx="457200" cy="457200"/>
          </a:xfrm>
          <a:prstGeom prst="rect">
            <a:avLst/>
          </a:prstGeom>
        </p:spPr>
      </p:pic>
      <p:sp>
        <p:nvSpPr>
          <p:cNvPr id="12" name="Text 8"/>
          <p:cNvSpPr/>
          <p:nvPr/>
        </p:nvSpPr>
        <p:spPr>
          <a:xfrm>
            <a:off x="6400800" y="2148840"/>
            <a:ext cx="50292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Chapter Detail Slides</a:t>
            </a:r>
            <a:endParaRPr lang="en-US" sz="1600" dirty="0"/>
          </a:p>
        </p:txBody>
      </p:sp>
      <p:sp>
        <p:nvSpPr>
          <p:cNvPr id="13" name="Text 9"/>
          <p:cNvSpPr/>
          <p:nvPr/>
        </p:nvSpPr>
        <p:spPr>
          <a:xfrm>
            <a:off x="6400800" y="2606040"/>
            <a:ext cx="5029200" cy="822960"/>
          </a:xfrm>
          <a:prstGeom prst="rect">
            <a:avLst/>
          </a:prstGeom>
          <a:noFill/>
          <a:ln/>
        </p:spPr>
        <p:txBody>
          <a:bodyPr wrap="square" lIns="0" tIns="0" rIns="0" bIns="0" rtlCol="0" anchor="ctr"/>
          <a:lstStyle/>
          <a:p>
            <a:pPr indent="0" marL="0">
              <a:buNone/>
            </a:pPr>
            <a:r>
              <a:rPr lang="en-US" sz="1200" dirty="0">
                <a:solidFill>
                  <a:srgbClr val="B0B4CC"/>
                </a:solidFill>
                <a:latin typeface="Arial" pitchFamily="34" charset="0"/>
                <a:ea typeface="Arial" pitchFamily="34" charset="-122"/>
                <a:cs typeface="Arial" pitchFamily="34" charset="-120"/>
              </a:rPr>
              <a:t>Each chapter has its own slide with the Big Idea, Key Points, and Discussion prompts. Use these for deeper chapter-by-chapter sessions.</a:t>
            </a:r>
            <a:endParaRPr lang="en-US" sz="1200" dirty="0"/>
          </a:p>
        </p:txBody>
      </p:sp>
      <p:sp>
        <p:nvSpPr>
          <p:cNvPr id="14" name="Shape 10"/>
          <p:cNvSpPr/>
          <p:nvPr/>
        </p:nvSpPr>
        <p:spPr>
          <a:xfrm>
            <a:off x="365760" y="3840480"/>
            <a:ext cx="5486400" cy="219456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5" name="Shape 11"/>
          <p:cNvSpPr/>
          <p:nvPr/>
        </p:nvSpPr>
        <p:spPr>
          <a:xfrm>
            <a:off x="365760" y="3840480"/>
            <a:ext cx="137160" cy="2194560"/>
          </a:xfrm>
          <a:prstGeom prst="rect">
            <a:avLst/>
          </a:prstGeom>
          <a:solidFill>
            <a:srgbClr val="06D6A0"/>
          </a:solidFill>
          <a:ln/>
        </p:spPr>
      </p:sp>
      <p:pic>
        <p:nvPicPr>
          <p:cNvPr id="16" name="Image 2" descr="preencoded.png">    </p:cNvPr>
          <p:cNvPicPr>
            <a:picLocks noChangeAspect="1"/>
          </p:cNvPicPr>
          <p:nvPr/>
        </p:nvPicPr>
        <p:blipFill>
          <a:blip r:embed="rId3"/>
          <a:stretch>
            <a:fillRect/>
          </a:stretch>
        </p:blipFill>
        <p:spPr>
          <a:xfrm>
            <a:off x="640080" y="4023360"/>
            <a:ext cx="457200" cy="457200"/>
          </a:xfrm>
          <a:prstGeom prst="rect">
            <a:avLst/>
          </a:prstGeom>
        </p:spPr>
      </p:pic>
      <p:sp>
        <p:nvSpPr>
          <p:cNvPr id="17" name="Text 12"/>
          <p:cNvSpPr/>
          <p:nvPr/>
        </p:nvSpPr>
        <p:spPr>
          <a:xfrm>
            <a:off x="640080" y="4617720"/>
            <a:ext cx="50292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Discussion Questions</a:t>
            </a:r>
            <a:endParaRPr lang="en-US" sz="1600" dirty="0"/>
          </a:p>
        </p:txBody>
      </p:sp>
      <p:sp>
        <p:nvSpPr>
          <p:cNvPr id="18" name="Text 13"/>
          <p:cNvSpPr/>
          <p:nvPr/>
        </p:nvSpPr>
        <p:spPr>
          <a:xfrm>
            <a:off x="640080" y="5074920"/>
            <a:ext cx="5029200" cy="822960"/>
          </a:xfrm>
          <a:prstGeom prst="rect">
            <a:avLst/>
          </a:prstGeom>
          <a:noFill/>
          <a:ln/>
        </p:spPr>
        <p:txBody>
          <a:bodyPr wrap="square" lIns="0" tIns="0" rIns="0" bIns="0" rtlCol="0" anchor="ctr"/>
          <a:lstStyle/>
          <a:p>
            <a:pPr indent="0" marL="0">
              <a:buNone/>
            </a:pPr>
            <a:r>
              <a:rPr lang="en-US" sz="1200" dirty="0">
                <a:solidFill>
                  <a:srgbClr val="B0B4CC"/>
                </a:solidFill>
                <a:latin typeface="Arial" pitchFamily="34" charset="0"/>
                <a:ea typeface="Arial" pitchFamily="34" charset="-122"/>
                <a:cs typeface="Arial" pitchFamily="34" charset="-120"/>
              </a:rPr>
              <a:t>Every slide includes team discussion prompts. Use them as conversation starters — pick whichever are most relevant to your team's context.</a:t>
            </a:r>
            <a:endParaRPr lang="en-US" sz="1200" dirty="0"/>
          </a:p>
        </p:txBody>
      </p:sp>
      <p:sp>
        <p:nvSpPr>
          <p:cNvPr id="19" name="Shape 14"/>
          <p:cNvSpPr/>
          <p:nvPr/>
        </p:nvSpPr>
        <p:spPr>
          <a:xfrm>
            <a:off x="6126480" y="3840480"/>
            <a:ext cx="5486400" cy="219456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0" name="Shape 15"/>
          <p:cNvSpPr/>
          <p:nvPr/>
        </p:nvSpPr>
        <p:spPr>
          <a:xfrm>
            <a:off x="6126480" y="3840480"/>
            <a:ext cx="137160" cy="2194560"/>
          </a:xfrm>
          <a:prstGeom prst="rect">
            <a:avLst/>
          </a:prstGeom>
          <a:solidFill>
            <a:srgbClr val="1E3A8A"/>
          </a:solidFill>
          <a:ln/>
        </p:spPr>
      </p:sp>
      <p:pic>
        <p:nvPicPr>
          <p:cNvPr id="21" name="Image 3" descr="preencoded.png">    </p:cNvPr>
          <p:cNvPicPr>
            <a:picLocks noChangeAspect="1"/>
          </p:cNvPicPr>
          <p:nvPr/>
        </p:nvPicPr>
        <p:blipFill>
          <a:blip r:embed="rId4"/>
          <a:stretch>
            <a:fillRect/>
          </a:stretch>
        </p:blipFill>
        <p:spPr>
          <a:xfrm>
            <a:off x="6400800" y="4023360"/>
            <a:ext cx="457200" cy="457200"/>
          </a:xfrm>
          <a:prstGeom prst="rect">
            <a:avLst/>
          </a:prstGeom>
        </p:spPr>
      </p:pic>
      <p:sp>
        <p:nvSpPr>
          <p:cNvPr id="22" name="Text 16"/>
          <p:cNvSpPr/>
          <p:nvPr/>
        </p:nvSpPr>
        <p:spPr>
          <a:xfrm>
            <a:off x="6400800" y="4617720"/>
            <a:ext cx="50292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Wrap Each Session</a:t>
            </a:r>
            <a:endParaRPr lang="en-US" sz="1600" dirty="0"/>
          </a:p>
        </p:txBody>
      </p:sp>
      <p:sp>
        <p:nvSpPr>
          <p:cNvPr id="23" name="Text 17"/>
          <p:cNvSpPr/>
          <p:nvPr/>
        </p:nvSpPr>
        <p:spPr>
          <a:xfrm>
            <a:off x="6400800" y="5074920"/>
            <a:ext cx="5029200" cy="822960"/>
          </a:xfrm>
          <a:prstGeom prst="rect">
            <a:avLst/>
          </a:prstGeom>
          <a:noFill/>
          <a:ln/>
        </p:spPr>
        <p:txBody>
          <a:bodyPr wrap="square" lIns="0" tIns="0" rIns="0" bIns="0" rtlCol="0" anchor="ctr"/>
          <a:lstStyle/>
          <a:p>
            <a:pPr indent="0" marL="0">
              <a:buNone/>
            </a:pPr>
            <a:r>
              <a:rPr lang="en-US" sz="1200" dirty="0">
                <a:solidFill>
                  <a:srgbClr val="B0B4CC"/>
                </a:solidFill>
                <a:latin typeface="Arial" pitchFamily="34" charset="0"/>
                <a:ea typeface="Arial" pitchFamily="34" charset="-122"/>
                <a:cs typeface="Arial" pitchFamily="34" charset="-120"/>
              </a:rPr>
              <a:t>End each session with: 'What's ONE thing you'll do differently because of this?' Concrete action commitment drives real change.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2563EB"/>
          </a:solidFill>
          <a:ln/>
        </p:spPr>
      </p:sp>
      <p:sp>
        <p:nvSpPr>
          <p:cNvPr id="3" name="Text 1"/>
          <p:cNvSpPr/>
          <p:nvPr/>
        </p:nvSpPr>
        <p:spPr>
          <a:xfrm>
            <a:off x="548640" y="365760"/>
            <a:ext cx="10972800" cy="548640"/>
          </a:xfrm>
          <a:prstGeom prst="rect">
            <a:avLst/>
          </a:prstGeom>
          <a:noFill/>
          <a:ln/>
        </p:spPr>
        <p:txBody>
          <a:bodyPr wrap="square" lIns="0" tIns="0" rIns="0" bIns="0" rtlCol="0" anchor="ctr"/>
          <a:lstStyle/>
          <a:p>
            <a:pPr indent="0" marL="0">
              <a:buNone/>
            </a:pPr>
            <a:r>
              <a:rPr lang="en-US" sz="1200" b="1" spc="300" kern="0" dirty="0">
                <a:solidFill>
                  <a:srgbClr val="2563EB"/>
                </a:solidFill>
                <a:latin typeface="Arial" pitchFamily="34" charset="0"/>
                <a:ea typeface="Arial" pitchFamily="34" charset="-122"/>
                <a:cs typeface="Arial" pitchFamily="34" charset="-120"/>
              </a:rPr>
              <a:t>ABOUT THE BOOK</a:t>
            </a:r>
            <a:endParaRPr lang="en-US" sz="1200" dirty="0"/>
          </a:p>
        </p:txBody>
      </p:sp>
      <p:sp>
        <p:nvSpPr>
          <p:cNvPr id="4" name="Text 2"/>
          <p:cNvSpPr/>
          <p:nvPr/>
        </p:nvSpPr>
        <p:spPr>
          <a:xfrm>
            <a:off x="548640" y="822960"/>
            <a:ext cx="10972800" cy="91440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What is INSPIRED?</a:t>
            </a:r>
            <a:endParaRPr lang="en-US" sz="3800" dirty="0"/>
          </a:p>
        </p:txBody>
      </p:sp>
      <p:sp>
        <p:nvSpPr>
          <p:cNvPr id="5" name="Text 3"/>
          <p:cNvSpPr/>
          <p:nvPr/>
        </p:nvSpPr>
        <p:spPr>
          <a:xfrm>
            <a:off x="548640" y="1828800"/>
            <a:ext cx="6858000" cy="1645920"/>
          </a:xfrm>
          <a:prstGeom prst="rect">
            <a:avLst/>
          </a:prstGeom>
          <a:noFill/>
          <a:ln/>
        </p:spPr>
        <p:txBody>
          <a:bodyPr wrap="square" lIns="0" tIns="0" rIns="0" bIns="0" rtlCol="0" anchor="ctr"/>
          <a:lstStyle/>
          <a:p>
            <a:pPr indent="0" marL="0">
              <a:buNone/>
            </a:pPr>
            <a:r>
              <a:rPr lang="en-US" sz="1500" dirty="0">
                <a:solidFill>
                  <a:srgbClr val="C8CCDE"/>
                </a:solidFill>
                <a:latin typeface="Arial" pitchFamily="34" charset="0"/>
                <a:ea typeface="Arial" pitchFamily="34" charset="-122"/>
                <a:cs typeface="Arial" pitchFamily="34" charset="-120"/>
              </a:rPr>
              <a:t>INSPIRED is the definitive guide to modern product management written by Marty Cagan, founder of the Silicon Valley Product Group (SVPG). It distills decades of experience working with companies like HP, Netscape, and eBay into actionable principles for building technology products that customers actually love.</a:t>
            </a:r>
            <a:endParaRPr lang="en-US" sz="1500" dirty="0"/>
          </a:p>
        </p:txBody>
      </p:sp>
      <p:sp>
        <p:nvSpPr>
          <p:cNvPr id="6" name="Shape 4"/>
          <p:cNvSpPr/>
          <p:nvPr/>
        </p:nvSpPr>
        <p:spPr>
          <a:xfrm>
            <a:off x="548640" y="3657600"/>
            <a:ext cx="2103120" cy="1463040"/>
          </a:xfrm>
          <a:prstGeom prst="rect">
            <a:avLst/>
          </a:prstGeom>
          <a:solidFill>
            <a:srgbClr val="0F172A"/>
          </a:solidFill>
          <a:ln/>
          <a:effectLst>
            <a:outerShdw sx="100000" sy="100000" kx="0" ky="0" algn="bl" rotWithShape="0" blurRad="101600" dist="38100" dir="8100000">
              <a:srgbClr val="000000">
                <a:alpha val="18000"/>
              </a:srgbClr>
            </a:outerShdw>
          </a:effectLst>
        </p:spPr>
      </p:sp>
      <p:sp>
        <p:nvSpPr>
          <p:cNvPr id="7" name="Text 5"/>
          <p:cNvSpPr/>
          <p:nvPr/>
        </p:nvSpPr>
        <p:spPr>
          <a:xfrm>
            <a:off x="548640" y="3749040"/>
            <a:ext cx="2103120" cy="731520"/>
          </a:xfrm>
          <a:prstGeom prst="rect">
            <a:avLst/>
          </a:prstGeom>
          <a:noFill/>
          <a:ln/>
        </p:spPr>
        <p:txBody>
          <a:bodyPr wrap="square" lIns="0" tIns="0" rIns="0" bIns="0" rtlCol="0" anchor="ctr"/>
          <a:lstStyle/>
          <a:p>
            <a:pPr algn="ctr" indent="0" marL="0">
              <a:buNone/>
            </a:pPr>
            <a:r>
              <a:rPr lang="en-US" sz="4000" b="1" dirty="0">
                <a:solidFill>
                  <a:srgbClr val="2563EB"/>
                </a:solidFill>
                <a:latin typeface="Arial Black" pitchFamily="34" charset="0"/>
                <a:ea typeface="Arial Black" pitchFamily="34" charset="-122"/>
                <a:cs typeface="Arial Black" pitchFamily="34" charset="-120"/>
              </a:rPr>
              <a:t>5</a:t>
            </a:r>
            <a:endParaRPr lang="en-US" sz="4000" dirty="0"/>
          </a:p>
        </p:txBody>
      </p:sp>
      <p:sp>
        <p:nvSpPr>
          <p:cNvPr id="8" name="Text 6"/>
          <p:cNvSpPr/>
          <p:nvPr/>
        </p:nvSpPr>
        <p:spPr>
          <a:xfrm>
            <a:off x="548640" y="4389120"/>
            <a:ext cx="2103120" cy="457200"/>
          </a:xfrm>
          <a:prstGeom prst="rect">
            <a:avLst/>
          </a:prstGeom>
          <a:noFill/>
          <a:ln/>
        </p:spPr>
        <p:txBody>
          <a:bodyPr wrap="square" lIns="0" tIns="0" rIns="0" bIns="0" rtlCol="0" anchor="ctr"/>
          <a:lstStyle/>
          <a:p>
            <a:pPr algn="ctr" indent="0" marL="0">
              <a:buNone/>
            </a:pPr>
            <a:r>
              <a:rPr lang="en-US" sz="1200" dirty="0">
                <a:solidFill>
                  <a:srgbClr val="93C5FD"/>
                </a:solidFill>
                <a:latin typeface="Arial" pitchFamily="34" charset="0"/>
                <a:ea typeface="Arial" pitchFamily="34" charset="-122"/>
                <a:cs typeface="Arial" pitchFamily="34" charset="-120"/>
              </a:rPr>
              <a:t>Parts</a:t>
            </a:r>
            <a:endParaRPr lang="en-US" sz="1200" dirty="0"/>
          </a:p>
        </p:txBody>
      </p:sp>
      <p:sp>
        <p:nvSpPr>
          <p:cNvPr id="9" name="Shape 7"/>
          <p:cNvSpPr/>
          <p:nvPr/>
        </p:nvSpPr>
        <p:spPr>
          <a:xfrm>
            <a:off x="2926080" y="3657600"/>
            <a:ext cx="2103120" cy="1463040"/>
          </a:xfrm>
          <a:prstGeom prst="rect">
            <a:avLst/>
          </a:prstGeom>
          <a:solidFill>
            <a:srgbClr val="0F172A"/>
          </a:solidFill>
          <a:ln/>
          <a:effectLst>
            <a:outerShdw sx="100000" sy="100000" kx="0" ky="0" algn="bl" rotWithShape="0" blurRad="101600" dist="38100" dir="8100000">
              <a:srgbClr val="000000">
                <a:alpha val="18000"/>
              </a:srgbClr>
            </a:outerShdw>
          </a:effectLst>
        </p:spPr>
      </p:sp>
      <p:sp>
        <p:nvSpPr>
          <p:cNvPr id="10" name="Text 8"/>
          <p:cNvSpPr/>
          <p:nvPr/>
        </p:nvSpPr>
        <p:spPr>
          <a:xfrm>
            <a:off x="2926080" y="3749040"/>
            <a:ext cx="2103120" cy="731520"/>
          </a:xfrm>
          <a:prstGeom prst="rect">
            <a:avLst/>
          </a:prstGeom>
          <a:noFill/>
          <a:ln/>
        </p:spPr>
        <p:txBody>
          <a:bodyPr wrap="square" lIns="0" tIns="0" rIns="0" bIns="0" rtlCol="0" anchor="ctr"/>
          <a:lstStyle/>
          <a:p>
            <a:pPr algn="ctr" indent="0" marL="0">
              <a:buNone/>
            </a:pPr>
            <a:r>
              <a:rPr lang="en-US" sz="4000" b="1" dirty="0">
                <a:solidFill>
                  <a:srgbClr val="2563EB"/>
                </a:solidFill>
                <a:latin typeface="Arial Black" pitchFamily="34" charset="0"/>
                <a:ea typeface="Arial Black" pitchFamily="34" charset="-122"/>
                <a:cs typeface="Arial Black" pitchFamily="34" charset="-120"/>
              </a:rPr>
              <a:t>40</a:t>
            </a:r>
            <a:endParaRPr lang="en-US" sz="4000" dirty="0"/>
          </a:p>
        </p:txBody>
      </p:sp>
      <p:sp>
        <p:nvSpPr>
          <p:cNvPr id="11" name="Text 9"/>
          <p:cNvSpPr/>
          <p:nvPr/>
        </p:nvSpPr>
        <p:spPr>
          <a:xfrm>
            <a:off x="2926080" y="4389120"/>
            <a:ext cx="2103120" cy="457200"/>
          </a:xfrm>
          <a:prstGeom prst="rect">
            <a:avLst/>
          </a:prstGeom>
          <a:noFill/>
          <a:ln/>
        </p:spPr>
        <p:txBody>
          <a:bodyPr wrap="square" lIns="0" tIns="0" rIns="0" bIns="0" rtlCol="0" anchor="ctr"/>
          <a:lstStyle/>
          <a:p>
            <a:pPr algn="ctr" indent="0" marL="0">
              <a:buNone/>
            </a:pPr>
            <a:r>
              <a:rPr lang="en-US" sz="1200" dirty="0">
                <a:solidFill>
                  <a:srgbClr val="93C5FD"/>
                </a:solidFill>
                <a:latin typeface="Arial" pitchFamily="34" charset="0"/>
                <a:ea typeface="Arial" pitchFamily="34" charset="-122"/>
                <a:cs typeface="Arial" pitchFamily="34" charset="-120"/>
              </a:rPr>
              <a:t>Chapters</a:t>
            </a:r>
            <a:endParaRPr lang="en-US" sz="1200" dirty="0"/>
          </a:p>
        </p:txBody>
      </p:sp>
      <p:sp>
        <p:nvSpPr>
          <p:cNvPr id="12" name="Shape 10"/>
          <p:cNvSpPr/>
          <p:nvPr/>
        </p:nvSpPr>
        <p:spPr>
          <a:xfrm>
            <a:off x="5303520" y="3657600"/>
            <a:ext cx="2103120" cy="1463040"/>
          </a:xfrm>
          <a:prstGeom prst="rect">
            <a:avLst/>
          </a:prstGeom>
          <a:solidFill>
            <a:srgbClr val="0F172A"/>
          </a:solidFill>
          <a:ln/>
          <a:effectLst>
            <a:outerShdw sx="100000" sy="100000" kx="0" ky="0" algn="bl" rotWithShape="0" blurRad="101600" dist="38100" dir="8100000">
              <a:srgbClr val="000000">
                <a:alpha val="18000"/>
              </a:srgbClr>
            </a:outerShdw>
          </a:effectLst>
        </p:spPr>
      </p:sp>
      <p:sp>
        <p:nvSpPr>
          <p:cNvPr id="13" name="Text 11"/>
          <p:cNvSpPr/>
          <p:nvPr/>
        </p:nvSpPr>
        <p:spPr>
          <a:xfrm>
            <a:off x="5303520" y="3749040"/>
            <a:ext cx="2103120" cy="731520"/>
          </a:xfrm>
          <a:prstGeom prst="rect">
            <a:avLst/>
          </a:prstGeom>
          <a:noFill/>
          <a:ln/>
        </p:spPr>
        <p:txBody>
          <a:bodyPr wrap="square" lIns="0" tIns="0" rIns="0" bIns="0" rtlCol="0" anchor="ctr"/>
          <a:lstStyle/>
          <a:p>
            <a:pPr algn="ctr" indent="0" marL="0">
              <a:buNone/>
            </a:pPr>
            <a:r>
              <a:rPr lang="en-US" sz="4000" b="1" dirty="0">
                <a:solidFill>
                  <a:srgbClr val="2563EB"/>
                </a:solidFill>
                <a:latin typeface="Arial Black" pitchFamily="34" charset="0"/>
                <a:ea typeface="Arial Black" pitchFamily="34" charset="-122"/>
                <a:cs typeface="Arial Black" pitchFamily="34" charset="-120"/>
              </a:rPr>
              <a:t>1</a:t>
            </a:r>
            <a:endParaRPr lang="en-US" sz="4000" dirty="0"/>
          </a:p>
        </p:txBody>
      </p:sp>
      <p:sp>
        <p:nvSpPr>
          <p:cNvPr id="14" name="Text 12"/>
          <p:cNvSpPr/>
          <p:nvPr/>
        </p:nvSpPr>
        <p:spPr>
          <a:xfrm>
            <a:off x="5303520" y="4389120"/>
            <a:ext cx="2103120" cy="457200"/>
          </a:xfrm>
          <a:prstGeom prst="rect">
            <a:avLst/>
          </a:prstGeom>
          <a:noFill/>
          <a:ln/>
        </p:spPr>
        <p:txBody>
          <a:bodyPr wrap="square" lIns="0" tIns="0" rIns="0" bIns="0" rtlCol="0" anchor="ctr"/>
          <a:lstStyle/>
          <a:p>
            <a:pPr algn="ctr" indent="0" marL="0">
              <a:buNone/>
            </a:pPr>
            <a:r>
              <a:rPr lang="en-US" sz="1200" dirty="0">
                <a:solidFill>
                  <a:srgbClr val="93C5FD"/>
                </a:solidFill>
                <a:latin typeface="Arial" pitchFamily="34" charset="0"/>
                <a:ea typeface="Arial" pitchFamily="34" charset="-122"/>
                <a:cs typeface="Arial" pitchFamily="34" charset="-120"/>
              </a:rPr>
              <a:t>Core Mission</a:t>
            </a:r>
            <a:endParaRPr lang="en-US" sz="1200" dirty="0"/>
          </a:p>
        </p:txBody>
      </p:sp>
      <p:sp>
        <p:nvSpPr>
          <p:cNvPr id="15" name="Shape 13"/>
          <p:cNvSpPr/>
          <p:nvPr/>
        </p:nvSpPr>
        <p:spPr>
          <a:xfrm>
            <a:off x="7589520" y="1371600"/>
            <a:ext cx="4297680" cy="4754880"/>
          </a:xfrm>
          <a:prstGeom prst="rect">
            <a:avLst/>
          </a:prstGeom>
          <a:solidFill>
            <a:srgbClr val="12193A"/>
          </a:solidFill>
          <a:ln/>
          <a:effectLst>
            <a:outerShdw sx="100000" sy="100000" kx="0" ky="0" algn="bl" rotWithShape="0" blurRad="101600" dist="38100" dir="8100000">
              <a:srgbClr val="000000">
                <a:alpha val="18000"/>
              </a:srgbClr>
            </a:outerShdw>
          </a:effectLst>
        </p:spPr>
      </p:sp>
      <p:sp>
        <p:nvSpPr>
          <p:cNvPr id="16" name="Shape 14"/>
          <p:cNvSpPr/>
          <p:nvPr/>
        </p:nvSpPr>
        <p:spPr>
          <a:xfrm>
            <a:off x="7589520" y="1371600"/>
            <a:ext cx="4297680" cy="109728"/>
          </a:xfrm>
          <a:prstGeom prst="rect">
            <a:avLst/>
          </a:prstGeom>
          <a:solidFill>
            <a:srgbClr val="2563EB"/>
          </a:solidFill>
          <a:ln/>
        </p:spPr>
      </p:sp>
      <p:sp>
        <p:nvSpPr>
          <p:cNvPr id="17" name="Text 15"/>
          <p:cNvSpPr/>
          <p:nvPr/>
        </p:nvSpPr>
        <p:spPr>
          <a:xfrm>
            <a:off x="7772400" y="1554480"/>
            <a:ext cx="3931920" cy="457200"/>
          </a:xfrm>
          <a:prstGeom prst="rect">
            <a:avLst/>
          </a:prstGeom>
          <a:noFill/>
          <a:ln/>
        </p:spPr>
        <p:txBody>
          <a:bodyPr wrap="square" lIns="0" tIns="0" rIns="0" bIns="0" rtlCol="0" anchor="ctr"/>
          <a:lstStyle/>
          <a:p>
            <a:pPr indent="0" marL="0">
              <a:buNone/>
            </a:pPr>
            <a:r>
              <a:rPr lang="en-US" sz="1200" b="1" spc="300" kern="0" dirty="0">
                <a:solidFill>
                  <a:srgbClr val="2563EB"/>
                </a:solidFill>
                <a:latin typeface="Arial" pitchFamily="34" charset="0"/>
                <a:ea typeface="Arial" pitchFamily="34" charset="-122"/>
                <a:cs typeface="Arial" pitchFamily="34" charset="-120"/>
              </a:rPr>
              <a:t>CORE MISSION</a:t>
            </a:r>
            <a:endParaRPr lang="en-US" sz="1200" dirty="0"/>
          </a:p>
        </p:txBody>
      </p:sp>
      <p:sp>
        <p:nvSpPr>
          <p:cNvPr id="18" name="Text 16"/>
          <p:cNvSpPr/>
          <p:nvPr/>
        </p:nvSpPr>
        <p:spPr>
          <a:xfrm>
            <a:off x="7772400" y="2103120"/>
            <a:ext cx="3931920" cy="2286000"/>
          </a:xfrm>
          <a:prstGeom prst="rect">
            <a:avLst/>
          </a:prstGeom>
          <a:noFill/>
          <a:ln/>
        </p:spPr>
        <p:txBody>
          <a:bodyPr wrap="square" lIns="0" tIns="0" rIns="0" bIns="0" rtlCol="0" anchor="ctr"/>
          <a:lstStyle/>
          <a:p>
            <a:pPr indent="0" marL="0">
              <a:buNone/>
            </a:pPr>
            <a:r>
              <a:rPr lang="en-US" sz="1400" i="1" dirty="0">
                <a:solidFill>
                  <a:srgbClr val="FFFFFF"/>
                </a:solidFill>
                <a:latin typeface="Georgia" pitchFamily="34" charset="0"/>
                <a:ea typeface="Georgia" pitchFamily="34" charset="-122"/>
                <a:cs typeface="Georgia" pitchFamily="34" charset="-120"/>
              </a:rPr>
              <a:t>“Behind every great product there is someone — usually someone behind the scenes, working tirelessly — who led the product team to combine technology and design to solve real customer problems in a way that met the needs of the business.”</a:t>
            </a:r>
            <a:endParaRPr lang="en-US" sz="1400" dirty="0"/>
          </a:p>
        </p:txBody>
      </p:sp>
      <p:sp>
        <p:nvSpPr>
          <p:cNvPr id="19" name="Text 17"/>
          <p:cNvSpPr/>
          <p:nvPr/>
        </p:nvSpPr>
        <p:spPr>
          <a:xfrm>
            <a:off x="7772400" y="4480560"/>
            <a:ext cx="3931920" cy="365760"/>
          </a:xfrm>
          <a:prstGeom prst="rect">
            <a:avLst/>
          </a:prstGeom>
          <a:noFill/>
          <a:ln/>
        </p:spPr>
        <p:txBody>
          <a:bodyPr wrap="square" lIns="0" tIns="0" rIns="0" bIns="0" rtlCol="0" anchor="ctr"/>
          <a:lstStyle/>
          <a:p>
            <a:pPr indent="0" marL="0">
              <a:buNone/>
            </a:pPr>
            <a:r>
              <a:rPr lang="en-US" sz="1200" dirty="0">
                <a:solidFill>
                  <a:srgbClr val="93C5FD"/>
                </a:solidFill>
                <a:latin typeface="Arial" pitchFamily="34" charset="0"/>
                <a:ea typeface="Arial" pitchFamily="34" charset="-122"/>
                <a:cs typeface="Arial" pitchFamily="34" charset="-120"/>
              </a:rPr>
              <a:t>— Marty Cagan</a:t>
            </a:r>
            <a:endParaRPr lang="en-US" sz="1200" dirty="0"/>
          </a:p>
        </p:txBody>
      </p:sp>
      <p:sp>
        <p:nvSpPr>
          <p:cNvPr id="20" name="Text 18"/>
          <p:cNvSpPr/>
          <p:nvPr/>
        </p:nvSpPr>
        <p:spPr>
          <a:xfrm>
            <a:off x="7772400" y="5029200"/>
            <a:ext cx="3931920" cy="822960"/>
          </a:xfrm>
          <a:prstGeom prst="rect">
            <a:avLst/>
          </a:prstGeom>
          <a:noFill/>
          <a:ln/>
        </p:spPr>
        <p:txBody>
          <a:bodyPr wrap="square" lIns="0" tIns="0" rIns="0" bIns="0" rtlCol="0" anchor="ctr"/>
          <a:lstStyle/>
          <a:p>
            <a:pPr indent="0" marL="0">
              <a:buNone/>
            </a:pPr>
            <a:r>
              <a:rPr lang="en-US" sz="1200" dirty="0">
                <a:solidFill>
                  <a:srgbClr val="C8CCDE"/>
                </a:solidFill>
                <a:latin typeface="Arial" pitchFamily="34" charset="0"/>
                <a:ea typeface="Arial" pitchFamily="34" charset="-122"/>
                <a:cs typeface="Arial" pitchFamily="34" charset="-120"/>
              </a:rPr>
              <a:t>Perfect for: Product Managers, Designers,</a:t>
            </a:r>
            <a:endParaRPr lang="en-US" sz="1200" dirty="0"/>
          </a:p>
          <a:p>
            <a:pPr indent="0" marL="0">
              <a:buNone/>
            </a:pPr>
            <a:r>
              <a:rPr lang="en-US" sz="1200" dirty="0">
                <a:solidFill>
                  <a:srgbClr val="C8CCDE"/>
                </a:solidFill>
                <a:latin typeface="Arial" pitchFamily="34" charset="0"/>
                <a:ea typeface="Arial" pitchFamily="34" charset="-122"/>
                <a:cs typeface="Arial" pitchFamily="34" charset="-120"/>
              </a:rPr>
              <a:t>Engineers, and anyone building tech products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230"/>
        </a:solidFill>
      </p:bgPr>
    </p:bg>
    <p:spTree>
      <p:nvGrpSpPr>
        <p:cNvPr id="1" name=""/>
        <p:cNvGrpSpPr/>
        <p:nvPr/>
      </p:nvGrpSpPr>
      <p:grpSpPr>
        <a:xfrm>
          <a:off x="0" y="0"/>
          <a:ext cx="0" cy="0"/>
          <a:chOff x="0" y="0"/>
          <a:chExt cx="0" cy="0"/>
        </a:xfrm>
      </p:grpSpPr>
      <p:sp>
        <p:nvSpPr>
          <p:cNvPr id="2" name="Shape 0"/>
          <p:cNvSpPr/>
          <p:nvPr/>
        </p:nvSpPr>
        <p:spPr>
          <a:xfrm>
            <a:off x="0" y="0"/>
            <a:ext cx="7132320" cy="182880"/>
          </a:xfrm>
          <a:prstGeom prst="rect">
            <a:avLst/>
          </a:prstGeom>
          <a:solidFill>
            <a:srgbClr val="93C5FD"/>
          </a:solidFill>
          <a:ln/>
        </p:spPr>
      </p:sp>
      <p:sp>
        <p:nvSpPr>
          <p:cNvPr id="3" name="Text 1"/>
          <p:cNvSpPr/>
          <p:nvPr/>
        </p:nvSpPr>
        <p:spPr>
          <a:xfrm>
            <a:off x="-457200" y="91440"/>
            <a:ext cx="3657600" cy="3200400"/>
          </a:xfrm>
          <a:prstGeom prst="rect">
            <a:avLst/>
          </a:prstGeom>
          <a:noFill/>
          <a:ln/>
        </p:spPr>
        <p:txBody>
          <a:bodyPr wrap="square" lIns="0" tIns="0" rIns="0" bIns="0" rtlCol="0" anchor="ctr"/>
          <a:lstStyle/>
          <a:p>
            <a:pPr algn="l" indent="0" marL="0">
              <a:buNone/>
            </a:pPr>
            <a:r>
              <a:rPr lang="en-US" sz="20000" b="1" dirty="0">
                <a:solidFill>
                  <a:srgbClr val="0F172A"/>
                </a:solidFill>
                <a:latin typeface="Arial Black" pitchFamily="34" charset="0"/>
                <a:ea typeface="Arial Black" pitchFamily="34" charset="-122"/>
                <a:cs typeface="Arial Black" pitchFamily="34" charset="-120"/>
              </a:rPr>
              <a:t>01</a:t>
            </a:r>
            <a:endParaRPr lang="en-US" sz="20000" dirty="0"/>
          </a:p>
        </p:txBody>
      </p:sp>
      <p:sp>
        <p:nvSpPr>
          <p:cNvPr id="4" name="Text 2"/>
          <p:cNvSpPr/>
          <p:nvPr/>
        </p:nvSpPr>
        <p:spPr>
          <a:xfrm>
            <a:off x="411480" y="292608"/>
            <a:ext cx="3657600" cy="411480"/>
          </a:xfrm>
          <a:prstGeom prst="rect">
            <a:avLst/>
          </a:prstGeom>
          <a:noFill/>
          <a:ln/>
        </p:spPr>
        <p:txBody>
          <a:bodyPr wrap="square" lIns="0" tIns="0" rIns="0" bIns="0" rtlCol="0" anchor="ctr"/>
          <a:lstStyle/>
          <a:p>
            <a:pPr indent="0" marL="0">
              <a:buNone/>
            </a:pPr>
            <a:r>
              <a:rPr lang="en-US" sz="1100" b="1" spc="500" kern="0" dirty="0">
                <a:solidFill>
                  <a:srgbClr val="93C5FD"/>
                </a:solidFill>
                <a:latin typeface="Arial" pitchFamily="34" charset="0"/>
                <a:ea typeface="Arial" pitchFamily="34" charset="-122"/>
                <a:cs typeface="Arial" pitchFamily="34" charset="-120"/>
              </a:rPr>
              <a:t>PART 01</a:t>
            </a:r>
            <a:endParaRPr lang="en-US" sz="1100" dirty="0"/>
          </a:p>
        </p:txBody>
      </p:sp>
      <p:sp>
        <p:nvSpPr>
          <p:cNvPr id="5" name="Text 3"/>
          <p:cNvSpPr/>
          <p:nvPr/>
        </p:nvSpPr>
        <p:spPr>
          <a:xfrm>
            <a:off x="2743200" y="347472"/>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Arial" pitchFamily="34" charset="0"/>
                <a:ea typeface="Arial" pitchFamily="34" charset="-122"/>
                <a:cs typeface="Arial" pitchFamily="34" charset="-120"/>
              </a:rPr>
              <a:t>Ch. 1–6</a:t>
            </a:r>
            <a:endParaRPr lang="en-US" sz="1000" dirty="0"/>
          </a:p>
        </p:txBody>
      </p:sp>
      <p:sp>
        <p:nvSpPr>
          <p:cNvPr id="6" name="Text 4"/>
          <p:cNvSpPr/>
          <p:nvPr/>
        </p:nvSpPr>
        <p:spPr>
          <a:xfrm>
            <a:off x="411480" y="685800"/>
            <a:ext cx="6537960" cy="10972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Lessons from Top Tech Companies</a:t>
            </a:r>
            <a:endParaRPr lang="en-US" sz="3200" dirty="0"/>
          </a:p>
        </p:txBody>
      </p:sp>
      <p:sp>
        <p:nvSpPr>
          <p:cNvPr id="7" name="Text 5"/>
          <p:cNvSpPr/>
          <p:nvPr/>
        </p:nvSpPr>
        <p:spPr>
          <a:xfrm>
            <a:off x="411480" y="1764792"/>
            <a:ext cx="6537960" cy="548640"/>
          </a:xfrm>
          <a:prstGeom prst="rect">
            <a:avLst/>
          </a:prstGeom>
          <a:noFill/>
          <a:ln/>
        </p:spPr>
        <p:txBody>
          <a:bodyPr wrap="square" lIns="0" tIns="0" rIns="0" bIns="0" rtlCol="0" anchor="ctr"/>
          <a:lstStyle/>
          <a:p>
            <a:pPr indent="0" marL="0">
              <a:buNone/>
            </a:pPr>
            <a:r>
              <a:rPr lang="en-US" sz="1200" i="1" dirty="0">
                <a:solidFill>
                  <a:srgbClr val="93C5FD"/>
                </a:solidFill>
                <a:latin typeface="Arial" pitchFamily="34" charset="0"/>
                <a:ea typeface="Arial" pitchFamily="34" charset="-122"/>
                <a:cs typeface="Arial" pitchFamily="34" charset="-120"/>
              </a:rPr>
              <a:t>The gap between how most companies build products and how the best do it is enormous — and it's not about talent.</a:t>
            </a:r>
            <a:endParaRPr lang="en-US" sz="1200" dirty="0"/>
          </a:p>
        </p:txBody>
      </p:sp>
      <p:sp>
        <p:nvSpPr>
          <p:cNvPr id="8" name="Shape 6"/>
          <p:cNvSpPr/>
          <p:nvPr/>
        </p:nvSpPr>
        <p:spPr>
          <a:xfrm>
            <a:off x="411480" y="2423160"/>
            <a:ext cx="653796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9" name="Shape 7"/>
          <p:cNvSpPr/>
          <p:nvPr/>
        </p:nvSpPr>
        <p:spPr>
          <a:xfrm>
            <a:off x="411480" y="2423160"/>
            <a:ext cx="118872" cy="1371600"/>
          </a:xfrm>
          <a:prstGeom prst="rect">
            <a:avLst/>
          </a:prstGeom>
          <a:solidFill>
            <a:srgbClr val="93C5FD"/>
          </a:solidFill>
          <a:ln/>
        </p:spPr>
      </p:sp>
      <p:sp>
        <p:nvSpPr>
          <p:cNvPr id="10" name="Text 8"/>
          <p:cNvSpPr/>
          <p:nvPr/>
        </p:nvSpPr>
        <p:spPr>
          <a:xfrm>
            <a:off x="658368" y="2487168"/>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1" name="Text 9"/>
          <p:cNvSpPr/>
          <p:nvPr/>
        </p:nvSpPr>
        <p:spPr>
          <a:xfrm>
            <a:off x="658368" y="2761488"/>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best tech companies give teams problems to solve, not features to build. Most companies do the opposite — turning their product teams into feature factories — and that's the root cause of most mediocre products.</a:t>
            </a:r>
            <a:endParaRPr lang="en-US" sz="1150" dirty="0"/>
          </a:p>
        </p:txBody>
      </p:sp>
      <p:sp>
        <p:nvSpPr>
          <p:cNvPr id="12" name="Text 10"/>
          <p:cNvSpPr/>
          <p:nvPr/>
        </p:nvSpPr>
        <p:spPr>
          <a:xfrm>
            <a:off x="411480" y="3950208"/>
            <a:ext cx="2743200" cy="292608"/>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THEMES</a:t>
            </a:r>
            <a:endParaRPr lang="en-US" sz="800" dirty="0"/>
          </a:p>
        </p:txBody>
      </p:sp>
      <p:sp>
        <p:nvSpPr>
          <p:cNvPr id="13" name="Text 11"/>
          <p:cNvSpPr/>
          <p:nvPr/>
        </p:nvSpPr>
        <p:spPr>
          <a:xfrm>
            <a:off x="411480" y="4242816"/>
            <a:ext cx="6537960" cy="233172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Empowered teams solve problems; feature factories execute requests — this single difference defines most outcomes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Technology products are uniquely improvable post-launch — continuous delivery changes everything about how teams should think</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Company stage defines your challenge: Startups → find PMF; Growth → scale without breaking; Enterprise → fight organizational gravity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Root causes of failure are predictable: wrong people, wrong process, or no genuine product strategy</a:t>
            </a:r>
            <a:endParaRPr lang="en-US" sz="1100" dirty="0"/>
          </a:p>
        </p:txBody>
      </p:sp>
      <p:sp>
        <p:nvSpPr>
          <p:cNvPr id="14" name="Shape 12"/>
          <p:cNvSpPr/>
          <p:nvPr/>
        </p:nvSpPr>
        <p:spPr>
          <a:xfrm>
            <a:off x="0" y="6583680"/>
            <a:ext cx="7132320" cy="274320"/>
          </a:xfrm>
          <a:prstGeom prst="rect">
            <a:avLst/>
          </a:prstGeom>
          <a:solidFill>
            <a:srgbClr val="080E22"/>
          </a:solidFill>
          <a:ln/>
        </p:spPr>
      </p:sp>
      <p:sp>
        <p:nvSpPr>
          <p:cNvPr id="15" name="Text 13"/>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4A5274"/>
                </a:solidFill>
                <a:latin typeface="Arial" pitchFamily="34" charset="0"/>
                <a:ea typeface="Arial" pitchFamily="34" charset="-122"/>
                <a:cs typeface="Arial" pitchFamily="34" charset="-120"/>
              </a:rPr>
              <a:t>INSPIRED  ·  Part 1: Lessons from Top Tech Companies</a:t>
            </a:r>
            <a:endParaRPr lang="en-US" sz="800" dirty="0"/>
          </a:p>
        </p:txBody>
      </p:sp>
      <p:sp>
        <p:nvSpPr>
          <p:cNvPr id="16" name="Shape 14"/>
          <p:cNvSpPr/>
          <p:nvPr/>
        </p:nvSpPr>
        <p:spPr>
          <a:xfrm>
            <a:off x="7132320" y="0"/>
            <a:ext cx="5029200" cy="6858000"/>
          </a:xfrm>
          <a:prstGeom prst="rect">
            <a:avLst/>
          </a:prstGeom>
          <a:solidFill>
            <a:srgbClr val="0A1628"/>
          </a:solidFill>
          <a:ln/>
        </p:spPr>
      </p:sp>
      <p:sp>
        <p:nvSpPr>
          <p:cNvPr id="17" name="Shape 15"/>
          <p:cNvSpPr/>
          <p:nvPr/>
        </p:nvSpPr>
        <p:spPr>
          <a:xfrm>
            <a:off x="7132320" y="0"/>
            <a:ext cx="5029200" cy="182880"/>
          </a:xfrm>
          <a:prstGeom prst="rect">
            <a:avLst/>
          </a:prstGeom>
          <a:solidFill>
            <a:srgbClr val="2563EB"/>
          </a:solidFill>
          <a:ln/>
        </p:spPr>
      </p:sp>
      <p:sp>
        <p:nvSpPr>
          <p:cNvPr id="18" name="Text 16"/>
          <p:cNvSpPr/>
          <p:nvPr/>
        </p:nvSpPr>
        <p:spPr>
          <a:xfrm>
            <a:off x="7388352" y="292608"/>
            <a:ext cx="4663440" cy="347472"/>
          </a:xfrm>
          <a:prstGeom prst="rect">
            <a:avLst/>
          </a:prstGeom>
          <a:noFill/>
          <a:ln/>
        </p:spPr>
        <p:txBody>
          <a:bodyPr wrap="square" lIns="0" tIns="0" rIns="0" bIns="0" rtlCol="0" anchor="ctr"/>
          <a:lstStyle/>
          <a:p>
            <a:pPr indent="0" marL="0">
              <a:buNone/>
            </a:pPr>
            <a:r>
              <a:rPr lang="en-US" sz="800" b="1" spc="200" kern="0" dirty="0">
                <a:solidFill>
                  <a:srgbClr val="2563EB"/>
                </a:solidFill>
                <a:latin typeface="Arial" pitchFamily="34" charset="0"/>
                <a:ea typeface="Arial" pitchFamily="34" charset="-122"/>
                <a:cs typeface="Arial" pitchFamily="34" charset="-120"/>
              </a:rPr>
              <a:t>CHAPTERS IN THIS PART</a:t>
            </a:r>
            <a:endParaRPr lang="en-US" sz="800" dirty="0"/>
          </a:p>
        </p:txBody>
      </p:sp>
      <p:sp>
        <p:nvSpPr>
          <p:cNvPr id="19" name="Shape 17"/>
          <p:cNvSpPr/>
          <p:nvPr/>
        </p:nvSpPr>
        <p:spPr>
          <a:xfrm>
            <a:off x="7388352" y="749808"/>
            <a:ext cx="4590288" cy="493776"/>
          </a:xfrm>
          <a:prstGeom prst="rect">
            <a:avLst/>
          </a:prstGeom>
          <a:solidFill>
            <a:srgbClr val="0D1F3C"/>
          </a:solidFill>
          <a:ln/>
        </p:spPr>
      </p:sp>
      <p:sp>
        <p:nvSpPr>
          <p:cNvPr id="20" name="Text 18"/>
          <p:cNvSpPr/>
          <p:nvPr/>
        </p:nvSpPr>
        <p:spPr>
          <a:xfrm>
            <a:off x="7479792" y="79552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1  </a:t>
            </a:r>
            <a:pPr indent="0" marL="0">
              <a:buNone/>
            </a:pPr>
            <a:r>
              <a:rPr lang="en-US" sz="1050" b="1" dirty="0">
                <a:solidFill>
                  <a:srgbClr val="FFFFFF"/>
                </a:solidFill>
                <a:latin typeface="Arial" pitchFamily="34" charset="0"/>
                <a:ea typeface="Arial" pitchFamily="34" charset="-122"/>
                <a:cs typeface="Arial" pitchFamily="34" charset="-120"/>
              </a:rPr>
              <a:t>Behind Every Great Product</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PM as champion; Valuable + Usable + Feasible</a:t>
            </a:r>
            <a:endParaRPr lang="en-US" sz="1100" dirty="0"/>
          </a:p>
        </p:txBody>
      </p:sp>
      <p:sp>
        <p:nvSpPr>
          <p:cNvPr id="21" name="Shape 19"/>
          <p:cNvSpPr/>
          <p:nvPr/>
        </p:nvSpPr>
        <p:spPr>
          <a:xfrm>
            <a:off x="7388352" y="1316736"/>
            <a:ext cx="4590288" cy="493776"/>
          </a:xfrm>
          <a:prstGeom prst="rect">
            <a:avLst/>
          </a:prstGeom>
          <a:solidFill>
            <a:srgbClr val="0D1F3C"/>
          </a:solidFill>
          <a:ln/>
        </p:spPr>
      </p:sp>
      <p:sp>
        <p:nvSpPr>
          <p:cNvPr id="22" name="Text 20"/>
          <p:cNvSpPr/>
          <p:nvPr/>
        </p:nvSpPr>
        <p:spPr>
          <a:xfrm>
            <a:off x="7479792" y="1362456"/>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  </a:t>
            </a:r>
            <a:pPr indent="0" marL="0">
              <a:buNone/>
            </a:pPr>
            <a:r>
              <a:rPr lang="en-US" sz="1050" b="1" dirty="0">
                <a:solidFill>
                  <a:srgbClr val="FFFFFF"/>
                </a:solidFill>
                <a:latin typeface="Arial" pitchFamily="34" charset="0"/>
                <a:ea typeface="Arial" pitchFamily="34" charset="-122"/>
                <a:cs typeface="Arial" pitchFamily="34" charset="-120"/>
              </a:rPr>
              <a:t>Technology-Powered Products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Why software's continuous improvability changes everything</a:t>
            </a:r>
            <a:endParaRPr lang="en-US" sz="1100" dirty="0"/>
          </a:p>
        </p:txBody>
      </p:sp>
      <p:sp>
        <p:nvSpPr>
          <p:cNvPr id="23" name="Shape 21"/>
          <p:cNvSpPr/>
          <p:nvPr/>
        </p:nvSpPr>
        <p:spPr>
          <a:xfrm>
            <a:off x="7388352" y="1883664"/>
            <a:ext cx="4590288" cy="493776"/>
          </a:xfrm>
          <a:prstGeom prst="rect">
            <a:avLst/>
          </a:prstGeom>
          <a:solidFill>
            <a:srgbClr val="0D1F3C"/>
          </a:solidFill>
          <a:ln/>
        </p:spPr>
      </p:sp>
      <p:sp>
        <p:nvSpPr>
          <p:cNvPr id="24" name="Text 22"/>
          <p:cNvSpPr/>
          <p:nvPr/>
        </p:nvSpPr>
        <p:spPr>
          <a:xfrm>
            <a:off x="7479792" y="1929384"/>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3  </a:t>
            </a:r>
            <a:pPr indent="0" marL="0">
              <a:buNone/>
            </a:pPr>
            <a:r>
              <a:rPr lang="en-US" sz="1050" b="1" dirty="0">
                <a:solidFill>
                  <a:srgbClr val="FFFFFF"/>
                </a:solidFill>
                <a:latin typeface="Arial" pitchFamily="34" charset="0"/>
                <a:ea typeface="Arial" pitchFamily="34" charset="-122"/>
                <a:cs typeface="Arial" pitchFamily="34" charset="-120"/>
              </a:rPr>
              <a:t>Startups: Getting to PMF</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Find product/market fit before money runs out</a:t>
            </a:r>
            <a:endParaRPr lang="en-US" sz="1100" dirty="0"/>
          </a:p>
        </p:txBody>
      </p:sp>
      <p:sp>
        <p:nvSpPr>
          <p:cNvPr id="25" name="Shape 23"/>
          <p:cNvSpPr/>
          <p:nvPr/>
        </p:nvSpPr>
        <p:spPr>
          <a:xfrm>
            <a:off x="7388352" y="2450592"/>
            <a:ext cx="4590288" cy="493776"/>
          </a:xfrm>
          <a:prstGeom prst="rect">
            <a:avLst/>
          </a:prstGeom>
          <a:solidFill>
            <a:srgbClr val="0D1F3C"/>
          </a:solidFill>
          <a:ln/>
        </p:spPr>
      </p:sp>
      <p:sp>
        <p:nvSpPr>
          <p:cNvPr id="26" name="Text 24"/>
          <p:cNvSpPr/>
          <p:nvPr/>
        </p:nvSpPr>
        <p:spPr>
          <a:xfrm>
            <a:off x="7479792" y="2496312"/>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4  </a:t>
            </a:r>
            <a:pPr indent="0" marL="0">
              <a:buNone/>
            </a:pPr>
            <a:r>
              <a:rPr lang="en-US" sz="1050" b="1" dirty="0">
                <a:solidFill>
                  <a:srgbClr val="FFFFFF"/>
                </a:solidFill>
                <a:latin typeface="Arial" pitchFamily="34" charset="0"/>
                <a:ea typeface="Arial" pitchFamily="34" charset="-122"/>
                <a:cs typeface="Arial" pitchFamily="34" charset="-120"/>
              </a:rPr>
              <a:t>Growth-Stage Companies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Scale without losing what made you successful</a:t>
            </a:r>
            <a:endParaRPr lang="en-US" sz="1100" dirty="0"/>
          </a:p>
        </p:txBody>
      </p:sp>
      <p:sp>
        <p:nvSpPr>
          <p:cNvPr id="27" name="Shape 25"/>
          <p:cNvSpPr/>
          <p:nvPr/>
        </p:nvSpPr>
        <p:spPr>
          <a:xfrm>
            <a:off x="7388352" y="3017520"/>
            <a:ext cx="4590288" cy="493776"/>
          </a:xfrm>
          <a:prstGeom prst="rect">
            <a:avLst/>
          </a:prstGeom>
          <a:solidFill>
            <a:srgbClr val="0D1F3C"/>
          </a:solidFill>
          <a:ln/>
        </p:spPr>
      </p:sp>
      <p:sp>
        <p:nvSpPr>
          <p:cNvPr id="28" name="Text 26"/>
          <p:cNvSpPr/>
          <p:nvPr/>
        </p:nvSpPr>
        <p:spPr>
          <a:xfrm>
            <a:off x="7479792" y="3063240"/>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5  </a:t>
            </a:r>
            <a:pPr indent="0" marL="0">
              <a:buNone/>
            </a:pPr>
            <a:r>
              <a:rPr lang="en-US" sz="1050" b="1" dirty="0">
                <a:solidFill>
                  <a:srgbClr val="FFFFFF"/>
                </a:solidFill>
                <a:latin typeface="Arial" pitchFamily="34" charset="0"/>
                <a:ea typeface="Arial" pitchFamily="34" charset="-122"/>
                <a:cs typeface="Arial" pitchFamily="34" charset="-120"/>
              </a:rPr>
              <a:t>Enterprise Companies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Sustain innovation against organizational gravity</a:t>
            </a:r>
            <a:endParaRPr lang="en-US" sz="1100" dirty="0"/>
          </a:p>
        </p:txBody>
      </p:sp>
      <p:sp>
        <p:nvSpPr>
          <p:cNvPr id="29" name="Shape 27"/>
          <p:cNvSpPr/>
          <p:nvPr/>
        </p:nvSpPr>
        <p:spPr>
          <a:xfrm>
            <a:off x="7388352" y="3584448"/>
            <a:ext cx="4590288" cy="493776"/>
          </a:xfrm>
          <a:prstGeom prst="rect">
            <a:avLst/>
          </a:prstGeom>
          <a:solidFill>
            <a:srgbClr val="0D1F3C"/>
          </a:solidFill>
          <a:ln/>
        </p:spPr>
      </p:sp>
      <p:sp>
        <p:nvSpPr>
          <p:cNvPr id="30" name="Text 28"/>
          <p:cNvSpPr/>
          <p:nvPr/>
        </p:nvSpPr>
        <p:spPr>
          <a:xfrm>
            <a:off x="7479792" y="363016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6  </a:t>
            </a:r>
            <a:pPr indent="0" marL="0">
              <a:buNone/>
            </a:pPr>
            <a:r>
              <a:rPr lang="en-US" sz="1050" b="1" dirty="0">
                <a:solidFill>
                  <a:srgbClr val="FFFFFF"/>
                </a:solidFill>
                <a:latin typeface="Arial" pitchFamily="34" charset="0"/>
                <a:ea typeface="Arial" pitchFamily="34" charset="-122"/>
                <a:cs typeface="Arial" pitchFamily="34" charset="-120"/>
              </a:rPr>
              <a:t>Root Causes of Failure</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People + Process + Strategy failures = feature factory</a:t>
            </a:r>
            <a:endParaRPr lang="en-US" sz="1100" dirty="0"/>
          </a:p>
        </p:txBody>
      </p:sp>
      <p:sp>
        <p:nvSpPr>
          <p:cNvPr id="31" name="Shape 29"/>
          <p:cNvSpPr/>
          <p:nvPr/>
        </p:nvSpPr>
        <p:spPr>
          <a:xfrm>
            <a:off x="7388352" y="4206240"/>
            <a:ext cx="4590288" cy="36576"/>
          </a:xfrm>
          <a:prstGeom prst="rect">
            <a:avLst/>
          </a:prstGeom>
          <a:solidFill>
            <a:srgbClr val="2A3460"/>
          </a:solidFill>
          <a:ln/>
        </p:spPr>
      </p:sp>
      <p:sp>
        <p:nvSpPr>
          <p:cNvPr id="32" name="Text 30"/>
          <p:cNvSpPr/>
          <p:nvPr/>
        </p:nvSpPr>
        <p:spPr>
          <a:xfrm>
            <a:off x="7388352" y="4315968"/>
            <a:ext cx="4663440" cy="320040"/>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33" name="Shape 31"/>
          <p:cNvSpPr/>
          <p:nvPr/>
        </p:nvSpPr>
        <p:spPr>
          <a:xfrm>
            <a:off x="7388352" y="4681728"/>
            <a:ext cx="4590288" cy="566928"/>
          </a:xfrm>
          <a:prstGeom prst="rect">
            <a:avLst/>
          </a:prstGeom>
          <a:solidFill>
            <a:srgbClr val="0D1F3C"/>
          </a:solidFill>
          <a:ln/>
        </p:spPr>
      </p:sp>
      <p:sp>
        <p:nvSpPr>
          <p:cNvPr id="34" name="Shape 32"/>
          <p:cNvSpPr/>
          <p:nvPr/>
        </p:nvSpPr>
        <p:spPr>
          <a:xfrm>
            <a:off x="7388352" y="4681728"/>
            <a:ext cx="73152" cy="566928"/>
          </a:xfrm>
          <a:prstGeom prst="rect">
            <a:avLst/>
          </a:prstGeom>
          <a:solidFill>
            <a:srgbClr val="2563EB"/>
          </a:solidFill>
          <a:ln/>
        </p:spPr>
      </p:sp>
      <p:sp>
        <p:nvSpPr>
          <p:cNvPr id="35" name="Text 33"/>
          <p:cNvSpPr/>
          <p:nvPr/>
        </p:nvSpPr>
        <p:spPr>
          <a:xfrm>
            <a:off x="7534656" y="4754880"/>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Q1  Does your team operate more like a feature factory or an empowered product team? What's your honest evidence?</a:t>
            </a:r>
            <a:endParaRPr lang="en-US" sz="1000" dirty="0"/>
          </a:p>
        </p:txBody>
      </p:sp>
      <p:sp>
        <p:nvSpPr>
          <p:cNvPr id="36" name="Shape 34"/>
          <p:cNvSpPr/>
          <p:nvPr/>
        </p:nvSpPr>
        <p:spPr>
          <a:xfrm>
            <a:off x="7388352" y="5340096"/>
            <a:ext cx="4590288" cy="566928"/>
          </a:xfrm>
          <a:prstGeom prst="rect">
            <a:avLst/>
          </a:prstGeom>
          <a:solidFill>
            <a:srgbClr val="0D1F3C"/>
          </a:solidFill>
          <a:ln/>
        </p:spPr>
      </p:sp>
      <p:sp>
        <p:nvSpPr>
          <p:cNvPr id="37" name="Shape 35"/>
          <p:cNvSpPr/>
          <p:nvPr/>
        </p:nvSpPr>
        <p:spPr>
          <a:xfrm>
            <a:off x="7388352" y="5340096"/>
            <a:ext cx="73152" cy="566928"/>
          </a:xfrm>
          <a:prstGeom prst="rect">
            <a:avLst/>
          </a:prstGeom>
          <a:solidFill>
            <a:srgbClr val="93C5FD"/>
          </a:solidFill>
          <a:ln/>
        </p:spPr>
      </p:sp>
      <p:sp>
        <p:nvSpPr>
          <p:cNvPr id="38" name="Text 36"/>
          <p:cNvSpPr/>
          <p:nvPr/>
        </p:nvSpPr>
        <p:spPr>
          <a:xfrm>
            <a:off x="7534656" y="5413248"/>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Q2  Which company stage best describes where you are — and what unique challenges come with it?</a:t>
            </a:r>
            <a:endParaRPr lang="en-US" sz="1000" dirty="0"/>
          </a:p>
        </p:txBody>
      </p:sp>
      <p:sp>
        <p:nvSpPr>
          <p:cNvPr id="39" name="Shape 37"/>
          <p:cNvSpPr/>
          <p:nvPr/>
        </p:nvSpPr>
        <p:spPr>
          <a:xfrm>
            <a:off x="7388352" y="6172200"/>
            <a:ext cx="4590288" cy="548640"/>
          </a:xfrm>
          <a:prstGeom prst="rect">
            <a:avLst/>
          </a:prstGeom>
          <a:solidFill>
            <a:srgbClr val="2563EB">
              <a:alpha val="80000"/>
            </a:srgbClr>
          </a:solidFill>
          <a:ln/>
        </p:spPr>
      </p:sp>
      <p:sp>
        <p:nvSpPr>
          <p:cNvPr id="40" name="Text 38"/>
          <p:cNvSpPr/>
          <p:nvPr/>
        </p:nvSpPr>
        <p:spPr>
          <a:xfrm>
            <a:off x="7516368" y="6199632"/>
            <a:ext cx="4434840" cy="201168"/>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Core Transformation</a:t>
            </a:r>
            <a:endParaRPr lang="en-US" sz="700" dirty="0"/>
          </a:p>
        </p:txBody>
      </p:sp>
      <p:sp>
        <p:nvSpPr>
          <p:cNvPr id="41" name="Text 39"/>
          <p:cNvSpPr/>
          <p:nvPr/>
        </p:nvSpPr>
        <p:spPr>
          <a:xfrm>
            <a:off x="7516368" y="6373368"/>
            <a:ext cx="44348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Feature Factory → Empowered Team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1  ›  CH. 01</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Behind Every Great Product</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PM's core mission: the person who makes great products happen</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Great products don't happen by accident — they need a champion who relentlessly drives the team to solve real customer problems at the intersection of technology, design, and business viability.</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Every great product has a person working behind the scenes — usually a PM — who owns making it happen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PM's job: discover a product that is Valuable (customers want it), Usable (they can figure it out), and Feasible (engineers can build it)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Most companies fail at product not due to lack of talent, but because of broken processes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bar is not 'good enough' — the goal is to build products customers LOVE</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1  ›  Chapter 1: Behind Every Great Product</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is the 'product champion' in your team right now? Is that role clearly owned?</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Think of a product you personally love — what did that team get right?</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 we build things customers love, or things they merely tolerate? How do we know?</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Where do we struggle most: making something Valuable, Usable, or Feasible?</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PM's Core Trinity</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Valuable · Usable · Feasible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1  ›  CH. 02</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Technology-Powered Products and Services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Software is fundamentally different — and that changes how you build it</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Unlike physical products, technology-powered products can be continuously improved after they reach customers. Teams that embrace this reality — and build discovery into how they work — unlock a compounding advantage unavailable to everyone else.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Software can be continuously updated after launch — a structural advantage that most teams underutilize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Traditional plan → build → ship is mismatched to how software actually works best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combination of technology + design creates leverage: one product can serve millions at near-zero marginal cost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Effective product teams build discovery into their ongoing process — not as a phase, but as a habit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1  ›  Chapter 2: Technology-Powered Products and Services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well does your team currently leverage the ability to ship, learn, and iterate continuously?</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Where does your development process still look more like waterfall than continuous discovery?</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look like to truly embrace 'release and learn' rather than 'plan and ship'?</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there areas where you're building more than you need to learn what you need to know?</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Software Advantage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Build → Learn → Improve → Repeat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1  ›  CH. 03</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Startups: Getting to Product/Market Fit</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existential challenge: find what customers love before the money runs out</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For startups, one thing matters above all else: achieving product/market fit before running out of runway. Everything else — process, team structure, scale — is secondary until you've found a product that a real market genuinely wants.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Product/market fit is the startup's north star — everything else is secondary until you've found it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Speed-to-learning matters more than speed-to-shipping — building the wrong thing faster is not an advantage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Startups must be willing to radically pivot when evidence demands it — premature scaling before PMF is a killer</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At this stage, everyone on the team should be closely connected to customer discovery</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1  ›  Chapter 3: Startups: Getting to Product/Market Fit</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definitively found product/market fit? What's your evidence — beyond gut feel?</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you optimizing for speed-to-learning or speed-to-shipping? What's the practical difference for you?</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customer assumptions have you tested recently — and what did you find?</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If you had to describe your current product/market fit in one sentence, what would you say?</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Startup Imperative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Find PMF before the money runs out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1  ›  CH. 04</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Growth-Stage Companies: Scaling to Success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Scaling is where many successful startups stumble — what got you here won't get you there</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Once a company has found product/market fit, a new and often fatal challenge emerges: how to scale the team, process, and culture without losing the speed and innovation that drove success. The informal processes that worked at 10 people break down at 100.</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informal coordination that worked at startup stage becomes a liability as the team scales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Scaling too fast before establishing effective product practices leads to loss of quality and velocity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key challenge: distribute product decision-making while maintaining alignment on strategy and outcomes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Growth-stage companies must actively resist becoming feature factories even as stakeholder demands multiply</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1  ›  Chapter 4: Growth-Stage Companies: Scaling to Success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organization scaled past the point where informal coordination still works effectively?</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processes have you added that genuinely help — vs. those that slow you down?</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 you maintain alignment on product strategy as more people join the team?</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Where do you feel the most organizational pressure to sacrifice product quality for speed?</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Growth Paradox</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Scale the team. Protect the culture.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1  ›  CH. 05</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Enterprise Companies: Consistent Product Innovation</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hardest challenge: sustaining innovation inside an organization optimized for efficiency</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Large enterprises naturally evolve toward treating product teams as IT departments — taking requirements and delivering on schedule. This isn't malicious; it's a natural response to the need for predictability at scale. But it systematically destroys the ability to innovate.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Enterprises naturally evolve toward the IT model — stakeholders request, teams deliver. Innovation is the casualty.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Organizational pressure for predictability directly conflicts with the uncertainty inherent in genuine product discovery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Innovation labs and skunkworks rarely work — real innovation must happen within the core product teams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Enterprise product leaders must actively fight organizational gravity to preserve conditions for discovery</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1  ›  Chapter 5: Enterprise Companies: Consistent Product Innovation</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organization treat product teams as empowered problem-solvers or as IT execution teams?</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Where do you feel the most pressure to sacrifice discovery for predictability?</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company tried innovation labs or skunkworks? What happened?</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look like to protect your team's ability to genuinely innovate?</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Enterprise Challenge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Fight organizational gravity — actively</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1  ›  CH. 06</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Root Causes of Failed Product Efforts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Failure isn't random — the same predictable mistakes appear again and again</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Product failure is almost never due to bad luck or a lack of talent. The same root causes appear repeatedly: the wrong people in key roles, the wrong process for discovery, and the absence of genuine product strategy. Diagnosing your specific failure mode is the first step to fixing it.</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same root causes of failure appear across companies: wrong people, wrong process, no real product strategy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PMs who act as project managers — taking requirements and managing delivery — are a leading cause of poor outcomes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'feature factory' is the most common failure pattern: teams measure themselves by features shipped, not problems solved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Most of these failures are fixable — but require honest acknowledgment that the current approach isn't working</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1  ›  Chapter 6: The Root Causes of Failed Product Efforts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Which root cause (people, process, or strategy) is most present in your organization right now?</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your PMs acting as true product managers or glorified project managers? What's the honest answer?</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team have a clear, shared product strategy — or are you reacting to whoever is loudest?</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take to honestly diagnose and start fixing your team's primary root cause?</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Failure Formula</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Wrong people + Wrong process + No strategy = Mediocrity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230"/>
        </a:solidFill>
      </p:bgPr>
    </p:bg>
    <p:spTree>
      <p:nvGrpSpPr>
        <p:cNvPr id="1" name=""/>
        <p:cNvGrpSpPr/>
        <p:nvPr/>
      </p:nvGrpSpPr>
      <p:grpSpPr>
        <a:xfrm>
          <a:off x="0" y="0"/>
          <a:ext cx="0" cy="0"/>
          <a:chOff x="0" y="0"/>
          <a:chExt cx="0" cy="0"/>
        </a:xfrm>
      </p:grpSpPr>
      <p:sp>
        <p:nvSpPr>
          <p:cNvPr id="2" name="Shape 0"/>
          <p:cNvSpPr/>
          <p:nvPr/>
        </p:nvSpPr>
        <p:spPr>
          <a:xfrm>
            <a:off x="0" y="0"/>
            <a:ext cx="7132320" cy="182880"/>
          </a:xfrm>
          <a:prstGeom prst="rect">
            <a:avLst/>
          </a:prstGeom>
          <a:solidFill>
            <a:srgbClr val="93C5FD"/>
          </a:solidFill>
          <a:ln/>
        </p:spPr>
      </p:sp>
      <p:sp>
        <p:nvSpPr>
          <p:cNvPr id="3" name="Text 1"/>
          <p:cNvSpPr/>
          <p:nvPr/>
        </p:nvSpPr>
        <p:spPr>
          <a:xfrm>
            <a:off x="-457200" y="91440"/>
            <a:ext cx="3657600" cy="3200400"/>
          </a:xfrm>
          <a:prstGeom prst="rect">
            <a:avLst/>
          </a:prstGeom>
          <a:noFill/>
          <a:ln/>
        </p:spPr>
        <p:txBody>
          <a:bodyPr wrap="square" lIns="0" tIns="0" rIns="0" bIns="0" rtlCol="0" anchor="ctr"/>
          <a:lstStyle/>
          <a:p>
            <a:pPr algn="l" indent="0" marL="0">
              <a:buNone/>
            </a:pPr>
            <a:r>
              <a:rPr lang="en-US" sz="20000" b="1" dirty="0">
                <a:solidFill>
                  <a:srgbClr val="0F172A"/>
                </a:solidFill>
                <a:latin typeface="Arial Black" pitchFamily="34" charset="0"/>
                <a:ea typeface="Arial Black" pitchFamily="34" charset="-122"/>
                <a:cs typeface="Arial Black" pitchFamily="34" charset="-120"/>
              </a:rPr>
              <a:t>02</a:t>
            </a:r>
            <a:endParaRPr lang="en-US" sz="20000" dirty="0"/>
          </a:p>
        </p:txBody>
      </p:sp>
      <p:sp>
        <p:nvSpPr>
          <p:cNvPr id="4" name="Text 2"/>
          <p:cNvSpPr/>
          <p:nvPr/>
        </p:nvSpPr>
        <p:spPr>
          <a:xfrm>
            <a:off x="411480" y="292608"/>
            <a:ext cx="3657600" cy="411480"/>
          </a:xfrm>
          <a:prstGeom prst="rect">
            <a:avLst/>
          </a:prstGeom>
          <a:noFill/>
          <a:ln/>
        </p:spPr>
        <p:txBody>
          <a:bodyPr wrap="square" lIns="0" tIns="0" rIns="0" bIns="0" rtlCol="0" anchor="ctr"/>
          <a:lstStyle/>
          <a:p>
            <a:pPr indent="0" marL="0">
              <a:buNone/>
            </a:pPr>
            <a:r>
              <a:rPr lang="en-US" sz="1100" b="1" spc="500" kern="0" dirty="0">
                <a:solidFill>
                  <a:srgbClr val="93C5FD"/>
                </a:solidFill>
                <a:latin typeface="Arial" pitchFamily="34" charset="0"/>
                <a:ea typeface="Arial" pitchFamily="34" charset="-122"/>
                <a:cs typeface="Arial" pitchFamily="34" charset="-120"/>
              </a:rPr>
              <a:t>PART 02</a:t>
            </a:r>
            <a:endParaRPr lang="en-US" sz="1100" dirty="0"/>
          </a:p>
        </p:txBody>
      </p:sp>
      <p:sp>
        <p:nvSpPr>
          <p:cNvPr id="5" name="Text 3"/>
          <p:cNvSpPr/>
          <p:nvPr/>
        </p:nvSpPr>
        <p:spPr>
          <a:xfrm>
            <a:off x="2743200" y="347472"/>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Arial" pitchFamily="34" charset="0"/>
                <a:ea typeface="Arial" pitchFamily="34" charset="-122"/>
                <a:cs typeface="Arial" pitchFamily="34" charset="-120"/>
              </a:rPr>
              <a:t>Ch. 7–20</a:t>
            </a:r>
            <a:endParaRPr lang="en-US" sz="1000" dirty="0"/>
          </a:p>
        </p:txBody>
      </p:sp>
      <p:sp>
        <p:nvSpPr>
          <p:cNvPr id="6" name="Text 4"/>
          <p:cNvSpPr/>
          <p:nvPr/>
        </p:nvSpPr>
        <p:spPr>
          <a:xfrm>
            <a:off x="411480" y="685800"/>
            <a:ext cx="6537960" cy="10972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The Right People</a:t>
            </a:r>
            <a:endParaRPr lang="en-US" sz="3200" dirty="0"/>
          </a:p>
        </p:txBody>
      </p:sp>
      <p:sp>
        <p:nvSpPr>
          <p:cNvPr id="7" name="Text 5"/>
          <p:cNvSpPr/>
          <p:nvPr/>
        </p:nvSpPr>
        <p:spPr>
          <a:xfrm>
            <a:off x="411480" y="1764792"/>
            <a:ext cx="6537960" cy="548640"/>
          </a:xfrm>
          <a:prstGeom prst="rect">
            <a:avLst/>
          </a:prstGeom>
          <a:noFill/>
          <a:ln/>
        </p:spPr>
        <p:txBody>
          <a:bodyPr wrap="square" lIns="0" tIns="0" rIns="0" bIns="0" rtlCol="0" anchor="ctr"/>
          <a:lstStyle/>
          <a:p>
            <a:pPr indent="0" marL="0">
              <a:buNone/>
            </a:pPr>
            <a:r>
              <a:rPr lang="en-US" sz="1200" i="1" dirty="0">
                <a:solidFill>
                  <a:srgbClr val="93C5FD"/>
                </a:solidFill>
                <a:latin typeface="Arial" pitchFamily="34" charset="0"/>
                <a:ea typeface="Arial" pitchFamily="34" charset="-122"/>
                <a:cs typeface="Arial" pitchFamily="34" charset="-120"/>
              </a:rPr>
              <a:t>Great products don't come from great processes — they come from the right people in the right roles with the right empowerment.</a:t>
            </a:r>
            <a:endParaRPr lang="en-US" sz="1200" dirty="0"/>
          </a:p>
        </p:txBody>
      </p:sp>
      <p:sp>
        <p:nvSpPr>
          <p:cNvPr id="8" name="Shape 6"/>
          <p:cNvSpPr/>
          <p:nvPr/>
        </p:nvSpPr>
        <p:spPr>
          <a:xfrm>
            <a:off x="411480" y="2423160"/>
            <a:ext cx="653796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9" name="Shape 7"/>
          <p:cNvSpPr/>
          <p:nvPr/>
        </p:nvSpPr>
        <p:spPr>
          <a:xfrm>
            <a:off x="411480" y="2423160"/>
            <a:ext cx="118872" cy="1371600"/>
          </a:xfrm>
          <a:prstGeom prst="rect">
            <a:avLst/>
          </a:prstGeom>
          <a:solidFill>
            <a:srgbClr val="93C5FD"/>
          </a:solidFill>
          <a:ln/>
        </p:spPr>
      </p:sp>
      <p:sp>
        <p:nvSpPr>
          <p:cNvPr id="10" name="Text 8"/>
          <p:cNvSpPr/>
          <p:nvPr/>
        </p:nvSpPr>
        <p:spPr>
          <a:xfrm>
            <a:off x="658368" y="2487168"/>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1" name="Text 9"/>
          <p:cNvSpPr/>
          <p:nvPr/>
        </p:nvSpPr>
        <p:spPr>
          <a:xfrm>
            <a:off x="658368" y="2761488"/>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Building great products starts with putting the right people in place: a product manager who owns value and viability, a designer who thinks in experiences not screens, and engineers who are partners in discovery — not just delivery. The team structure around these people either amplifies or kills their potential.</a:t>
            </a:r>
            <a:endParaRPr lang="en-US" sz="1150" dirty="0"/>
          </a:p>
        </p:txBody>
      </p:sp>
      <p:sp>
        <p:nvSpPr>
          <p:cNvPr id="12" name="Text 10"/>
          <p:cNvSpPr/>
          <p:nvPr/>
        </p:nvSpPr>
        <p:spPr>
          <a:xfrm>
            <a:off x="411480" y="3950208"/>
            <a:ext cx="2743200" cy="292608"/>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THEMES</a:t>
            </a:r>
            <a:endParaRPr lang="en-US" sz="800" dirty="0"/>
          </a:p>
        </p:txBody>
      </p:sp>
      <p:sp>
        <p:nvSpPr>
          <p:cNvPr id="13" name="Text 11"/>
          <p:cNvSpPr/>
          <p:nvPr/>
        </p:nvSpPr>
        <p:spPr>
          <a:xfrm>
            <a:off x="411480" y="4242816"/>
            <a:ext cx="6537960" cy="233172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PM is accountable for value and viability — not just for shipping on time. Deep knowledge of customers, data, business, and domain is required.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product designer is a product thinker, not just a visual craftsperson — user research and customer empathy are core to the role.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Engineers must be partners in discovery, not just delivery. Bringing them in early produces better solutions and real ownership.</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Team structure is a strategic decision: minimize dependencies, maximize autonomy, organize around customer missions not technical layers.</a:t>
            </a:r>
            <a:endParaRPr lang="en-US" sz="1100" dirty="0"/>
          </a:p>
        </p:txBody>
      </p:sp>
      <p:sp>
        <p:nvSpPr>
          <p:cNvPr id="14" name="Shape 12"/>
          <p:cNvSpPr/>
          <p:nvPr/>
        </p:nvSpPr>
        <p:spPr>
          <a:xfrm>
            <a:off x="0" y="6583680"/>
            <a:ext cx="7132320" cy="274320"/>
          </a:xfrm>
          <a:prstGeom prst="rect">
            <a:avLst/>
          </a:prstGeom>
          <a:solidFill>
            <a:srgbClr val="080E22"/>
          </a:solidFill>
          <a:ln/>
        </p:spPr>
      </p:sp>
      <p:sp>
        <p:nvSpPr>
          <p:cNvPr id="15" name="Text 13"/>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4A5274"/>
                </a:solidFill>
                <a:latin typeface="Arial" pitchFamily="34" charset="0"/>
                <a:ea typeface="Arial" pitchFamily="34" charset="-122"/>
                <a:cs typeface="Arial" pitchFamily="34" charset="-120"/>
              </a:rPr>
              <a:t>INSPIRED  ·  Part 2: The Right People</a:t>
            </a:r>
            <a:endParaRPr lang="en-US" sz="800" dirty="0"/>
          </a:p>
        </p:txBody>
      </p:sp>
      <p:sp>
        <p:nvSpPr>
          <p:cNvPr id="16" name="Shape 14"/>
          <p:cNvSpPr/>
          <p:nvPr/>
        </p:nvSpPr>
        <p:spPr>
          <a:xfrm>
            <a:off x="7132320" y="0"/>
            <a:ext cx="5029200" cy="6858000"/>
          </a:xfrm>
          <a:prstGeom prst="rect">
            <a:avLst/>
          </a:prstGeom>
          <a:solidFill>
            <a:srgbClr val="0A1628"/>
          </a:solidFill>
          <a:ln/>
        </p:spPr>
      </p:sp>
      <p:sp>
        <p:nvSpPr>
          <p:cNvPr id="17" name="Shape 15"/>
          <p:cNvSpPr/>
          <p:nvPr/>
        </p:nvSpPr>
        <p:spPr>
          <a:xfrm>
            <a:off x="7132320" y="0"/>
            <a:ext cx="5029200" cy="182880"/>
          </a:xfrm>
          <a:prstGeom prst="rect">
            <a:avLst/>
          </a:prstGeom>
          <a:solidFill>
            <a:srgbClr val="2563EB"/>
          </a:solidFill>
          <a:ln/>
        </p:spPr>
      </p:sp>
      <p:sp>
        <p:nvSpPr>
          <p:cNvPr id="18" name="Text 16"/>
          <p:cNvSpPr/>
          <p:nvPr/>
        </p:nvSpPr>
        <p:spPr>
          <a:xfrm>
            <a:off x="7388352" y="292608"/>
            <a:ext cx="4663440" cy="347472"/>
          </a:xfrm>
          <a:prstGeom prst="rect">
            <a:avLst/>
          </a:prstGeom>
          <a:noFill/>
          <a:ln/>
        </p:spPr>
        <p:txBody>
          <a:bodyPr wrap="square" lIns="0" tIns="0" rIns="0" bIns="0" rtlCol="0" anchor="ctr"/>
          <a:lstStyle/>
          <a:p>
            <a:pPr indent="0" marL="0">
              <a:buNone/>
            </a:pPr>
            <a:r>
              <a:rPr lang="en-US" sz="800" b="1" spc="200" kern="0" dirty="0">
                <a:solidFill>
                  <a:srgbClr val="2563EB"/>
                </a:solidFill>
                <a:latin typeface="Arial" pitchFamily="34" charset="0"/>
                <a:ea typeface="Arial" pitchFamily="34" charset="-122"/>
                <a:cs typeface="Arial" pitchFamily="34" charset="-120"/>
              </a:rPr>
              <a:t>CHAPTERS IN THIS PART</a:t>
            </a:r>
            <a:endParaRPr lang="en-US" sz="800" dirty="0"/>
          </a:p>
        </p:txBody>
      </p:sp>
      <p:sp>
        <p:nvSpPr>
          <p:cNvPr id="19" name="Shape 17"/>
          <p:cNvSpPr/>
          <p:nvPr/>
        </p:nvSpPr>
        <p:spPr>
          <a:xfrm>
            <a:off x="7388352" y="749808"/>
            <a:ext cx="4590288" cy="493776"/>
          </a:xfrm>
          <a:prstGeom prst="rect">
            <a:avLst/>
          </a:prstGeom>
          <a:solidFill>
            <a:srgbClr val="0D1F3C"/>
          </a:solidFill>
          <a:ln/>
        </p:spPr>
      </p:sp>
      <p:sp>
        <p:nvSpPr>
          <p:cNvPr id="20" name="Text 18"/>
          <p:cNvSpPr/>
          <p:nvPr/>
        </p:nvSpPr>
        <p:spPr>
          <a:xfrm>
            <a:off x="7479792" y="79552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7  </a:t>
            </a:r>
            <a:pPr indent="0" marL="0">
              <a:buNone/>
            </a:pPr>
            <a:r>
              <a:rPr lang="en-US" sz="1050" b="1" dirty="0">
                <a:solidFill>
                  <a:srgbClr val="FFFFFF"/>
                </a:solidFill>
                <a:latin typeface="Arial" pitchFamily="34" charset="0"/>
                <a:ea typeface="Arial" pitchFamily="34" charset="-122"/>
                <a:cs typeface="Arial" pitchFamily="34" charset="-120"/>
              </a:rPr>
              <a:t>The Product Manager</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The role, four knowledge areas, and the four product risks</a:t>
            </a:r>
            <a:endParaRPr lang="en-US" sz="1100" dirty="0"/>
          </a:p>
        </p:txBody>
      </p:sp>
      <p:sp>
        <p:nvSpPr>
          <p:cNvPr id="21" name="Shape 19"/>
          <p:cNvSpPr/>
          <p:nvPr/>
        </p:nvSpPr>
        <p:spPr>
          <a:xfrm>
            <a:off x="7388352" y="1316736"/>
            <a:ext cx="4590288" cy="493776"/>
          </a:xfrm>
          <a:prstGeom prst="rect">
            <a:avLst/>
          </a:prstGeom>
          <a:solidFill>
            <a:srgbClr val="0D1F3C"/>
          </a:solidFill>
          <a:ln/>
        </p:spPr>
      </p:sp>
      <p:sp>
        <p:nvSpPr>
          <p:cNvPr id="22" name="Text 20"/>
          <p:cNvSpPr/>
          <p:nvPr/>
        </p:nvSpPr>
        <p:spPr>
          <a:xfrm>
            <a:off x="7479792" y="1362456"/>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8  </a:t>
            </a:r>
            <a:pPr indent="0" marL="0">
              <a:buNone/>
            </a:pPr>
            <a:r>
              <a:rPr lang="en-US" sz="1050" b="1" dirty="0">
                <a:solidFill>
                  <a:srgbClr val="FFFFFF"/>
                </a:solidFill>
                <a:latin typeface="Arial" pitchFamily="34" charset="0"/>
                <a:ea typeface="Arial" pitchFamily="34" charset="-122"/>
                <a:cs typeface="Arial" pitchFamily="34" charset="-120"/>
              </a:rPr>
              <a:t>The Product Manager Job</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Discovery vs. delivery — what PMs actually do</a:t>
            </a:r>
            <a:endParaRPr lang="en-US" sz="1100" dirty="0"/>
          </a:p>
        </p:txBody>
      </p:sp>
      <p:sp>
        <p:nvSpPr>
          <p:cNvPr id="23" name="Shape 21"/>
          <p:cNvSpPr/>
          <p:nvPr/>
        </p:nvSpPr>
        <p:spPr>
          <a:xfrm>
            <a:off x="7388352" y="1883664"/>
            <a:ext cx="4590288" cy="493776"/>
          </a:xfrm>
          <a:prstGeom prst="rect">
            <a:avLst/>
          </a:prstGeom>
          <a:solidFill>
            <a:srgbClr val="0D1F3C"/>
          </a:solidFill>
          <a:ln/>
        </p:spPr>
      </p:sp>
      <p:sp>
        <p:nvSpPr>
          <p:cNvPr id="24" name="Text 22"/>
          <p:cNvSpPr/>
          <p:nvPr/>
        </p:nvSpPr>
        <p:spPr>
          <a:xfrm>
            <a:off x="7479792" y="1929384"/>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9  </a:t>
            </a:r>
            <a:pPr indent="0" marL="0">
              <a:buNone/>
            </a:pPr>
            <a:r>
              <a:rPr lang="en-US" sz="1050" b="1" dirty="0">
                <a:solidFill>
                  <a:srgbClr val="FFFFFF"/>
                </a:solidFill>
                <a:latin typeface="Arial" pitchFamily="34" charset="0"/>
                <a:ea typeface="Arial" pitchFamily="34" charset="-122"/>
                <a:cs typeface="Arial" pitchFamily="34" charset="-120"/>
              </a:rPr>
              <a:t>Who Is a Good PM?</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The profile and traits of an effective product manager</a:t>
            </a:r>
            <a:endParaRPr lang="en-US" sz="1100" dirty="0"/>
          </a:p>
        </p:txBody>
      </p:sp>
      <p:sp>
        <p:nvSpPr>
          <p:cNvPr id="25" name="Shape 23"/>
          <p:cNvSpPr/>
          <p:nvPr/>
        </p:nvSpPr>
        <p:spPr>
          <a:xfrm>
            <a:off x="7388352" y="2450592"/>
            <a:ext cx="4590288" cy="493776"/>
          </a:xfrm>
          <a:prstGeom prst="rect">
            <a:avLst/>
          </a:prstGeom>
          <a:solidFill>
            <a:srgbClr val="0D1F3C"/>
          </a:solidFill>
          <a:ln/>
        </p:spPr>
      </p:sp>
      <p:sp>
        <p:nvSpPr>
          <p:cNvPr id="26" name="Text 24"/>
          <p:cNvSpPr/>
          <p:nvPr/>
        </p:nvSpPr>
        <p:spPr>
          <a:xfrm>
            <a:off x="7479792" y="2496312"/>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10  </a:t>
            </a:r>
            <a:pPr indent="0" marL="0">
              <a:buNone/>
            </a:pPr>
            <a:r>
              <a:rPr lang="en-US" sz="1050" b="1" dirty="0">
                <a:solidFill>
                  <a:srgbClr val="FFFFFF"/>
                </a:solidFill>
                <a:latin typeface="Arial" pitchFamily="34" charset="0"/>
                <a:ea typeface="Arial" pitchFamily="34" charset="-122"/>
                <a:cs typeface="Arial" pitchFamily="34" charset="-120"/>
              </a:rPr>
              <a:t>Top Reasons PMs Fail</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The specific, recurring failure modes to watch for</a:t>
            </a:r>
            <a:endParaRPr lang="en-US" sz="1100" dirty="0"/>
          </a:p>
        </p:txBody>
      </p:sp>
      <p:sp>
        <p:nvSpPr>
          <p:cNvPr id="27" name="Shape 25"/>
          <p:cNvSpPr/>
          <p:nvPr/>
        </p:nvSpPr>
        <p:spPr>
          <a:xfrm>
            <a:off x="7388352" y="3017520"/>
            <a:ext cx="4590288" cy="493776"/>
          </a:xfrm>
          <a:prstGeom prst="rect">
            <a:avLst/>
          </a:prstGeom>
          <a:solidFill>
            <a:srgbClr val="0D1F3C"/>
          </a:solidFill>
          <a:ln/>
        </p:spPr>
      </p:sp>
      <p:sp>
        <p:nvSpPr>
          <p:cNvPr id="28" name="Text 26"/>
          <p:cNvSpPr/>
          <p:nvPr/>
        </p:nvSpPr>
        <p:spPr>
          <a:xfrm>
            <a:off x="7479792" y="3063240"/>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11  </a:t>
            </a:r>
            <a:pPr indent="0" marL="0">
              <a:buNone/>
            </a:pPr>
            <a:r>
              <a:rPr lang="en-US" sz="1050" b="1" dirty="0">
                <a:solidFill>
                  <a:srgbClr val="FFFFFF"/>
                </a:solidFill>
                <a:latin typeface="Arial" pitchFamily="34" charset="0"/>
                <a:ea typeface="Arial" pitchFamily="34" charset="-122"/>
                <a:cs typeface="Arial" pitchFamily="34" charset="-120"/>
              </a:rPr>
              <a:t>Coaching Product Managers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Developing PM talent as a leadership responsibility</a:t>
            </a:r>
            <a:endParaRPr lang="en-US" sz="1100" dirty="0"/>
          </a:p>
        </p:txBody>
      </p:sp>
      <p:sp>
        <p:nvSpPr>
          <p:cNvPr id="29" name="Shape 27"/>
          <p:cNvSpPr/>
          <p:nvPr/>
        </p:nvSpPr>
        <p:spPr>
          <a:xfrm>
            <a:off x="7388352" y="3584448"/>
            <a:ext cx="4590288" cy="493776"/>
          </a:xfrm>
          <a:prstGeom prst="rect">
            <a:avLst/>
          </a:prstGeom>
          <a:solidFill>
            <a:srgbClr val="0D1F3C"/>
          </a:solidFill>
          <a:ln/>
        </p:spPr>
      </p:sp>
      <p:sp>
        <p:nvSpPr>
          <p:cNvPr id="30" name="Text 28"/>
          <p:cNvSpPr/>
          <p:nvPr/>
        </p:nvSpPr>
        <p:spPr>
          <a:xfrm>
            <a:off x="7479792" y="363016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12  </a:t>
            </a:r>
            <a:pPr indent="0" marL="0">
              <a:buNone/>
            </a:pPr>
            <a:r>
              <a:rPr lang="en-US" sz="1050" b="1" dirty="0">
                <a:solidFill>
                  <a:srgbClr val="FFFFFF"/>
                </a:solidFill>
                <a:latin typeface="Arial" pitchFamily="34" charset="0"/>
                <a:ea typeface="Arial" pitchFamily="34" charset="-122"/>
                <a:cs typeface="Arial" pitchFamily="34" charset="-120"/>
              </a:rPr>
              <a:t>The Product Designer</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Why design is much more than making things look good</a:t>
            </a:r>
            <a:endParaRPr lang="en-US" sz="1100" dirty="0"/>
          </a:p>
        </p:txBody>
      </p:sp>
      <p:sp>
        <p:nvSpPr>
          <p:cNvPr id="31" name="Shape 29"/>
          <p:cNvSpPr/>
          <p:nvPr/>
        </p:nvSpPr>
        <p:spPr>
          <a:xfrm>
            <a:off x="7388352" y="4206240"/>
            <a:ext cx="4590288" cy="36576"/>
          </a:xfrm>
          <a:prstGeom prst="rect">
            <a:avLst/>
          </a:prstGeom>
          <a:solidFill>
            <a:srgbClr val="2A3460"/>
          </a:solidFill>
          <a:ln/>
        </p:spPr>
      </p:sp>
      <p:sp>
        <p:nvSpPr>
          <p:cNvPr id="32" name="Text 30"/>
          <p:cNvSpPr/>
          <p:nvPr/>
        </p:nvSpPr>
        <p:spPr>
          <a:xfrm>
            <a:off x="7388352" y="4315968"/>
            <a:ext cx="4663440" cy="320040"/>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33" name="Shape 31"/>
          <p:cNvSpPr/>
          <p:nvPr/>
        </p:nvSpPr>
        <p:spPr>
          <a:xfrm>
            <a:off x="7388352" y="4681728"/>
            <a:ext cx="4590288" cy="566928"/>
          </a:xfrm>
          <a:prstGeom prst="rect">
            <a:avLst/>
          </a:prstGeom>
          <a:solidFill>
            <a:srgbClr val="0D1F3C"/>
          </a:solidFill>
          <a:ln/>
        </p:spPr>
      </p:sp>
      <p:sp>
        <p:nvSpPr>
          <p:cNvPr id="34" name="Shape 32"/>
          <p:cNvSpPr/>
          <p:nvPr/>
        </p:nvSpPr>
        <p:spPr>
          <a:xfrm>
            <a:off x="7388352" y="4681728"/>
            <a:ext cx="73152" cy="566928"/>
          </a:xfrm>
          <a:prstGeom prst="rect">
            <a:avLst/>
          </a:prstGeom>
          <a:solidFill>
            <a:srgbClr val="2563EB"/>
          </a:solidFill>
          <a:ln/>
        </p:spPr>
      </p:sp>
      <p:sp>
        <p:nvSpPr>
          <p:cNvPr id="35" name="Text 33"/>
          <p:cNvSpPr/>
          <p:nvPr/>
        </p:nvSpPr>
        <p:spPr>
          <a:xfrm>
            <a:off x="7534656" y="4754880"/>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Q1  Are your PMs spending most of their time in discovery or in project coordination? Which should it be?</a:t>
            </a:r>
            <a:endParaRPr lang="en-US" sz="1000" dirty="0"/>
          </a:p>
        </p:txBody>
      </p:sp>
      <p:sp>
        <p:nvSpPr>
          <p:cNvPr id="36" name="Shape 34"/>
          <p:cNvSpPr/>
          <p:nvPr/>
        </p:nvSpPr>
        <p:spPr>
          <a:xfrm>
            <a:off x="7388352" y="5340096"/>
            <a:ext cx="4590288" cy="566928"/>
          </a:xfrm>
          <a:prstGeom prst="rect">
            <a:avLst/>
          </a:prstGeom>
          <a:solidFill>
            <a:srgbClr val="0D1F3C"/>
          </a:solidFill>
          <a:ln/>
        </p:spPr>
      </p:sp>
      <p:sp>
        <p:nvSpPr>
          <p:cNvPr id="37" name="Shape 35"/>
          <p:cNvSpPr/>
          <p:nvPr/>
        </p:nvSpPr>
        <p:spPr>
          <a:xfrm>
            <a:off x="7388352" y="5340096"/>
            <a:ext cx="73152" cy="566928"/>
          </a:xfrm>
          <a:prstGeom prst="rect">
            <a:avLst/>
          </a:prstGeom>
          <a:solidFill>
            <a:srgbClr val="93C5FD"/>
          </a:solidFill>
          <a:ln/>
        </p:spPr>
      </p:sp>
      <p:sp>
        <p:nvSpPr>
          <p:cNvPr id="38" name="Text 36"/>
          <p:cNvSpPr/>
          <p:nvPr/>
        </p:nvSpPr>
        <p:spPr>
          <a:xfrm>
            <a:off x="7534656" y="5413248"/>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Q2  Are designers in your organization true product thinkers, or are they handed specs and asked to make them look good?</a:t>
            </a:r>
            <a:endParaRPr lang="en-US" sz="1000" dirty="0"/>
          </a:p>
        </p:txBody>
      </p:sp>
      <p:sp>
        <p:nvSpPr>
          <p:cNvPr id="39" name="Shape 37"/>
          <p:cNvSpPr/>
          <p:nvPr/>
        </p:nvSpPr>
        <p:spPr>
          <a:xfrm>
            <a:off x="7388352" y="6172200"/>
            <a:ext cx="4590288" cy="548640"/>
          </a:xfrm>
          <a:prstGeom prst="rect">
            <a:avLst/>
          </a:prstGeom>
          <a:solidFill>
            <a:srgbClr val="2563EB">
              <a:alpha val="80000"/>
            </a:srgbClr>
          </a:solidFill>
          <a:ln/>
        </p:spPr>
      </p:sp>
      <p:sp>
        <p:nvSpPr>
          <p:cNvPr id="40" name="Text 38"/>
          <p:cNvSpPr/>
          <p:nvPr/>
        </p:nvSpPr>
        <p:spPr>
          <a:xfrm>
            <a:off x="7516368" y="6199632"/>
            <a:ext cx="4434840" cy="201168"/>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Foundation of Everything Else</a:t>
            </a:r>
            <a:endParaRPr lang="en-US" sz="700" dirty="0"/>
          </a:p>
        </p:txBody>
      </p:sp>
      <p:sp>
        <p:nvSpPr>
          <p:cNvPr id="41" name="Text 39"/>
          <p:cNvSpPr/>
          <p:nvPr/>
        </p:nvSpPr>
        <p:spPr>
          <a:xfrm>
            <a:off x="7516368" y="6373368"/>
            <a:ext cx="44348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Right People in the Right Roles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07</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Product Manager</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most important role in product — and the most misunderstood</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PM is the only person on the team explicitly responsible for both the value and the viability of the product. This requires deep knowledge across four domains — customers, data, business, and market — and the ability to lead cross-functional teams without formal authority.</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 owns value (customers choose it) and viability (the business can sustain it) — designer owns usability, engineer owns feasibility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Deep knowledge in 4 areas is non-negotiable: customers/users, data/analytics, business/stakeholders, market/domain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PM is not a project manager, not a mini-CEO, not a scrum master — they are the product decision-maker</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PMs lead through influence and trust across the entire organization — there is no formal authority to fall back on</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7: The Product Manager</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your PMs accountable for outcomes (did the product solve the problem?) or just for outputs (did it ship)?</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deep is your PM team's knowledge of customers vs. their knowledge of the backlog?</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in your org is currently accountable for product value and viability? Is it clearly owned?</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Where does your PM struggle most: value, usability, feasibility, or viability?</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PM's Unique Accountability</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Value + Viability = The PM's Ownership</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08</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Product Manager Job</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Discovery and delivery — the PM divides time between learning and shipping</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A product manager's time should be split between product discovery (figuring out what to build and whether it will work) and product delivery (ensuring the team builds it well). Most struggling PMs spend nearly all their time in delivery, leaving no time to learn what should be built next.</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Product discovery (figuring out what to build) and product delivery (getting it built right) require different activities and different mindsets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PMs should spend significant time each week with real customers — not just reading reports about them</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PM must be the recognized expert on their users, their data, their business, and their market — requiring continuous investment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 PM who spends all day in meetings coordinating delivery is probably not doing discovery — and their product will show it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8: The Product Manager Job</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percentage of your PM's week is in customer-facing discovery vs. internal project coordination?</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When did your PM team last spend unstructured time with real customers or users?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does your team balance the pressure of delivery deadlines with the need for discovery?</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does a typical week look like for a PM on your team? What should it look like?</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How PMs Should Spend Their Time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Discovery first. Delivery second.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09</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Who Is a Good Product Manager?</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A specific profile — not a job title that anyone can hold</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Great product managers share specific traits that are hard to teach: genuine curiosity about customers and technology, the confidence to make decisions without consensus, the humility to change course when wrong, and a deep, personal passion for the problem space they work in.</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Smart and curious — able to absorb and synthesize complex information across domains quickly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Passionate about the product, the customers, and the problem — not just their career or their team</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Confident enough to make clear decisions, humble enough to update them when evidence demands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Business-savvy and tech-literate — able to speak credibly with both engineers and executives</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9: Who Is a Good Product Manager?</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Honestly assess your PM team: do they have deep passion for your customers' problems?</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 your PMs handle being wrong about a product decision? Do they update or defend?</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Can your PMs engage credibly in technical conversations with engineers without needing to pretend?</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change if you raised the bar on who could become a PM at your organization?</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PM Profile That Works</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Passionate. Curious. Decisive. Humble.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10</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Top Reasons Product Managers Fail</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Failure modes are predictable — and almost always systemic</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Product manager failure rarely happens because someone is unintelligent. It happens because PMs fall into predictable traps: becoming backlog administrators, acting as project managers, avoiding hard prioritization decisions, or failing to build the trust of engineering and design.</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Acting as a backlog owner or scrum product owner without doing real product discovery — the most common failure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Treating engineering and design as order-takers rather than as partners in product thinking</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Failing to develop deep customer knowledge — relying on secondhand insights rather than direct exposure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Avoiding difficult prioritization decisions — always trying to do everything and committing to nothing</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10: The Top Reasons Product Managers Fail</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Which of these failure modes do you see most often in your organization?</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much of your PM team's time is spent on backlog grooming vs. on customer and product discovery?</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 your engineers and designers feel like true partners — or like they receive specs to implement?</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does your PM team do when stakeholders push for conflicting priorities? Who wins?</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Most Common Failure Mode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Backlog administrator ≠ Product manager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11</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Coaching Product Managers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Developing PM talent is a head of product's most important job</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single highest-leverage activity for a head of product is developing the product managers on their team. This means weekly 1:1s focused on product thinking (not status), providing business and strategy context, connecting PMs with mentors, and actively assessing and improving PM capabilities.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head of product's primary job is developing PM talent — not reviewing roadmaps or attending all sprint reviews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1:1s should focus on developing product thinking, not status updates — ask 'what are you learning?' not 'what are you building?'</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PMs need explicit context about company strategy, business objectives, and customer insights to make good decisions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Assess PMs on four dimensions: customer knowledge, data fluency, business acumen, and technical understanding</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11: Coaching Product Managers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does a typical 1:1 with a PM on your team look like? Is it status or development?</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much strategic and business context do your PMs have? Could they explain the company's product strategy in 60 seconds?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is your process for identifying PM skill gaps and addressing them deliberately?</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mentors and coaches your head of product?</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Head of Product's Primary Job</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Coach PMs on product thinking — not project status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12</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Product Designer</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Design is product thinking — not decoration applied at the end</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In the best product companies, designers are product thinkers embedded in the team from day one — not specialists handed a spec to make look good. Great product designers are skilled at user research, interaction design, and customer journey thinking. They are equal partners with PM and engineering, not a downstream service.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product designer is responsible for the holistic customer experience — all touchpoints across the entire journey, not just individual screens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Great designers are skilled at user research — they go deep with customers and translate insights into interaction solutions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Design must happen in collaboration with PM and engineering throughout discovery — not handed off after requirements are written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Visual design is one skill; product design requires customer empathy, systems thinking, and the ability to prototype and test ideas quickly</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12: The Product Designer</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designers in your org involved from the start of discovery — or brought in after the PM has already decided what to build?</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 your designers conduct their own customer research — or do they rely on what PMs tell them?</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often does design thinking actually change what gets built, vs. only changing how it looks?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look like to treat your designers as true equal partners in the product team?</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What Great Design Actually Means</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Design is not decoration. It is product thinking.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13</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Engineering</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Engineers are partners in discovery — not just executors of delivery</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relationship between the PM and the engineering team is the most important in product development. When engineers are brought into discovery early, they contribute solutions that no one else could imagine — because they know what's possible. When they're handed specs to implement, you lose that leverage entirely.</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Engineers who participate in discovery bring a unique lens: they know what's technically possible in ways that PMs and designers don't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tech lead is the bridge between product vision and technical reality — this role must be filled by someone who thinks beyond implementation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Technical debt is a product problem, not just an engineering problem — PMs must understand and help manage it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PMs who understand technology at a conceptual level earn engineers' trust and get much better collaboration</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13: Engineering</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At what point in the product process do engineers get involved at your organization?</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Can your PM engage in a technical conversation without needing everything translated? What would it take?</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is technical debt managed in your organization — is it a product priority or an engineering afterthought?</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Have engineers on your team ever changed what got built because of something they discovered in early involvement?</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Most Important Partnership</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Involve engineers early. Get better solutions.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14</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Product Marketing</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Winning in the market requires more than building the right product</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Product Marketing Manager (PMM) is responsible for go-to-market success: positioning, messaging, pricing, launch strategy, and competitive intelligence. While the PM focuses on product-market fit, the PMM focuses on go-to-market fit. The two roles must work in close partnership — they are not interchangeable.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PMM owns the go-to-market strategy: how the product is positioned, priced, messaged, and launched to the target market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PMM is the organization's expert on competitive landscape, customer segments, and market perception — not the PM</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PM and PMM must be tightly aligned on target customer, core value proposition, and competitive differentiation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PMM helps translate product capabilities into customer language — the 'so what' that makes customers choose your product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14: Product Marketing</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closely do your PM and PMM (or marketing equivalent) collaborate? Do they have the same picture of the target customer?</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in your organization owns competitive intelligence — and is that person influencing product decisions?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Have you ever built a product that solved the right problem but failed in the market because of how it was positioned?</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does 'go-to-market fit' mean for your product — and who owns it?</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PM-PMM Partnership</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Product-market fit + Go-to-market fit = Win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15</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Supporting Roles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User researchers, data analysts, and QA engineers amplify great product teams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Beyond the core product trio of PM, designer, and engineer, several supporting roles significantly amplify the team's ability to discover and deliver great products: user researchers who go deep on customer behavior, data analysts who reveal what's actually happening, and QA/automation engineers who make continuous delivery safe.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User researchers conduct systematic qualitative research that goes deeper than what PMs can do in their normal discovery work — they complement, not replace, PM customer exposure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Data analysts help teams understand what users are actually doing vs. what teams believe they're doing — analytics must be a product priority, not an afterthought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Test automation engineers make continuous delivery possible and safe — without them, every release is high-risk</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These roles work best when embedded with product teams, not organized as separate shared services that teams must request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15: The Supporting Roles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team have dedicated user researchers — and are they partnered with product teams or siloed in a research department?</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quickly can your PM answer the question 'what did users do after we shipped X?' — and is that fast enough?</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percentage of your test coverage is automated vs. manual? What would need to change to ship faster and safer?</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any of your supporting roles structured as shared services teams that product teams must request? What problems does that create?</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Supporting Team's Role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Research + Data + QA = Continuous confidence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16</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Product Team</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empowered product team is the fundamental unit of innovation</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product team — typically one PM, one designer, and two to ten engineers — is the foundational structure for product development. When these teams are given a clear problem to solve and trusted to figure out the best solution, they become missionaries. When they're given features to build and timelines to hit, they become mercenaries.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core product team: one PM, one product designer, and two to ten engineers with end-to-end ownership of a product area</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Empowered teams are given problems to solve — not solutions to build. This distinction is everything.</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team is accountable for outcomes (did we solve the problem?) not just outputs (did we ship?)</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Co-location or strong async collaboration practices are essential — distributed teams require deliberate culture investment to achieve the same results</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16: The Product Team</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the product teams in your organization given problems to solve — or features to build? What's the real answer?</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team feel genuine ownership of the product area they work on?</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does your team currently measure success — by what shipped, or by what changed for customers?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need to change for your teams to feel and act like missionaries rather than mercenaries?</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Empowered vs. Feature Factory Teams</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Missionaries build great products. Mercenaries ship features.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17</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Head of Product Role</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Product leadership is about developing people and strategy — not reviewing roadmaps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VP of Product or CPO is responsible for the product vision, the product strategy, the product organization design, and above all, the development of PM talent. The best heads of product are exceptional coaches who spend significant time developing product thinking in their teams — not just attending reviews and managing stakeholders.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Core responsibilities: staffing and developing PM talent, establishing and evangelizing product vision, defining product strategy, and designing the product organization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head of product's most leveraged activity is coaching PMs to think and act as product owners — not managing what they ship</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They interface with the CEO, board, and other executives to translate customer insights and product direction into business strategy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They must be willing to push back on business requests that conflict with the product strategy — and earn the credibility to do so</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17: The Head of Product Role</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does your head of product spend their time? Is it primarily strategic or primarily operational?</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Is the product vision in your organization clearly owned by someone — and is it inspiring enough to guide daily decisions?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does product leadership in your company respond when sales or other stakeholders push for features that don't fit the strategy?</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If your head of product left tomorrow, would the PM team know what to do? Why or why not?</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What Great Product Leadership Looks Like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Lead through vision, strategy, and coaching — not through control</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18</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Head of Technology Role</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CTO as a product partner — not just an infrastructure manager</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In strong product companies, the CTO is an active partner in product strategy — not just responsible for keeping systems running. The best technology leaders make architectural decisions that preserve product agility, actively manage technical debt, invest in engineering practices that enable continuous delivery, and help the company understand the technology opportunities that could reshape their market.</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CTO's primary product responsibility: architectural decisions that keep the technology flexible as the product evolves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Technical debt is a strategic issue — CTOs who allow it to accumulate cripple the team's ability to innovate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Great CTOs help the organization understand what technology makes newly possible — they bring opportunity, not just infrastructure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Close alignment between head of product and head of technology is essential; misalignment between these two roles is one of the most common causes of product dysfunction</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18: The Head of Technology Role</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much of your CTO's time is spent on future-facing product strategy vs. current-state operational concerns?</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is technical debt treated in your organization — as a product priority or as something engineering handles on its own?</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technology leadership ever brought a technology opportunity to the product team that changed your product direction?</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is the relationship between your head of product and head of technology like — are they true partners?</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CTO as Product Partner</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Technology leadership enables product agility</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19</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Delivery Manager Role</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Facilitating delivery without owning direction</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delivery manager (sometimes called project manager, release manager, or scrum master) is responsible for helping the product team deliver reliably — removing blockers, managing cross-team dependencies, and coordinating releases. They are explicitly NOT responsible for product direction, priorities, or the roadmap. Their role is to make the team faster and more predictable, not to define what gets built.</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Delivery managers remove impediments, manage dependencies between teams, and coordinate releases — focused on the 'how' and 'when', not the 'what'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They should never own the roadmap or drive prioritization — that is always the PM's responsibility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best delivery managers are process experts without being process-bound — they adapt to what the team needs, not to a prescribed methodology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This role is most valuable when teams are large enough that coordination overhead is real — smaller teams often don't need it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19: The Delivery Manager Role</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Is there clear separation in your organization between product direction (PM) and delivery coordination (delivery manager)?</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Have you ever seen a project manager or scrum master drift into making product decisions? What were the results?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impediments does your team face most often — and who is responsible for removing them?</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does your delivery process balance predictability (which stakeholders want) with the flexibility needed for real discovery?</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Clear Role Boundaries Matter</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Delivery managers facilitate. PMs decide.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2  ›  CH. 20</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Principles of Structuring Product Teams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Team structure is a strategic decision — not an org chart exercise</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How you structure product teams is one of the most consequential decisions in a product organization. Done well, it enables teams to move fast with real ownership. Done poorly, it creates dependencies that slow everything down, blur accountability, and prevent genuine empowerment. The goal: minimize dependencies, maximize autonomy, and align teams to customer missions.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single most important principle: minimize dependencies between teams — inter-team dependencies are the #1 cause of slow product organizations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Organize teams around customer missions or product areas — not around technology layers (UI, API, DB) or functional capabilities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Use an 'investment portfolio' lens: some teams on core/sustaining product, some on growth, some on new bets — allocate accordingly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Missionaries vs. mercenaries: teams with clear ownership of a problem space become missionaries; teams that execute tasks from a central queue become mercenaries</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2  ›  Chapter 20: Principles of Structuring Product Teams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Draw your current team structure. How many dependencies exist between teams to ship a customer-facing feature?</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your teams organized around customer journeys/missions — or around technical systems?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percentage of your engineering capacity is on sustaining vs. growing vs. new bets? Is that the right allocation?</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If you could restructure your teams tomorrow with no constraints, what would you do differently?</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Core Principle of Team Structure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Minimize dependencies. Maximize ownership.</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230"/>
        </a:solidFill>
      </p:bgPr>
    </p:bg>
    <p:spTree>
      <p:nvGrpSpPr>
        <p:cNvPr id="1" name=""/>
        <p:cNvGrpSpPr/>
        <p:nvPr/>
      </p:nvGrpSpPr>
      <p:grpSpPr>
        <a:xfrm>
          <a:off x="0" y="0"/>
          <a:ext cx="0" cy="0"/>
          <a:chOff x="0" y="0"/>
          <a:chExt cx="0" cy="0"/>
        </a:xfrm>
      </p:grpSpPr>
      <p:sp>
        <p:nvSpPr>
          <p:cNvPr id="2" name="Shape 0"/>
          <p:cNvSpPr/>
          <p:nvPr/>
        </p:nvSpPr>
        <p:spPr>
          <a:xfrm>
            <a:off x="0" y="0"/>
            <a:ext cx="7132320" cy="182880"/>
          </a:xfrm>
          <a:prstGeom prst="rect">
            <a:avLst/>
          </a:prstGeom>
          <a:solidFill>
            <a:srgbClr val="93C5FD"/>
          </a:solidFill>
          <a:ln/>
        </p:spPr>
      </p:sp>
      <p:sp>
        <p:nvSpPr>
          <p:cNvPr id="3" name="Text 1"/>
          <p:cNvSpPr/>
          <p:nvPr/>
        </p:nvSpPr>
        <p:spPr>
          <a:xfrm>
            <a:off x="-457200" y="91440"/>
            <a:ext cx="3657600" cy="3200400"/>
          </a:xfrm>
          <a:prstGeom prst="rect">
            <a:avLst/>
          </a:prstGeom>
          <a:noFill/>
          <a:ln/>
        </p:spPr>
        <p:txBody>
          <a:bodyPr wrap="square" lIns="0" tIns="0" rIns="0" bIns="0" rtlCol="0" anchor="ctr"/>
          <a:lstStyle/>
          <a:p>
            <a:pPr algn="l" indent="0" marL="0">
              <a:buNone/>
            </a:pPr>
            <a:r>
              <a:rPr lang="en-US" sz="20000" b="1" dirty="0">
                <a:solidFill>
                  <a:srgbClr val="0F172A"/>
                </a:solidFill>
                <a:latin typeface="Arial Black" pitchFamily="34" charset="0"/>
                <a:ea typeface="Arial Black" pitchFamily="34" charset="-122"/>
                <a:cs typeface="Arial Black" pitchFamily="34" charset="-120"/>
              </a:rPr>
              <a:t>03</a:t>
            </a:r>
            <a:endParaRPr lang="en-US" sz="20000" dirty="0"/>
          </a:p>
        </p:txBody>
      </p:sp>
      <p:sp>
        <p:nvSpPr>
          <p:cNvPr id="4" name="Text 2"/>
          <p:cNvSpPr/>
          <p:nvPr/>
        </p:nvSpPr>
        <p:spPr>
          <a:xfrm>
            <a:off x="411480" y="292608"/>
            <a:ext cx="3657600" cy="411480"/>
          </a:xfrm>
          <a:prstGeom prst="rect">
            <a:avLst/>
          </a:prstGeom>
          <a:noFill/>
          <a:ln/>
        </p:spPr>
        <p:txBody>
          <a:bodyPr wrap="square" lIns="0" tIns="0" rIns="0" bIns="0" rtlCol="0" anchor="ctr"/>
          <a:lstStyle/>
          <a:p>
            <a:pPr indent="0" marL="0">
              <a:buNone/>
            </a:pPr>
            <a:r>
              <a:rPr lang="en-US" sz="1100" b="1" spc="500" kern="0" dirty="0">
                <a:solidFill>
                  <a:srgbClr val="93C5FD"/>
                </a:solidFill>
                <a:latin typeface="Arial" pitchFamily="34" charset="0"/>
                <a:ea typeface="Arial" pitchFamily="34" charset="-122"/>
                <a:cs typeface="Arial" pitchFamily="34" charset="-120"/>
              </a:rPr>
              <a:t>PART 03</a:t>
            </a:r>
            <a:endParaRPr lang="en-US" sz="1100" dirty="0"/>
          </a:p>
        </p:txBody>
      </p:sp>
      <p:sp>
        <p:nvSpPr>
          <p:cNvPr id="5" name="Text 3"/>
          <p:cNvSpPr/>
          <p:nvPr/>
        </p:nvSpPr>
        <p:spPr>
          <a:xfrm>
            <a:off x="2743200" y="347472"/>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Arial" pitchFamily="34" charset="0"/>
                <a:ea typeface="Arial" pitchFamily="34" charset="-122"/>
                <a:cs typeface="Arial" pitchFamily="34" charset="-120"/>
              </a:rPr>
              <a:t>Ch. 21–26</a:t>
            </a:r>
            <a:endParaRPr lang="en-US" sz="1000" dirty="0"/>
          </a:p>
        </p:txBody>
      </p:sp>
      <p:sp>
        <p:nvSpPr>
          <p:cNvPr id="6" name="Text 4"/>
          <p:cNvSpPr/>
          <p:nvPr/>
        </p:nvSpPr>
        <p:spPr>
          <a:xfrm>
            <a:off x="411480" y="685800"/>
            <a:ext cx="6537960" cy="10972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The Right Product</a:t>
            </a:r>
            <a:endParaRPr lang="en-US" sz="3200" dirty="0"/>
          </a:p>
        </p:txBody>
      </p:sp>
      <p:sp>
        <p:nvSpPr>
          <p:cNvPr id="7" name="Text 5"/>
          <p:cNvSpPr/>
          <p:nvPr/>
        </p:nvSpPr>
        <p:spPr>
          <a:xfrm>
            <a:off x="411480" y="1764792"/>
            <a:ext cx="6537960" cy="548640"/>
          </a:xfrm>
          <a:prstGeom prst="rect">
            <a:avLst/>
          </a:prstGeom>
          <a:noFill/>
          <a:ln/>
        </p:spPr>
        <p:txBody>
          <a:bodyPr wrap="square" lIns="0" tIns="0" rIns="0" bIns="0" rtlCol="0" anchor="ctr"/>
          <a:lstStyle/>
          <a:p>
            <a:pPr indent="0" marL="0">
              <a:buNone/>
            </a:pPr>
            <a:r>
              <a:rPr lang="en-US" sz="1200" i="1" dirty="0">
                <a:solidFill>
                  <a:srgbClr val="93C5FD"/>
                </a:solidFill>
                <a:latin typeface="Arial" pitchFamily="34" charset="0"/>
                <a:ea typeface="Arial" pitchFamily="34" charset="-122"/>
                <a:cs typeface="Arial" pitchFamily="34" charset="-120"/>
              </a:rPr>
              <a:t>Before you can build the right product, you need a compelling vision, a real strategy, and the discipline to say no to almost everything.</a:t>
            </a:r>
            <a:endParaRPr lang="en-US" sz="1200" dirty="0"/>
          </a:p>
        </p:txBody>
      </p:sp>
      <p:sp>
        <p:nvSpPr>
          <p:cNvPr id="8" name="Shape 6"/>
          <p:cNvSpPr/>
          <p:nvPr/>
        </p:nvSpPr>
        <p:spPr>
          <a:xfrm>
            <a:off x="411480" y="2423160"/>
            <a:ext cx="653796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9" name="Shape 7"/>
          <p:cNvSpPr/>
          <p:nvPr/>
        </p:nvSpPr>
        <p:spPr>
          <a:xfrm>
            <a:off x="411480" y="2423160"/>
            <a:ext cx="118872" cy="1371600"/>
          </a:xfrm>
          <a:prstGeom prst="rect">
            <a:avLst/>
          </a:prstGeom>
          <a:solidFill>
            <a:srgbClr val="93C5FD"/>
          </a:solidFill>
          <a:ln/>
        </p:spPr>
      </p:sp>
      <p:sp>
        <p:nvSpPr>
          <p:cNvPr id="10" name="Text 8"/>
          <p:cNvSpPr/>
          <p:nvPr/>
        </p:nvSpPr>
        <p:spPr>
          <a:xfrm>
            <a:off x="658368" y="2487168"/>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1" name="Text 9"/>
          <p:cNvSpPr/>
          <p:nvPr/>
        </p:nvSpPr>
        <p:spPr>
          <a:xfrm>
            <a:off x="658368" y="2761488"/>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best product organizations don't just execute well — they have a clear, inspiring product vision that motivates the team, a product strategy that makes deliberate choices about focus, and outcome-based OKRs that connect daily work to real business results. Traditional roadmaps get in the way of all three.</a:t>
            </a:r>
            <a:endParaRPr lang="en-US" sz="1150" dirty="0"/>
          </a:p>
        </p:txBody>
      </p:sp>
      <p:sp>
        <p:nvSpPr>
          <p:cNvPr id="12" name="Text 10"/>
          <p:cNvSpPr/>
          <p:nvPr/>
        </p:nvSpPr>
        <p:spPr>
          <a:xfrm>
            <a:off x="411480" y="3950208"/>
            <a:ext cx="2743200" cy="292608"/>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THEMES</a:t>
            </a:r>
            <a:endParaRPr lang="en-US" sz="800" dirty="0"/>
          </a:p>
        </p:txBody>
      </p:sp>
      <p:sp>
        <p:nvSpPr>
          <p:cNvPr id="13" name="Text 11"/>
          <p:cNvSpPr/>
          <p:nvPr/>
        </p:nvSpPr>
        <p:spPr>
          <a:xfrm>
            <a:off x="411480" y="4242816"/>
            <a:ext cx="6537960" cy="233172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Product vision is the long-term mission — it should be inspiring enough to attract great people and guide hard decisions over 2–5 years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Product strategy means choosing what NOT to do as much as what to do — without focus, teams work hard but create little value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OKRs done right connect product work to customer outcomes and business results — OKRs done wrong turn features into key results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Traditional feature-based roadmaps undermine team empowerment and create false confidence; outcome-based approaches are better</a:t>
            </a:r>
            <a:endParaRPr lang="en-US" sz="1100" dirty="0"/>
          </a:p>
        </p:txBody>
      </p:sp>
      <p:sp>
        <p:nvSpPr>
          <p:cNvPr id="14" name="Shape 12"/>
          <p:cNvSpPr/>
          <p:nvPr/>
        </p:nvSpPr>
        <p:spPr>
          <a:xfrm>
            <a:off x="0" y="6583680"/>
            <a:ext cx="7132320" cy="274320"/>
          </a:xfrm>
          <a:prstGeom prst="rect">
            <a:avLst/>
          </a:prstGeom>
          <a:solidFill>
            <a:srgbClr val="080E22"/>
          </a:solidFill>
          <a:ln/>
        </p:spPr>
      </p:sp>
      <p:sp>
        <p:nvSpPr>
          <p:cNvPr id="15" name="Text 13"/>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4A5274"/>
                </a:solidFill>
                <a:latin typeface="Arial" pitchFamily="34" charset="0"/>
                <a:ea typeface="Arial" pitchFamily="34" charset="-122"/>
                <a:cs typeface="Arial" pitchFamily="34" charset="-120"/>
              </a:rPr>
              <a:t>INSPIRED  ·  Part 3: The Right Product</a:t>
            </a:r>
            <a:endParaRPr lang="en-US" sz="800" dirty="0"/>
          </a:p>
        </p:txBody>
      </p:sp>
      <p:sp>
        <p:nvSpPr>
          <p:cNvPr id="16" name="Shape 14"/>
          <p:cNvSpPr/>
          <p:nvPr/>
        </p:nvSpPr>
        <p:spPr>
          <a:xfrm>
            <a:off x="7132320" y="0"/>
            <a:ext cx="5029200" cy="6858000"/>
          </a:xfrm>
          <a:prstGeom prst="rect">
            <a:avLst/>
          </a:prstGeom>
          <a:solidFill>
            <a:srgbClr val="0A1628"/>
          </a:solidFill>
          <a:ln/>
        </p:spPr>
      </p:sp>
      <p:sp>
        <p:nvSpPr>
          <p:cNvPr id="17" name="Shape 15"/>
          <p:cNvSpPr/>
          <p:nvPr/>
        </p:nvSpPr>
        <p:spPr>
          <a:xfrm>
            <a:off x="7132320" y="0"/>
            <a:ext cx="5029200" cy="182880"/>
          </a:xfrm>
          <a:prstGeom prst="rect">
            <a:avLst/>
          </a:prstGeom>
          <a:solidFill>
            <a:srgbClr val="2563EB"/>
          </a:solidFill>
          <a:ln/>
        </p:spPr>
      </p:sp>
      <p:sp>
        <p:nvSpPr>
          <p:cNvPr id="18" name="Text 16"/>
          <p:cNvSpPr/>
          <p:nvPr/>
        </p:nvSpPr>
        <p:spPr>
          <a:xfrm>
            <a:off x="7388352" y="292608"/>
            <a:ext cx="4663440" cy="347472"/>
          </a:xfrm>
          <a:prstGeom prst="rect">
            <a:avLst/>
          </a:prstGeom>
          <a:noFill/>
          <a:ln/>
        </p:spPr>
        <p:txBody>
          <a:bodyPr wrap="square" lIns="0" tIns="0" rIns="0" bIns="0" rtlCol="0" anchor="ctr"/>
          <a:lstStyle/>
          <a:p>
            <a:pPr indent="0" marL="0">
              <a:buNone/>
            </a:pPr>
            <a:r>
              <a:rPr lang="en-US" sz="800" b="1" spc="200" kern="0" dirty="0">
                <a:solidFill>
                  <a:srgbClr val="2563EB"/>
                </a:solidFill>
                <a:latin typeface="Arial" pitchFamily="34" charset="0"/>
                <a:ea typeface="Arial" pitchFamily="34" charset="-122"/>
                <a:cs typeface="Arial" pitchFamily="34" charset="-120"/>
              </a:rPr>
              <a:t>CHAPTERS IN THIS PART</a:t>
            </a:r>
            <a:endParaRPr lang="en-US" sz="800" dirty="0"/>
          </a:p>
        </p:txBody>
      </p:sp>
      <p:sp>
        <p:nvSpPr>
          <p:cNvPr id="19" name="Shape 17"/>
          <p:cNvSpPr/>
          <p:nvPr/>
        </p:nvSpPr>
        <p:spPr>
          <a:xfrm>
            <a:off x="7388352" y="749808"/>
            <a:ext cx="4590288" cy="493776"/>
          </a:xfrm>
          <a:prstGeom prst="rect">
            <a:avLst/>
          </a:prstGeom>
          <a:solidFill>
            <a:srgbClr val="0D1F3C"/>
          </a:solidFill>
          <a:ln/>
        </p:spPr>
      </p:sp>
      <p:sp>
        <p:nvSpPr>
          <p:cNvPr id="20" name="Text 18"/>
          <p:cNvSpPr/>
          <p:nvPr/>
        </p:nvSpPr>
        <p:spPr>
          <a:xfrm>
            <a:off x="7479792" y="79552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21  </a:t>
            </a:r>
            <a:pPr indent="0" marL="0">
              <a:buNone/>
            </a:pPr>
            <a:r>
              <a:rPr lang="en-US" sz="1050" b="1" dirty="0">
                <a:solidFill>
                  <a:srgbClr val="FFFFFF"/>
                </a:solidFill>
                <a:latin typeface="Arial" pitchFamily="34" charset="0"/>
                <a:ea typeface="Arial" pitchFamily="34" charset="-122"/>
                <a:cs typeface="Arial" pitchFamily="34" charset="-120"/>
              </a:rPr>
              <a:t>Product Vision and Principles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The long-term mission and the values that guide daily decisions</a:t>
            </a:r>
            <a:endParaRPr lang="en-US" sz="1100" dirty="0"/>
          </a:p>
        </p:txBody>
      </p:sp>
      <p:sp>
        <p:nvSpPr>
          <p:cNvPr id="21" name="Shape 19"/>
          <p:cNvSpPr/>
          <p:nvPr/>
        </p:nvSpPr>
        <p:spPr>
          <a:xfrm>
            <a:off x="7388352" y="1316736"/>
            <a:ext cx="4590288" cy="493776"/>
          </a:xfrm>
          <a:prstGeom prst="rect">
            <a:avLst/>
          </a:prstGeom>
          <a:solidFill>
            <a:srgbClr val="0D1F3C"/>
          </a:solidFill>
          <a:ln/>
        </p:spPr>
      </p:sp>
      <p:sp>
        <p:nvSpPr>
          <p:cNvPr id="22" name="Text 20"/>
          <p:cNvSpPr/>
          <p:nvPr/>
        </p:nvSpPr>
        <p:spPr>
          <a:xfrm>
            <a:off x="7479792" y="1362456"/>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22  </a:t>
            </a:r>
            <a:pPr indent="0" marL="0">
              <a:buNone/>
            </a:pPr>
            <a:r>
              <a:rPr lang="en-US" sz="1050" b="1" dirty="0">
                <a:solidFill>
                  <a:srgbClr val="FFFFFF"/>
                </a:solidFill>
                <a:latin typeface="Arial" pitchFamily="34" charset="0"/>
                <a:ea typeface="Arial" pitchFamily="34" charset="-122"/>
                <a:cs typeface="Arial" pitchFamily="34" charset="-120"/>
              </a:rPr>
              <a:t>The Product Vision</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How to create and evangelize a compelling product vision</a:t>
            </a:r>
            <a:endParaRPr lang="en-US" sz="1100" dirty="0"/>
          </a:p>
        </p:txBody>
      </p:sp>
      <p:sp>
        <p:nvSpPr>
          <p:cNvPr id="23" name="Shape 21"/>
          <p:cNvSpPr/>
          <p:nvPr/>
        </p:nvSpPr>
        <p:spPr>
          <a:xfrm>
            <a:off x="7388352" y="1883664"/>
            <a:ext cx="4590288" cy="493776"/>
          </a:xfrm>
          <a:prstGeom prst="rect">
            <a:avLst/>
          </a:prstGeom>
          <a:solidFill>
            <a:srgbClr val="0D1F3C"/>
          </a:solidFill>
          <a:ln/>
        </p:spPr>
      </p:sp>
      <p:sp>
        <p:nvSpPr>
          <p:cNvPr id="24" name="Text 22"/>
          <p:cNvSpPr/>
          <p:nvPr/>
        </p:nvSpPr>
        <p:spPr>
          <a:xfrm>
            <a:off x="7479792" y="1929384"/>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23  </a:t>
            </a:r>
            <a:pPr indent="0" marL="0">
              <a:buNone/>
            </a:pPr>
            <a:r>
              <a:rPr lang="en-US" sz="1050" b="1" dirty="0">
                <a:solidFill>
                  <a:srgbClr val="FFFFFF"/>
                </a:solidFill>
                <a:latin typeface="Arial" pitchFamily="34" charset="0"/>
                <a:ea typeface="Arial" pitchFamily="34" charset="-122"/>
                <a:cs typeface="Arial" pitchFamily="34" charset="-120"/>
              </a:rPr>
              <a:t>The Product Strategy</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Focus as a competitive advantage — choosing what not to build</a:t>
            </a:r>
            <a:endParaRPr lang="en-US" sz="1100" dirty="0"/>
          </a:p>
        </p:txBody>
      </p:sp>
      <p:sp>
        <p:nvSpPr>
          <p:cNvPr id="25" name="Shape 23"/>
          <p:cNvSpPr/>
          <p:nvPr/>
        </p:nvSpPr>
        <p:spPr>
          <a:xfrm>
            <a:off x="7388352" y="2450592"/>
            <a:ext cx="4590288" cy="493776"/>
          </a:xfrm>
          <a:prstGeom prst="rect">
            <a:avLst/>
          </a:prstGeom>
          <a:solidFill>
            <a:srgbClr val="0D1F3C"/>
          </a:solidFill>
          <a:ln/>
        </p:spPr>
      </p:sp>
      <p:sp>
        <p:nvSpPr>
          <p:cNvPr id="26" name="Text 24"/>
          <p:cNvSpPr/>
          <p:nvPr/>
        </p:nvSpPr>
        <p:spPr>
          <a:xfrm>
            <a:off x="7479792" y="2496312"/>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24  </a:t>
            </a:r>
            <a:pPr indent="0" marL="0">
              <a:buNone/>
            </a:pPr>
            <a:r>
              <a:rPr lang="en-US" sz="1050" b="1" dirty="0">
                <a:solidFill>
                  <a:srgbClr val="FFFFFF"/>
                </a:solidFill>
                <a:latin typeface="Arial" pitchFamily="34" charset="0"/>
                <a:ea typeface="Arial" pitchFamily="34" charset="-122"/>
                <a:cs typeface="Arial" pitchFamily="34" charset="-120"/>
              </a:rPr>
              <a:t>Product Prioritization Techniques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How to decide what to work on — and what to skip</a:t>
            </a:r>
            <a:endParaRPr lang="en-US" sz="1100" dirty="0"/>
          </a:p>
        </p:txBody>
      </p:sp>
      <p:sp>
        <p:nvSpPr>
          <p:cNvPr id="27" name="Shape 25"/>
          <p:cNvSpPr/>
          <p:nvPr/>
        </p:nvSpPr>
        <p:spPr>
          <a:xfrm>
            <a:off x="7388352" y="3017520"/>
            <a:ext cx="4590288" cy="493776"/>
          </a:xfrm>
          <a:prstGeom prst="rect">
            <a:avLst/>
          </a:prstGeom>
          <a:solidFill>
            <a:srgbClr val="0D1F3C"/>
          </a:solidFill>
          <a:ln/>
        </p:spPr>
      </p:sp>
      <p:sp>
        <p:nvSpPr>
          <p:cNvPr id="28" name="Text 26"/>
          <p:cNvSpPr/>
          <p:nvPr/>
        </p:nvSpPr>
        <p:spPr>
          <a:xfrm>
            <a:off x="7479792" y="3063240"/>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25  </a:t>
            </a:r>
            <a:pPr indent="0" marL="0">
              <a:buNone/>
            </a:pPr>
            <a:r>
              <a:rPr lang="en-US" sz="1050" b="1" dirty="0">
                <a:solidFill>
                  <a:srgbClr val="FFFFFF"/>
                </a:solidFill>
                <a:latin typeface="Arial" pitchFamily="34" charset="0"/>
                <a:ea typeface="Arial" pitchFamily="34" charset="-122"/>
                <a:cs typeface="Arial" pitchFamily="34" charset="-120"/>
              </a:rPr>
              <a:t>The OKR Technique</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Connecting product work to real outcomes with OKRs</a:t>
            </a:r>
            <a:endParaRPr lang="en-US" sz="1100" dirty="0"/>
          </a:p>
        </p:txBody>
      </p:sp>
      <p:sp>
        <p:nvSpPr>
          <p:cNvPr id="29" name="Shape 27"/>
          <p:cNvSpPr/>
          <p:nvPr/>
        </p:nvSpPr>
        <p:spPr>
          <a:xfrm>
            <a:off x="7388352" y="3584448"/>
            <a:ext cx="4590288" cy="493776"/>
          </a:xfrm>
          <a:prstGeom prst="rect">
            <a:avLst/>
          </a:prstGeom>
          <a:solidFill>
            <a:srgbClr val="0D1F3C"/>
          </a:solidFill>
          <a:ln/>
        </p:spPr>
      </p:sp>
      <p:sp>
        <p:nvSpPr>
          <p:cNvPr id="30" name="Text 28"/>
          <p:cNvSpPr/>
          <p:nvPr/>
        </p:nvSpPr>
        <p:spPr>
          <a:xfrm>
            <a:off x="7479792" y="363016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26  </a:t>
            </a:r>
            <a:pPr indent="0" marL="0">
              <a:buNone/>
            </a:pPr>
            <a:r>
              <a:rPr lang="en-US" sz="1050" b="1" dirty="0">
                <a:solidFill>
                  <a:srgbClr val="FFFFFF"/>
                </a:solidFill>
                <a:latin typeface="Arial" pitchFamily="34" charset="0"/>
                <a:ea typeface="Arial" pitchFamily="34" charset="-122"/>
                <a:cs typeface="Arial" pitchFamily="34" charset="-120"/>
              </a:rPr>
              <a:t>Product Roadmaps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Why traditional roadmaps are broken — and what to do instead</a:t>
            </a:r>
            <a:endParaRPr lang="en-US" sz="1100" dirty="0"/>
          </a:p>
        </p:txBody>
      </p:sp>
      <p:sp>
        <p:nvSpPr>
          <p:cNvPr id="31" name="Shape 29"/>
          <p:cNvSpPr/>
          <p:nvPr/>
        </p:nvSpPr>
        <p:spPr>
          <a:xfrm>
            <a:off x="7388352" y="4206240"/>
            <a:ext cx="4590288" cy="36576"/>
          </a:xfrm>
          <a:prstGeom prst="rect">
            <a:avLst/>
          </a:prstGeom>
          <a:solidFill>
            <a:srgbClr val="2A3460"/>
          </a:solidFill>
          <a:ln/>
        </p:spPr>
      </p:sp>
      <p:sp>
        <p:nvSpPr>
          <p:cNvPr id="32" name="Text 30"/>
          <p:cNvSpPr/>
          <p:nvPr/>
        </p:nvSpPr>
        <p:spPr>
          <a:xfrm>
            <a:off x="7388352" y="4315968"/>
            <a:ext cx="4663440" cy="320040"/>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33" name="Shape 31"/>
          <p:cNvSpPr/>
          <p:nvPr/>
        </p:nvSpPr>
        <p:spPr>
          <a:xfrm>
            <a:off x="7388352" y="4681728"/>
            <a:ext cx="4590288" cy="566928"/>
          </a:xfrm>
          <a:prstGeom prst="rect">
            <a:avLst/>
          </a:prstGeom>
          <a:solidFill>
            <a:srgbClr val="0D1F3C"/>
          </a:solidFill>
          <a:ln/>
        </p:spPr>
      </p:sp>
      <p:sp>
        <p:nvSpPr>
          <p:cNvPr id="34" name="Shape 32"/>
          <p:cNvSpPr/>
          <p:nvPr/>
        </p:nvSpPr>
        <p:spPr>
          <a:xfrm>
            <a:off x="7388352" y="4681728"/>
            <a:ext cx="73152" cy="566928"/>
          </a:xfrm>
          <a:prstGeom prst="rect">
            <a:avLst/>
          </a:prstGeom>
          <a:solidFill>
            <a:srgbClr val="2563EB"/>
          </a:solidFill>
          <a:ln/>
        </p:spPr>
      </p:sp>
      <p:sp>
        <p:nvSpPr>
          <p:cNvPr id="35" name="Text 33"/>
          <p:cNvSpPr/>
          <p:nvPr/>
        </p:nvSpPr>
        <p:spPr>
          <a:xfrm>
            <a:off x="7534656" y="4754880"/>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Q1  Does your team have a product vision compelling enough that people join specifically to help achieve it?</a:t>
            </a:r>
            <a:endParaRPr lang="en-US" sz="1000" dirty="0"/>
          </a:p>
        </p:txBody>
      </p:sp>
      <p:sp>
        <p:nvSpPr>
          <p:cNvPr id="36" name="Shape 34"/>
          <p:cNvSpPr/>
          <p:nvPr/>
        </p:nvSpPr>
        <p:spPr>
          <a:xfrm>
            <a:off x="7388352" y="5340096"/>
            <a:ext cx="4590288" cy="566928"/>
          </a:xfrm>
          <a:prstGeom prst="rect">
            <a:avLst/>
          </a:prstGeom>
          <a:solidFill>
            <a:srgbClr val="0D1F3C"/>
          </a:solidFill>
          <a:ln/>
        </p:spPr>
      </p:sp>
      <p:sp>
        <p:nvSpPr>
          <p:cNvPr id="37" name="Shape 35"/>
          <p:cNvSpPr/>
          <p:nvPr/>
        </p:nvSpPr>
        <p:spPr>
          <a:xfrm>
            <a:off x="7388352" y="5340096"/>
            <a:ext cx="73152" cy="566928"/>
          </a:xfrm>
          <a:prstGeom prst="rect">
            <a:avLst/>
          </a:prstGeom>
          <a:solidFill>
            <a:srgbClr val="93C5FD"/>
          </a:solidFill>
          <a:ln/>
        </p:spPr>
      </p:sp>
      <p:sp>
        <p:nvSpPr>
          <p:cNvPr id="38" name="Text 36"/>
          <p:cNvSpPr/>
          <p:nvPr/>
        </p:nvSpPr>
        <p:spPr>
          <a:xfrm>
            <a:off x="7534656" y="5413248"/>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Q2  What did your team explicitly decide NOT to build this quarter — and why?</a:t>
            </a:r>
            <a:endParaRPr lang="en-US" sz="1000" dirty="0"/>
          </a:p>
        </p:txBody>
      </p:sp>
      <p:sp>
        <p:nvSpPr>
          <p:cNvPr id="39" name="Shape 37"/>
          <p:cNvSpPr/>
          <p:nvPr/>
        </p:nvSpPr>
        <p:spPr>
          <a:xfrm>
            <a:off x="7388352" y="6172200"/>
            <a:ext cx="4590288" cy="548640"/>
          </a:xfrm>
          <a:prstGeom prst="rect">
            <a:avLst/>
          </a:prstGeom>
          <a:solidFill>
            <a:srgbClr val="2563EB">
              <a:alpha val="80000"/>
            </a:srgbClr>
          </a:solidFill>
          <a:ln/>
        </p:spPr>
      </p:sp>
      <p:sp>
        <p:nvSpPr>
          <p:cNvPr id="40" name="Text 38"/>
          <p:cNvSpPr/>
          <p:nvPr/>
        </p:nvSpPr>
        <p:spPr>
          <a:xfrm>
            <a:off x="7516368" y="6199632"/>
            <a:ext cx="4434840" cy="201168"/>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Product Direction Stack</a:t>
            </a:r>
            <a:endParaRPr lang="en-US" sz="700" dirty="0"/>
          </a:p>
        </p:txBody>
      </p:sp>
      <p:sp>
        <p:nvSpPr>
          <p:cNvPr id="41" name="Text 39"/>
          <p:cNvSpPr/>
          <p:nvPr/>
        </p:nvSpPr>
        <p:spPr>
          <a:xfrm>
            <a:off x="7516368" y="6373368"/>
            <a:ext cx="44348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Vision → Strategy → OKRs → Empowered Teams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3  ›  CH. 21</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Product Vision and Principles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long-term mission and the values that guide every product decision</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Product vision describes where the product is going over the next two to five years — it is the team's north star. Product principles express the values and beliefs that guide product decisions at every level. Together, they reduce decision-making friction, align distributed teams, and provide the 'why' that motivates everyone to do their best work.</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product vision describes the future state the team is working toward — it should be 2–5 years out, inspiring, and customer-centric, not a list of features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Product principles express the beliefs and values that guide decisions when tradeoffs arise — they prevent the team from making inconsistent choices under pressure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 strong vision is a recruiting tool, an alignment mechanism, and a decision filter — all at once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Teams without a clear vision default to reacting to whoever asks the loudest — feature factory behavior becomes inevitable</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3  ›  Chapter 21: Product Vision and Principles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team have a product vision — and does everyone on the team know it and believe in it?</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When was the last time your product vision was used to reject a feature request or make a hard call?</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are your product principles? Can your PM team recite them? Do they actually guide decisions?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If you had to articulate your product vision in one sentence, what would it be?</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Vision + Principles Working Together</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Vision without principles is just a poster on the wall</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3  ›  CH. 22</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Product Vision</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Creating and evangelizing a vision compelling enough to orient the entire team</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A product vision is only valuable if the team believes in it and is guided by it every day. Creating it is just the start — the PM and head of product must continuously evangelize the vision through conversations, presentations, and decisions. The product vision board is a one-page tool that makes the vision concrete: target customers, their needs, the product, and the business goals.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vision board captures the essentials on one page: target customers, their most important needs, the product's core value proposition, and the business objectives it serves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Evangelizing the vision means connecting every product decision back to it — not just creating a slide deck and moving on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PM is responsible for making the vision real to every member of the team — engineers, designers, and stakeholders alike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 vision that only exists in the head of the VP of Product is not a vision — it is a private opinion</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3  ›  Chapter 22: The Product Vision</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frequently does your leadership reference the product vision in team communications and decisions?</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Could every engineer on your team articulate why the product they're building matters to customers?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vision board been updated in the last year? Does it still reflect where the product is heading?</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on your team is the primary evangelist for the product vision — and are they doing it consistently?</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Vision Requires Constant Reinforcement</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Evangelizing the vision is a full-time job</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3  ›  CH. 23</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Product Strategy</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Strategy is about choosing what not to build as much as what to build</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Product strategy is the sequence of products or product investments the team will pursue in order to achieve the product vision. More than anything, strategy requires focus — a clear choice about which customers, which problems, and which markets matter most right now. A strategy that tries to do everything for everyone is not a strategy.</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Product strategy defines the sequence of product investments toward the vision — it answers 'what are we betting on this year and why?'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hardest part of strategy is choosing what NOT to do — most teams are better at adding priorities than removing them</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Strategy must be grounded in market insight, customer research, and competitive analysis — not just internal opinions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 feature list is not a strategy. A strategy explains why this sequence of investments will win in this market for these customers.</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3  ›  Chapter 23: The Product Strategy</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Can you articulate your current product strategy in two sentences — and would your PM team say the same thing?</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did you explicitly deprioritize or stop doing this year? Why?</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Is your strategy informed by deep market and customer research, or primarily by stakeholder opinions and sales requests?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you do differently if you had to cut your roadmap by 50%?</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Focus Is a Competitive Advantage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Strategy = Choosing what NOT to build</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3  ›  CH. 24</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Product Prioritization Techniques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Deciding what to work on is one of the highest-leverage decisions a PM makes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Prioritization is one of the most important and most poorly executed responsibilities in product management. Most teams either default to stakeholder pressure, commit to everything, or use over-engineered scoring systems that give false precision. Effective prioritization is grounded in customer impact, business outcomes, and honest assessment of effort and risk.</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opportunity assessment is a lightweight tool that replaces the traditional MRD: what problem, for whom, tied to which business objective, and how will you know you succeeded?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Prioritization should optimize for impact on outcomes — not just for feature requests or stakeholder satisfaction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Techniques like ICE (Impact, Confidence, Ease) scoring and cost of delay help make tradeoffs explicit and consistent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highest-leverage prioritization decision a PM makes is what NOT to build — saying no is a skill that must be practiced</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3  ›  Chapter 24: Product Prioritization Techniques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framework does your team currently use to prioritize — and does it actually produce better decisions?</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has the final say on prioritization in your organization — the PM, the stakeholders, or whoever shouts loudest?</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Can your PM explain the business rationale for the top three items in the current sprint?</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When did your PM team last say a clear 'no' to a requested feature? What happened?</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Saying No Is a PM Skill</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best prioritization decision is a confident no</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3  ›  CH. 25</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OKR Technique</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OKRs done right connect daily product work to real business outcomes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OKRs (Objectives and Key Results) are a powerful alignment tool when used correctly in product organizations. The objective is a qualitative, inspiring goal. The key results are the quantitative metrics that prove you've achieved it. The critical mistake: making features or project deliverables the key results instead of actual outcomes — behavior changes and business results.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Objectives: qualitative, time-bound, inspiring goals (e.g., 'Become the most trusted tool for enterprise finance teams')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Key Results: quantitative, outcome-focused metrics that prove the objective was achieved — NOT features shipped or projects completed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most common OKR mistake is writing 'ship Feature X' as a key result — this measures output, not outcome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OKRs should cascade: company OKRs → product OKRs → team OKRs — each level translates goals into actions within its scope</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3  ›  Chapter 25: The OKR Technique</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Review your current OKRs: are the key results measuring outcomes (behavior change) or outputs (features)?</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well do your team OKRs connect to the company-level objectives?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Are OKRs used to empower teams (here's what matters, figure out how) or to track tasks (here's what to build)?</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look like if your product team set a bold OKR they only had 70% confidence in achieving?</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Most Common OKR Mistake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OKRs measure outcomes — not output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3  ›  CH. 26</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Product Roadmaps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traditional feature roadmap is one of the most damaging artifacts in product</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Traditional feature-based roadmaps — with specific features assigned to specific dates — undermine empowered product teams. They commit to solutions before discovery, create false confidence in delivery, turn teams into order-takers, and misalign stakeholder expectations. Outcome-based approaches that communicate intent and direction without locking in solutions are far more effective.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Feature roadmaps commit to output (specific features) before discovery — this is backwards. Discovery should inform the roadmap, not the other way around.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Roadmaps with specific dates create delivery pressure that kills the flexibility needed for genuine product discovery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'now / next / later' framing communicates product direction without creating false feature-and-date commitments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Roadmaps are a communication tool — their job is to build shared understanding of where the product is headed, not to be a contract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3  ›  Chapter 26: Product Roadmaps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does your current roadmap look like — features with dates, or outcomes with direction?</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ever shipped something exactly as roadmapped only to discover it didn't solve the problem?</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 you manage stakeholder expectations without committing to specific features and dates?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a 'now / next / later' roadmap look like for your product?</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What a Roadmap Should Actually Be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Roadmaps communicate intent — not commitments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230"/>
        </a:solidFill>
      </p:bgPr>
    </p:bg>
    <p:spTree>
      <p:nvGrpSpPr>
        <p:cNvPr id="1" name=""/>
        <p:cNvGrpSpPr/>
        <p:nvPr/>
      </p:nvGrpSpPr>
      <p:grpSpPr>
        <a:xfrm>
          <a:off x="0" y="0"/>
          <a:ext cx="0" cy="0"/>
          <a:chOff x="0" y="0"/>
          <a:chExt cx="0" cy="0"/>
        </a:xfrm>
      </p:grpSpPr>
      <p:sp>
        <p:nvSpPr>
          <p:cNvPr id="2" name="Shape 0"/>
          <p:cNvSpPr/>
          <p:nvPr/>
        </p:nvSpPr>
        <p:spPr>
          <a:xfrm>
            <a:off x="0" y="0"/>
            <a:ext cx="7132320" cy="182880"/>
          </a:xfrm>
          <a:prstGeom prst="rect">
            <a:avLst/>
          </a:prstGeom>
          <a:solidFill>
            <a:srgbClr val="93C5FD"/>
          </a:solidFill>
          <a:ln/>
        </p:spPr>
      </p:sp>
      <p:sp>
        <p:nvSpPr>
          <p:cNvPr id="3" name="Text 1"/>
          <p:cNvSpPr/>
          <p:nvPr/>
        </p:nvSpPr>
        <p:spPr>
          <a:xfrm>
            <a:off x="-457200" y="91440"/>
            <a:ext cx="3657600" cy="3200400"/>
          </a:xfrm>
          <a:prstGeom prst="rect">
            <a:avLst/>
          </a:prstGeom>
          <a:noFill/>
          <a:ln/>
        </p:spPr>
        <p:txBody>
          <a:bodyPr wrap="square" lIns="0" tIns="0" rIns="0" bIns="0" rtlCol="0" anchor="ctr"/>
          <a:lstStyle/>
          <a:p>
            <a:pPr algn="l" indent="0" marL="0">
              <a:buNone/>
            </a:pPr>
            <a:r>
              <a:rPr lang="en-US" sz="20000" b="1" dirty="0">
                <a:solidFill>
                  <a:srgbClr val="0F172A"/>
                </a:solidFill>
                <a:latin typeface="Arial Black" pitchFamily="34" charset="0"/>
                <a:ea typeface="Arial Black" pitchFamily="34" charset="-122"/>
                <a:cs typeface="Arial Black" pitchFamily="34" charset="-120"/>
              </a:rPr>
              <a:t>04</a:t>
            </a:r>
            <a:endParaRPr lang="en-US" sz="20000" dirty="0"/>
          </a:p>
        </p:txBody>
      </p:sp>
      <p:sp>
        <p:nvSpPr>
          <p:cNvPr id="4" name="Text 2"/>
          <p:cNvSpPr/>
          <p:nvPr/>
        </p:nvSpPr>
        <p:spPr>
          <a:xfrm>
            <a:off x="411480" y="292608"/>
            <a:ext cx="3657600" cy="411480"/>
          </a:xfrm>
          <a:prstGeom prst="rect">
            <a:avLst/>
          </a:prstGeom>
          <a:noFill/>
          <a:ln/>
        </p:spPr>
        <p:txBody>
          <a:bodyPr wrap="square" lIns="0" tIns="0" rIns="0" bIns="0" rtlCol="0" anchor="ctr"/>
          <a:lstStyle/>
          <a:p>
            <a:pPr indent="0" marL="0">
              <a:buNone/>
            </a:pPr>
            <a:r>
              <a:rPr lang="en-US" sz="1100" b="1" spc="500" kern="0" dirty="0">
                <a:solidFill>
                  <a:srgbClr val="93C5FD"/>
                </a:solidFill>
                <a:latin typeface="Arial" pitchFamily="34" charset="0"/>
                <a:ea typeface="Arial" pitchFamily="34" charset="-122"/>
                <a:cs typeface="Arial" pitchFamily="34" charset="-120"/>
              </a:rPr>
              <a:t>PART 04</a:t>
            </a:r>
            <a:endParaRPr lang="en-US" sz="1100" dirty="0"/>
          </a:p>
        </p:txBody>
      </p:sp>
      <p:sp>
        <p:nvSpPr>
          <p:cNvPr id="5" name="Text 3"/>
          <p:cNvSpPr/>
          <p:nvPr/>
        </p:nvSpPr>
        <p:spPr>
          <a:xfrm>
            <a:off x="2743200" y="347472"/>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Arial" pitchFamily="34" charset="0"/>
                <a:ea typeface="Arial" pitchFamily="34" charset="-122"/>
                <a:cs typeface="Arial" pitchFamily="34" charset="-120"/>
              </a:rPr>
              <a:t>Ch. 27–36</a:t>
            </a:r>
            <a:endParaRPr lang="en-US" sz="1000" dirty="0"/>
          </a:p>
        </p:txBody>
      </p:sp>
      <p:sp>
        <p:nvSpPr>
          <p:cNvPr id="6" name="Text 4"/>
          <p:cNvSpPr/>
          <p:nvPr/>
        </p:nvSpPr>
        <p:spPr>
          <a:xfrm>
            <a:off x="411480" y="685800"/>
            <a:ext cx="6537960" cy="10972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The Right Process</a:t>
            </a:r>
            <a:endParaRPr lang="en-US" sz="3200" dirty="0"/>
          </a:p>
        </p:txBody>
      </p:sp>
      <p:sp>
        <p:nvSpPr>
          <p:cNvPr id="7" name="Text 5"/>
          <p:cNvSpPr/>
          <p:nvPr/>
        </p:nvSpPr>
        <p:spPr>
          <a:xfrm>
            <a:off x="411480" y="1764792"/>
            <a:ext cx="6537960" cy="548640"/>
          </a:xfrm>
          <a:prstGeom prst="rect">
            <a:avLst/>
          </a:prstGeom>
          <a:noFill/>
          <a:ln/>
        </p:spPr>
        <p:txBody>
          <a:bodyPr wrap="square" lIns="0" tIns="0" rIns="0" bIns="0" rtlCol="0" anchor="ctr"/>
          <a:lstStyle/>
          <a:p>
            <a:pPr indent="0" marL="0">
              <a:buNone/>
            </a:pPr>
            <a:r>
              <a:rPr lang="en-US" sz="1200" i="1" dirty="0">
                <a:solidFill>
                  <a:srgbClr val="93C5FD"/>
                </a:solidFill>
                <a:latin typeface="Arial" pitchFamily="34" charset="0"/>
                <a:ea typeface="Arial" pitchFamily="34" charset="-122"/>
                <a:cs typeface="Arial" pitchFamily="34" charset="-120"/>
              </a:rPr>
              <a:t>Product discovery is a continuous process of learning fast — before committing to building anything.</a:t>
            </a:r>
            <a:endParaRPr lang="en-US" sz="1200" dirty="0"/>
          </a:p>
        </p:txBody>
      </p:sp>
      <p:sp>
        <p:nvSpPr>
          <p:cNvPr id="8" name="Shape 6"/>
          <p:cNvSpPr/>
          <p:nvPr/>
        </p:nvSpPr>
        <p:spPr>
          <a:xfrm>
            <a:off x="411480" y="2423160"/>
            <a:ext cx="653796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9" name="Shape 7"/>
          <p:cNvSpPr/>
          <p:nvPr/>
        </p:nvSpPr>
        <p:spPr>
          <a:xfrm>
            <a:off x="411480" y="2423160"/>
            <a:ext cx="118872" cy="1371600"/>
          </a:xfrm>
          <a:prstGeom prst="rect">
            <a:avLst/>
          </a:prstGeom>
          <a:solidFill>
            <a:srgbClr val="93C5FD"/>
          </a:solidFill>
          <a:ln/>
        </p:spPr>
      </p:sp>
      <p:sp>
        <p:nvSpPr>
          <p:cNvPr id="10" name="Text 8"/>
          <p:cNvSpPr/>
          <p:nvPr/>
        </p:nvSpPr>
        <p:spPr>
          <a:xfrm>
            <a:off x="658368" y="2487168"/>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1" name="Text 9"/>
          <p:cNvSpPr/>
          <p:nvPr/>
        </p:nvSpPr>
        <p:spPr>
          <a:xfrm>
            <a:off x="658368" y="2761488"/>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right process in product development isn't a waterfall or a sprint ritual — it's a disciplined, continuous practice of product discovery. Teams must test that a product is valuable, usable, feasible, and viable before investing in full delivery. The techniques in this section make learning cheap so that building the right thing becomes far more likely.</a:t>
            </a:r>
            <a:endParaRPr lang="en-US" sz="1150" dirty="0"/>
          </a:p>
        </p:txBody>
      </p:sp>
      <p:sp>
        <p:nvSpPr>
          <p:cNvPr id="12" name="Text 10"/>
          <p:cNvSpPr/>
          <p:nvPr/>
        </p:nvSpPr>
        <p:spPr>
          <a:xfrm>
            <a:off x="411480" y="3950208"/>
            <a:ext cx="2743200" cy="292608"/>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THEMES</a:t>
            </a:r>
            <a:endParaRPr lang="en-US" sz="800" dirty="0"/>
          </a:p>
        </p:txBody>
      </p:sp>
      <p:sp>
        <p:nvSpPr>
          <p:cNvPr id="13" name="Text 11"/>
          <p:cNvSpPr/>
          <p:nvPr/>
        </p:nvSpPr>
        <p:spPr>
          <a:xfrm>
            <a:off x="411480" y="4242816"/>
            <a:ext cx="6537960" cy="233172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Discovery is continuous, not a phase — the best teams alternate between learning what to build and building what they've validated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Four risks must be addressed before committing: value (will customers choose it?), usability (can they use it?), feasibility (can we build it?), and viability (should we?)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Prototypes are the primary discovery tool — use the lightest prototype that can answer the question at hand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Customer access is not optional — teams that don't talk to customers regularly are guessing, not discovering</a:t>
            </a:r>
            <a:endParaRPr lang="en-US" sz="1100" dirty="0"/>
          </a:p>
        </p:txBody>
      </p:sp>
      <p:sp>
        <p:nvSpPr>
          <p:cNvPr id="14" name="Shape 12"/>
          <p:cNvSpPr/>
          <p:nvPr/>
        </p:nvSpPr>
        <p:spPr>
          <a:xfrm>
            <a:off x="0" y="6583680"/>
            <a:ext cx="7132320" cy="274320"/>
          </a:xfrm>
          <a:prstGeom prst="rect">
            <a:avLst/>
          </a:prstGeom>
          <a:solidFill>
            <a:srgbClr val="080E22"/>
          </a:solidFill>
          <a:ln/>
        </p:spPr>
      </p:sp>
      <p:sp>
        <p:nvSpPr>
          <p:cNvPr id="15" name="Text 13"/>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4A5274"/>
                </a:solidFill>
                <a:latin typeface="Arial" pitchFamily="34" charset="0"/>
                <a:ea typeface="Arial" pitchFamily="34" charset="-122"/>
                <a:cs typeface="Arial" pitchFamily="34" charset="-120"/>
              </a:rPr>
              <a:t>INSPIRED  ·  Part 4: The Right Process</a:t>
            </a:r>
            <a:endParaRPr lang="en-US" sz="800" dirty="0"/>
          </a:p>
        </p:txBody>
      </p:sp>
      <p:sp>
        <p:nvSpPr>
          <p:cNvPr id="16" name="Shape 14"/>
          <p:cNvSpPr/>
          <p:nvPr/>
        </p:nvSpPr>
        <p:spPr>
          <a:xfrm>
            <a:off x="7132320" y="0"/>
            <a:ext cx="5029200" cy="6858000"/>
          </a:xfrm>
          <a:prstGeom prst="rect">
            <a:avLst/>
          </a:prstGeom>
          <a:solidFill>
            <a:srgbClr val="0A1628"/>
          </a:solidFill>
          <a:ln/>
        </p:spPr>
      </p:sp>
      <p:sp>
        <p:nvSpPr>
          <p:cNvPr id="17" name="Shape 15"/>
          <p:cNvSpPr/>
          <p:nvPr/>
        </p:nvSpPr>
        <p:spPr>
          <a:xfrm>
            <a:off x="7132320" y="0"/>
            <a:ext cx="5029200" cy="182880"/>
          </a:xfrm>
          <a:prstGeom prst="rect">
            <a:avLst/>
          </a:prstGeom>
          <a:solidFill>
            <a:srgbClr val="2563EB"/>
          </a:solidFill>
          <a:ln/>
        </p:spPr>
      </p:sp>
      <p:sp>
        <p:nvSpPr>
          <p:cNvPr id="18" name="Text 16"/>
          <p:cNvSpPr/>
          <p:nvPr/>
        </p:nvSpPr>
        <p:spPr>
          <a:xfrm>
            <a:off x="7388352" y="292608"/>
            <a:ext cx="4663440" cy="347472"/>
          </a:xfrm>
          <a:prstGeom prst="rect">
            <a:avLst/>
          </a:prstGeom>
          <a:noFill/>
          <a:ln/>
        </p:spPr>
        <p:txBody>
          <a:bodyPr wrap="square" lIns="0" tIns="0" rIns="0" bIns="0" rtlCol="0" anchor="ctr"/>
          <a:lstStyle/>
          <a:p>
            <a:pPr indent="0" marL="0">
              <a:buNone/>
            </a:pPr>
            <a:r>
              <a:rPr lang="en-US" sz="800" b="1" spc="200" kern="0" dirty="0">
                <a:solidFill>
                  <a:srgbClr val="2563EB"/>
                </a:solidFill>
                <a:latin typeface="Arial" pitchFamily="34" charset="0"/>
                <a:ea typeface="Arial" pitchFamily="34" charset="-122"/>
                <a:cs typeface="Arial" pitchFamily="34" charset="-120"/>
              </a:rPr>
              <a:t>CHAPTERS IN THIS PART</a:t>
            </a:r>
            <a:endParaRPr lang="en-US" sz="800" dirty="0"/>
          </a:p>
        </p:txBody>
      </p:sp>
      <p:sp>
        <p:nvSpPr>
          <p:cNvPr id="19" name="Shape 17"/>
          <p:cNvSpPr/>
          <p:nvPr/>
        </p:nvSpPr>
        <p:spPr>
          <a:xfrm>
            <a:off x="7388352" y="749808"/>
            <a:ext cx="4590288" cy="493776"/>
          </a:xfrm>
          <a:prstGeom prst="rect">
            <a:avLst/>
          </a:prstGeom>
          <a:solidFill>
            <a:srgbClr val="0D1F3C"/>
          </a:solidFill>
          <a:ln/>
        </p:spPr>
      </p:sp>
      <p:sp>
        <p:nvSpPr>
          <p:cNvPr id="20" name="Text 18"/>
          <p:cNvSpPr/>
          <p:nvPr/>
        </p:nvSpPr>
        <p:spPr>
          <a:xfrm>
            <a:off x="7479792" y="79552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27  </a:t>
            </a:r>
            <a:pPr indent="0" marL="0">
              <a:buNone/>
            </a:pPr>
            <a:r>
              <a:rPr lang="en-US" sz="1050" b="1" dirty="0">
                <a:solidFill>
                  <a:srgbClr val="FFFFFF"/>
                </a:solidFill>
                <a:latin typeface="Arial" pitchFamily="34" charset="0"/>
                <a:ea typeface="Arial" pitchFamily="34" charset="-122"/>
                <a:cs typeface="Arial" pitchFamily="34" charset="-120"/>
              </a:rPr>
              <a:t>Product Discovery</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What discovery is, why it matters, and how it changes everything</a:t>
            </a:r>
            <a:endParaRPr lang="en-US" sz="1100" dirty="0"/>
          </a:p>
        </p:txBody>
      </p:sp>
      <p:sp>
        <p:nvSpPr>
          <p:cNvPr id="21" name="Shape 19"/>
          <p:cNvSpPr/>
          <p:nvPr/>
        </p:nvSpPr>
        <p:spPr>
          <a:xfrm>
            <a:off x="7388352" y="1316736"/>
            <a:ext cx="4590288" cy="493776"/>
          </a:xfrm>
          <a:prstGeom prst="rect">
            <a:avLst/>
          </a:prstGeom>
          <a:solidFill>
            <a:srgbClr val="0D1F3C"/>
          </a:solidFill>
          <a:ln/>
        </p:spPr>
      </p:sp>
      <p:sp>
        <p:nvSpPr>
          <p:cNvPr id="22" name="Text 20"/>
          <p:cNvSpPr/>
          <p:nvPr/>
        </p:nvSpPr>
        <p:spPr>
          <a:xfrm>
            <a:off x="7479792" y="1362456"/>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28  </a:t>
            </a:r>
            <a:pPr indent="0" marL="0">
              <a:buNone/>
            </a:pPr>
            <a:r>
              <a:rPr lang="en-US" sz="1050" b="1" dirty="0">
                <a:solidFill>
                  <a:srgbClr val="FFFFFF"/>
                </a:solidFill>
                <a:latin typeface="Arial" pitchFamily="34" charset="0"/>
                <a:ea typeface="Arial" pitchFamily="34" charset="-122"/>
                <a:cs typeface="Arial" pitchFamily="34" charset="-120"/>
              </a:rPr>
              <a:t>Discovery Techniques Overview</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The full toolkit: qualitative, quantitative, feasibility, viability</a:t>
            </a:r>
            <a:endParaRPr lang="en-US" sz="1100" dirty="0"/>
          </a:p>
        </p:txBody>
      </p:sp>
      <p:sp>
        <p:nvSpPr>
          <p:cNvPr id="23" name="Shape 21"/>
          <p:cNvSpPr/>
          <p:nvPr/>
        </p:nvSpPr>
        <p:spPr>
          <a:xfrm>
            <a:off x="7388352" y="1883664"/>
            <a:ext cx="4590288" cy="493776"/>
          </a:xfrm>
          <a:prstGeom prst="rect">
            <a:avLst/>
          </a:prstGeom>
          <a:solidFill>
            <a:srgbClr val="0D1F3C"/>
          </a:solidFill>
          <a:ln/>
        </p:spPr>
      </p:sp>
      <p:sp>
        <p:nvSpPr>
          <p:cNvPr id="24" name="Text 22"/>
          <p:cNvSpPr/>
          <p:nvPr/>
        </p:nvSpPr>
        <p:spPr>
          <a:xfrm>
            <a:off x="7479792" y="1929384"/>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29  </a:t>
            </a:r>
            <a:pPr indent="0" marL="0">
              <a:buNone/>
            </a:pPr>
            <a:r>
              <a:rPr lang="en-US" sz="1050" b="1" dirty="0">
                <a:solidFill>
                  <a:srgbClr val="FFFFFF"/>
                </a:solidFill>
                <a:latin typeface="Arial" pitchFamily="34" charset="0"/>
                <a:ea typeface="Arial" pitchFamily="34" charset="-122"/>
                <a:cs typeface="Arial" pitchFamily="34" charset="-120"/>
              </a:rPr>
              <a:t>Opportunity Assessment</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A lightweight tool that replaces the traditional PRD</a:t>
            </a:r>
            <a:endParaRPr lang="en-US" sz="1100" dirty="0"/>
          </a:p>
        </p:txBody>
      </p:sp>
      <p:sp>
        <p:nvSpPr>
          <p:cNvPr id="25" name="Shape 23"/>
          <p:cNvSpPr/>
          <p:nvPr/>
        </p:nvSpPr>
        <p:spPr>
          <a:xfrm>
            <a:off x="7388352" y="2450592"/>
            <a:ext cx="4590288" cy="493776"/>
          </a:xfrm>
          <a:prstGeom prst="rect">
            <a:avLst/>
          </a:prstGeom>
          <a:solidFill>
            <a:srgbClr val="0D1F3C"/>
          </a:solidFill>
          <a:ln/>
        </p:spPr>
      </p:sp>
      <p:sp>
        <p:nvSpPr>
          <p:cNvPr id="26" name="Text 24"/>
          <p:cNvSpPr/>
          <p:nvPr/>
        </p:nvSpPr>
        <p:spPr>
          <a:xfrm>
            <a:off x="7479792" y="2496312"/>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30  </a:t>
            </a:r>
            <a:pPr indent="0" marL="0">
              <a:buNone/>
            </a:pPr>
            <a:r>
              <a:rPr lang="en-US" sz="1050" b="1" dirty="0">
                <a:solidFill>
                  <a:srgbClr val="FFFFFF"/>
                </a:solidFill>
                <a:latin typeface="Arial" pitchFamily="34" charset="0"/>
                <a:ea typeface="Arial" pitchFamily="34" charset="-122"/>
                <a:cs typeface="Arial" pitchFamily="34" charset="-120"/>
              </a:rPr>
              <a:t>Customer Discovery Programs</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Building a systematic, ongoing connection to real customers</a:t>
            </a:r>
            <a:endParaRPr lang="en-US" sz="1100" dirty="0"/>
          </a:p>
        </p:txBody>
      </p:sp>
      <p:sp>
        <p:nvSpPr>
          <p:cNvPr id="27" name="Shape 25"/>
          <p:cNvSpPr/>
          <p:nvPr/>
        </p:nvSpPr>
        <p:spPr>
          <a:xfrm>
            <a:off x="7388352" y="3017520"/>
            <a:ext cx="4590288" cy="493776"/>
          </a:xfrm>
          <a:prstGeom prst="rect">
            <a:avLst/>
          </a:prstGeom>
          <a:solidFill>
            <a:srgbClr val="0D1F3C"/>
          </a:solidFill>
          <a:ln/>
        </p:spPr>
      </p:sp>
      <p:sp>
        <p:nvSpPr>
          <p:cNvPr id="28" name="Text 26"/>
          <p:cNvSpPr/>
          <p:nvPr/>
        </p:nvSpPr>
        <p:spPr>
          <a:xfrm>
            <a:off x="7479792" y="3063240"/>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31  </a:t>
            </a:r>
            <a:pPr indent="0" marL="0">
              <a:buNone/>
            </a:pPr>
            <a:r>
              <a:rPr lang="en-US" sz="1050" b="1" dirty="0">
                <a:solidFill>
                  <a:srgbClr val="FFFFFF"/>
                </a:solidFill>
                <a:latin typeface="Arial" pitchFamily="34" charset="0"/>
                <a:ea typeface="Arial" pitchFamily="34" charset="-122"/>
                <a:cs typeface="Arial" pitchFamily="34" charset="-120"/>
              </a:rPr>
              <a:t>Prototyping</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Types of prototypes and when to use each one</a:t>
            </a:r>
            <a:endParaRPr lang="en-US" sz="1100" dirty="0"/>
          </a:p>
        </p:txBody>
      </p:sp>
      <p:sp>
        <p:nvSpPr>
          <p:cNvPr id="29" name="Shape 27"/>
          <p:cNvSpPr/>
          <p:nvPr/>
        </p:nvSpPr>
        <p:spPr>
          <a:xfrm>
            <a:off x="7388352" y="3584448"/>
            <a:ext cx="4590288" cy="493776"/>
          </a:xfrm>
          <a:prstGeom prst="rect">
            <a:avLst/>
          </a:prstGeom>
          <a:solidFill>
            <a:srgbClr val="0D1F3C"/>
          </a:solidFill>
          <a:ln/>
        </p:spPr>
      </p:sp>
      <p:sp>
        <p:nvSpPr>
          <p:cNvPr id="30" name="Text 28"/>
          <p:cNvSpPr/>
          <p:nvPr/>
        </p:nvSpPr>
        <p:spPr>
          <a:xfrm>
            <a:off x="7479792" y="363016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32  </a:t>
            </a:r>
            <a:pPr indent="0" marL="0">
              <a:buNone/>
            </a:pPr>
            <a:r>
              <a:rPr lang="en-US" sz="1050" b="1" dirty="0">
                <a:solidFill>
                  <a:srgbClr val="FFFFFF"/>
                </a:solidFill>
                <a:latin typeface="Arial" pitchFamily="34" charset="0"/>
                <a:ea typeface="Arial" pitchFamily="34" charset="-122"/>
                <a:cs typeface="Arial" pitchFamily="34" charset="-120"/>
              </a:rPr>
              <a:t>Testing Value</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Demand testing and fake door techniques to validate value fast</a:t>
            </a:r>
            <a:endParaRPr lang="en-US" sz="1100" dirty="0"/>
          </a:p>
        </p:txBody>
      </p:sp>
      <p:sp>
        <p:nvSpPr>
          <p:cNvPr id="31" name="Shape 29"/>
          <p:cNvSpPr/>
          <p:nvPr/>
        </p:nvSpPr>
        <p:spPr>
          <a:xfrm>
            <a:off x="7388352" y="4206240"/>
            <a:ext cx="4590288" cy="36576"/>
          </a:xfrm>
          <a:prstGeom prst="rect">
            <a:avLst/>
          </a:prstGeom>
          <a:solidFill>
            <a:srgbClr val="2A3460"/>
          </a:solidFill>
          <a:ln/>
        </p:spPr>
      </p:sp>
      <p:sp>
        <p:nvSpPr>
          <p:cNvPr id="32" name="Text 30"/>
          <p:cNvSpPr/>
          <p:nvPr/>
        </p:nvSpPr>
        <p:spPr>
          <a:xfrm>
            <a:off x="7388352" y="4315968"/>
            <a:ext cx="4663440" cy="320040"/>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33" name="Shape 31"/>
          <p:cNvSpPr/>
          <p:nvPr/>
        </p:nvSpPr>
        <p:spPr>
          <a:xfrm>
            <a:off x="7388352" y="4681728"/>
            <a:ext cx="4590288" cy="566928"/>
          </a:xfrm>
          <a:prstGeom prst="rect">
            <a:avLst/>
          </a:prstGeom>
          <a:solidFill>
            <a:srgbClr val="0D1F3C"/>
          </a:solidFill>
          <a:ln/>
        </p:spPr>
      </p:sp>
      <p:sp>
        <p:nvSpPr>
          <p:cNvPr id="34" name="Shape 32"/>
          <p:cNvSpPr/>
          <p:nvPr/>
        </p:nvSpPr>
        <p:spPr>
          <a:xfrm>
            <a:off x="7388352" y="4681728"/>
            <a:ext cx="73152" cy="566928"/>
          </a:xfrm>
          <a:prstGeom prst="rect">
            <a:avLst/>
          </a:prstGeom>
          <a:solidFill>
            <a:srgbClr val="2563EB"/>
          </a:solidFill>
          <a:ln/>
        </p:spPr>
      </p:sp>
      <p:sp>
        <p:nvSpPr>
          <p:cNvPr id="35" name="Text 33"/>
          <p:cNvSpPr/>
          <p:nvPr/>
        </p:nvSpPr>
        <p:spPr>
          <a:xfrm>
            <a:off x="7534656" y="4754880"/>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Q1  How much of your team's time is spent in product discovery vs. product delivery right now?</a:t>
            </a:r>
            <a:endParaRPr lang="en-US" sz="1000" dirty="0"/>
          </a:p>
        </p:txBody>
      </p:sp>
      <p:sp>
        <p:nvSpPr>
          <p:cNvPr id="36" name="Shape 34"/>
          <p:cNvSpPr/>
          <p:nvPr/>
        </p:nvSpPr>
        <p:spPr>
          <a:xfrm>
            <a:off x="7388352" y="5340096"/>
            <a:ext cx="4590288" cy="566928"/>
          </a:xfrm>
          <a:prstGeom prst="rect">
            <a:avLst/>
          </a:prstGeom>
          <a:solidFill>
            <a:srgbClr val="0D1F3C"/>
          </a:solidFill>
          <a:ln/>
        </p:spPr>
      </p:sp>
      <p:sp>
        <p:nvSpPr>
          <p:cNvPr id="37" name="Shape 35"/>
          <p:cNvSpPr/>
          <p:nvPr/>
        </p:nvSpPr>
        <p:spPr>
          <a:xfrm>
            <a:off x="7388352" y="5340096"/>
            <a:ext cx="73152" cy="566928"/>
          </a:xfrm>
          <a:prstGeom prst="rect">
            <a:avLst/>
          </a:prstGeom>
          <a:solidFill>
            <a:srgbClr val="93C5FD"/>
          </a:solidFill>
          <a:ln/>
        </p:spPr>
      </p:sp>
      <p:sp>
        <p:nvSpPr>
          <p:cNvPr id="38" name="Text 36"/>
          <p:cNvSpPr/>
          <p:nvPr/>
        </p:nvSpPr>
        <p:spPr>
          <a:xfrm>
            <a:off x="7534656" y="5413248"/>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Q2  When was the last time a discovery finding caused your team to significantly change direction before building?</a:t>
            </a:r>
            <a:endParaRPr lang="en-US" sz="1000" dirty="0"/>
          </a:p>
        </p:txBody>
      </p:sp>
      <p:sp>
        <p:nvSpPr>
          <p:cNvPr id="39" name="Shape 37"/>
          <p:cNvSpPr/>
          <p:nvPr/>
        </p:nvSpPr>
        <p:spPr>
          <a:xfrm>
            <a:off x="7388352" y="6172200"/>
            <a:ext cx="4590288" cy="548640"/>
          </a:xfrm>
          <a:prstGeom prst="rect">
            <a:avLst/>
          </a:prstGeom>
          <a:solidFill>
            <a:srgbClr val="2563EB">
              <a:alpha val="80000"/>
            </a:srgbClr>
          </a:solidFill>
          <a:ln/>
        </p:spPr>
      </p:sp>
      <p:sp>
        <p:nvSpPr>
          <p:cNvPr id="40" name="Text 38"/>
          <p:cNvSpPr/>
          <p:nvPr/>
        </p:nvSpPr>
        <p:spPr>
          <a:xfrm>
            <a:off x="7516368" y="6199632"/>
            <a:ext cx="4434840" cy="201168"/>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Purpose of Product Discovery</a:t>
            </a:r>
            <a:endParaRPr lang="en-US" sz="700" dirty="0"/>
          </a:p>
        </p:txBody>
      </p:sp>
      <p:sp>
        <p:nvSpPr>
          <p:cNvPr id="41" name="Text 39"/>
          <p:cNvSpPr/>
          <p:nvPr/>
        </p:nvSpPr>
        <p:spPr>
          <a:xfrm>
            <a:off x="7516368" y="6373368"/>
            <a:ext cx="44348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Learn fast. Build right.</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27</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Product Discovery</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process of figuring out what to build before committing to build it</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Product discovery is the ongoing discipline of determining which products to build and how to build them — before committing to full development. It addresses the four fundamental risks: value (will customers choose it?), usability (can they use it?), feasibility (can engineers build it?), and viability (does it work for the business?). Discovery reduces the cost of being wrong from months of wasted engineering to hours of learning.</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Discovery answers the question 'what should we build?' before delivery answers 'how do we build it well?'</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goal of discovery: validate that a product is valuable, usable, feasible, and viable at the lowest possible cost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Discovery is continuous — not a phase that happens before a project starts. The best teams are always in both discovery and delivery simultaneously.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most expensive mistake in product is building the wrong thing well. Discovery exists to prevent that.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27: Product Discovery</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is the current ratio of discovery to delivery in your team's weekly work?</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ever spent months building something and shipped it only to find customers didn't want it? What would discovery have changed?</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Which of the four risks (value, usability, feasibility, viability) does your team test most? Least?</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take to make discovery a formal, ongoing part of every product team's week?</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Why Discovery Exists</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most expensive mistake is building the wrong thing well</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28</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Discovery Techniques Overview</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A toolkit of techniques — each addressing a different type of risk</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Product discovery is not one technique — it's a family of techniques that address different types of risk. Qualitative techniques reveal why customers behave as they do. Quantitative techniques reveal what is actually happening at scale. Feasibility techniques test whether something can be built. Viability techniques test whether it should be built. Strong product teams have fluency across the full toolkit.</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Qualitative techniques (interviews, usability tests, prototype reviews) answer 'why' — they reveal customer motivations and pain points that data can't show</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Quantitative techniques (A/B tests, analytics, surveys) answer 'what' and 'how many' — they validate at scale what qualitative discovered in depth</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Feasibility techniques (engineering spikes, technical prototypes) confirm that what's been designed can actually be built with the available technology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Viability techniques (legal review, financial modeling, stakeholder review) confirm that what's been validated technically should be built given business constraints</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28: Discovery Techniques Overview</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Which types of discovery techniques does your team use most — and which do you rarely or never use?</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 you decide which technique to use for a given product question?</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ever tested feasibility only to find it wasn't technically possible? How did that change your approach?</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a full discovery sprint look like for your next major product bet?</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Discovery Toolkit</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Match the technique to the type of risk</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29</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Opportunity Assessment</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A lightweight tool that replaces the traditional product requirements document</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The opportunity assessment is a brief internal document that replaces the traditional MRD or PRD. It answers four questions before any solutioning begins: What problem are we solving? For whom? How does it tie to a business objective? And how will we know we've succeeded? It creates shared understanding without false precision — and it is written collaboratively with engineering and design, not handed to them.</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four questions: What problem are we solving? Who has this problem? How does solving it advance a business objective? What does success look like?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opportunity assessment replaces the traditional MRD/PRD — no lengthy requirements documents needed before discovery begins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It is written collaboratively by PM, design, and engineering — not by the PM alone and handed off</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point is clarity on the problem, not a commitment to a solution — solutions emerge from discovery</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29: Opportunity Assessment</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team currently write opportunity assessments — or do you jump straight to solution design?</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writes your product requirements — the PM alone, or collaboratively with design and engineering?</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Can you answer all four opportunity assessment questions for your current top priority?</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usually gets skipped when your team is under pressure to move fast: defining the problem or testing the solution?</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Opportunity Assessment</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Define the problem before designing the solution</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30</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Customer Discovery Programs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Systematic, ongoing connection to real customers — not ad-hoc visits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One of the most common failure modes in product is building without regular, direct customer access. Customer discovery programs create a structured, repeatable cadence of customer exposure for the product team. This is not a one-off research project — it is a weekly discipline. Teams that talk to customers every week make better decisions in every other meeting.</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Customer discovery programs create a regular, structured cadence of customer access — not one-off user studies or annual surveys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High-performing product teams conduct customer interviews weekly — this is the norm, not a luxury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Discovery program participants are recruited from existing customers, prospects, or target segments based on specific research needs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goal is not just data collection — it is developing genuine customer empathy that informs every product decision</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30: Customer Discovery Programs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often does your product team talk directly to customers or users — once a quarter, once a month, or weekly?</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Is customer access structured and scheduled — or does it happen only when a project requires it?</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participates in customer interviews at your company — just researchers, or also PMs, designers, and engineers?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change about your team's product decisions if everyone talked to a customer every week?</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Weekly Customer Habit</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Talk to customers every week — without exception</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31</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Prototyping</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Prototypes are learning tools — not early versions of the product</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Prototypes are the primary tool for learning in product discovery. They come in several types — feasibility prototypes (built by engineers to test technical approaches), user prototypes (created by designers to test value and usability), live-data prototypes (real data in simulated UI), and hybrid prototypes. The key rule: use the lowest fidelity prototype that can answer the question at hand.</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Feasibility prototypes: code written by engineers to test whether a technical approach is viable — not for users, not polished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User prototypes: design artifacts (low or high fidelity) used to test value and usability with real users — not meant to be shipped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Live-data prototypes: real data combined with simulated interaction — useful for testing whether the product makes sense with actual content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lightest prototype that can answer the question is always the right choice — over-investing in prototype fidelity delays learning</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31: Prototyping</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types of prototypes does your team currently use? Are you skipping any that could accelerate learning?</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ever built a high-fidelity prototype when a sketch would have answered the question just as well?</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quickly can your designer go from idea to testable prototype?</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What's the riskiest product assumption you have right now — and what's the lightest prototype that could test it?</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Prototype Principle</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Test the riskiest assumption with the cheapest prototype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32</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Testing Value</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Validating demand before building a single line of production code</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Testing value means determining whether customers actually want what you're planning to build — before you build it. Techniques like fake door tests (links to non-existent features that measure click-through demand), landing pages, and demand-validation prototypes let teams learn whether there is a real market for an idea at minimal cost.</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Fake door / smoke test: present a feature or product that doesn't exist yet, measure real demand (clicks, sign-ups, requests), and only build it if the signal is strong</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 landing page with a waitlist or pre-order captures real commitment from potential customers — much stronger signal than survey responses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goal of value testing is to find evidence that customers will actually choose this product — not just say they like it in an interview</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Value testing protects engineering investment by filtering out ideas with weak demand before they consume sprint capacity</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32: Testing Value</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ever used a fake door or smoke test before building a feature? What did you learn?</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confident are you that your current roadmap items have validated customer demand vs. assumed customer demand?</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mean for your team to only build things that have passed a basic value validation test?</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What's the difference between a customer saying they want something and actually paying/using it when it exists?</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Testing Value First</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Measure demand before you build supply</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33</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Testing Usability</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Five users in a room will reveal what months of internal debate never will</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Usability testing with real users is one of the highest-leverage activities in product discovery. Five users with a prototype — even a rough one — will reveal the core usability problems that no amount of internal review will surface. The goal is not to prove the design works; it is to find where it breaks, and to find it before engineering invests in building it.</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Usability testing with five representative users reveals the majority of significant usability issues — more users provide diminishing returns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goal is to find where the design fails, not to confirm it works — if no one struggles, either the design is exceptional or the test is too easy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Even rough wireframes or paper prototypes are sufficient for usability testing — high fidelity is not required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Watching a real user struggle with a design in real time is far more persuasive to stakeholders than any amount of written analysis</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33: Testing Usability</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frequently does your team test designs with real users before committing to development?</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When was the last time a usability test caused your team to substantially change a design?</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watches usability tests at your company — only researchers, or also PMs and engineers?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assumptions about user behavior have you been carrying that you've never actually tested?</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Power of Usability Testing</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5 users will find what 50 meetings never will</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34</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Testing Feasibility and Viability</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Validating technical feasibility and business fit before committing to build</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Beyond value and usability, every product idea must pass two more tests before committing to build. Feasibility testing — done by engineers — confirms that the technology can actually do what the product requires. Viability testing confirms that legal, financial, compliance, and operational constraints don't make the idea impossible or inadvisable to ship. Both are part of discovery, not afterthoughts.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Feasibility testing: engineers write spikes or feasibility prototypes to validate that the required technical approach is achievable within reasonable constraints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Viability testing: PM coordinates with legal, finance, compliance, and operations early — not at the end — to surface constraints before design is finalized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Both types of risk are easier and cheaper to address in discovery than after development has started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 product idea that is valuable, usable, but infeasible or not viable is still a failed idea — all four risks must be addressed</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34: Testing Feasibility and Viability</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early in your process do engineers validate technical feasibility — before design, or after it?</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ever built something valuable and usable that got blocked by legal, compliance, or financial viability late in the process?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Who in your organization is responsible for surfacing viability constraints early in product discovery?</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What's the biggest technical or business viability risk in your current roadmap — and has it been tested?</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Four Discovery Tests</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All four risks must be addressed — not just value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35</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Hack Days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Giving engineers unstructured time to innovate beyond the roadmap</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Hack days — short, structured periods of self-directed innovation — give engineers and designers time to pursue ideas outside the roadmap. When done well, they surface some of the best product improvements, build team morale, and demonstrate genuine respect for the engineering team's creativity. The best hack days have a theme to focus energy; purely open-ended ones often produce scattered results.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Hack days give engineers protected time to explore ideas they believe in, independent of the roadmap and stakeholder priorities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A theme (e.g., 'reduce customer friction', 'improve developer tooling') channels creativity without eliminating autonomy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Many production features, performance improvements, and even entire product lines have originated from hack days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Beyond the output, hack days are a signal to the team: we trust you, we value your ideas, you are not just executing a backlog</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35: Hack Days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team have structured time for exploration outside the roadmap — hack days, innovation sprints, 20% time?</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is the best product idea your engineering team has generated that didn't come from the PM or a stakeholder?</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If you gave every engineer one full day a month to work on anything they wanted, what do you think would emerge?</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stops your team from doing hack days more regularly — and is that a real constraint or a culture problem?</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Hack Days as a Culture Signal</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Trust engineers with time. Get innovation back.</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4  ›  CH. 36</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Discovery Sprints</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Time-boxed, focused discovery when the stakes are high and the problem is ambiguous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A discovery sprint is a structured, time-boxed period (typically one to two weeks) in which a cross-functional team sets aside all other work to deeply investigate a specific high-stakes product challenge. The output is not working software — it is validated direction, a tested prototype, and clear evidence about the right path forward.</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Discovery sprints are appropriate when facing a high-stakes, ambiguous challenge that requires focused attention beyond normal discovery cadence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team (PM, designer, engineer, and often a stakeholder) works exclusively on the discovery question for the duration of the sprint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output is learning and validated direction — not a product specification, not a delivery commitment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Discovery sprints compress weeks of ad-hoc thinking into focused, structured learning that produces faster, more confident decisions</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4  ›  Chapter 36: Discovery Sprints</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is the most ambiguous, high-stakes product challenge your team is facing right now?</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 ever run a dedicated discovery sprint — and if so, how did it change your direction?</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it take to get a full cross-functional team to focus on one problem for two weeks, ignoring everything else?</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do you currently make high-stakes product decisions — and how much evidence underpins them?</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When to Run a Discovery Sprint</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A discovery sprint produces evidence — not software</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230"/>
        </a:solidFill>
      </p:bgPr>
    </p:bg>
    <p:spTree>
      <p:nvGrpSpPr>
        <p:cNvPr id="1" name=""/>
        <p:cNvGrpSpPr/>
        <p:nvPr/>
      </p:nvGrpSpPr>
      <p:grpSpPr>
        <a:xfrm>
          <a:off x="0" y="0"/>
          <a:ext cx="0" cy="0"/>
          <a:chOff x="0" y="0"/>
          <a:chExt cx="0" cy="0"/>
        </a:xfrm>
      </p:grpSpPr>
      <p:sp>
        <p:nvSpPr>
          <p:cNvPr id="2" name="Shape 0"/>
          <p:cNvSpPr/>
          <p:nvPr/>
        </p:nvSpPr>
        <p:spPr>
          <a:xfrm>
            <a:off x="0" y="0"/>
            <a:ext cx="7132320" cy="182880"/>
          </a:xfrm>
          <a:prstGeom prst="rect">
            <a:avLst/>
          </a:prstGeom>
          <a:solidFill>
            <a:srgbClr val="93C5FD"/>
          </a:solidFill>
          <a:ln/>
        </p:spPr>
      </p:sp>
      <p:sp>
        <p:nvSpPr>
          <p:cNvPr id="3" name="Text 1"/>
          <p:cNvSpPr/>
          <p:nvPr/>
        </p:nvSpPr>
        <p:spPr>
          <a:xfrm>
            <a:off x="-457200" y="91440"/>
            <a:ext cx="3657600" cy="3200400"/>
          </a:xfrm>
          <a:prstGeom prst="rect">
            <a:avLst/>
          </a:prstGeom>
          <a:noFill/>
          <a:ln/>
        </p:spPr>
        <p:txBody>
          <a:bodyPr wrap="square" lIns="0" tIns="0" rIns="0" bIns="0" rtlCol="0" anchor="ctr"/>
          <a:lstStyle/>
          <a:p>
            <a:pPr algn="l" indent="0" marL="0">
              <a:buNone/>
            </a:pPr>
            <a:r>
              <a:rPr lang="en-US" sz="20000" b="1" dirty="0">
                <a:solidFill>
                  <a:srgbClr val="0F172A"/>
                </a:solidFill>
                <a:latin typeface="Arial Black" pitchFamily="34" charset="0"/>
                <a:ea typeface="Arial Black" pitchFamily="34" charset="-122"/>
                <a:cs typeface="Arial Black" pitchFamily="34" charset="-120"/>
              </a:rPr>
              <a:t>05</a:t>
            </a:r>
            <a:endParaRPr lang="en-US" sz="20000" dirty="0"/>
          </a:p>
        </p:txBody>
      </p:sp>
      <p:sp>
        <p:nvSpPr>
          <p:cNvPr id="4" name="Text 2"/>
          <p:cNvSpPr/>
          <p:nvPr/>
        </p:nvSpPr>
        <p:spPr>
          <a:xfrm>
            <a:off x="411480" y="292608"/>
            <a:ext cx="3657600" cy="411480"/>
          </a:xfrm>
          <a:prstGeom prst="rect">
            <a:avLst/>
          </a:prstGeom>
          <a:noFill/>
          <a:ln/>
        </p:spPr>
        <p:txBody>
          <a:bodyPr wrap="square" lIns="0" tIns="0" rIns="0" bIns="0" rtlCol="0" anchor="ctr"/>
          <a:lstStyle/>
          <a:p>
            <a:pPr indent="0" marL="0">
              <a:buNone/>
            </a:pPr>
            <a:r>
              <a:rPr lang="en-US" sz="1100" b="1" spc="500" kern="0" dirty="0">
                <a:solidFill>
                  <a:srgbClr val="93C5FD"/>
                </a:solidFill>
                <a:latin typeface="Arial" pitchFamily="34" charset="0"/>
                <a:ea typeface="Arial" pitchFamily="34" charset="-122"/>
                <a:cs typeface="Arial" pitchFamily="34" charset="-120"/>
              </a:rPr>
              <a:t>PART 05</a:t>
            </a:r>
            <a:endParaRPr lang="en-US" sz="1100" dirty="0"/>
          </a:p>
        </p:txBody>
      </p:sp>
      <p:sp>
        <p:nvSpPr>
          <p:cNvPr id="5" name="Text 3"/>
          <p:cNvSpPr/>
          <p:nvPr/>
        </p:nvSpPr>
        <p:spPr>
          <a:xfrm>
            <a:off x="2743200" y="347472"/>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Arial" pitchFamily="34" charset="0"/>
                <a:ea typeface="Arial" pitchFamily="34" charset="-122"/>
                <a:cs typeface="Arial" pitchFamily="34" charset="-120"/>
              </a:rPr>
              <a:t>Ch. 37–40</a:t>
            </a:r>
            <a:endParaRPr lang="en-US" sz="1000" dirty="0"/>
          </a:p>
        </p:txBody>
      </p:sp>
      <p:sp>
        <p:nvSpPr>
          <p:cNvPr id="6" name="Text 4"/>
          <p:cNvSpPr/>
          <p:nvPr/>
        </p:nvSpPr>
        <p:spPr>
          <a:xfrm>
            <a:off x="411480" y="685800"/>
            <a:ext cx="6537960" cy="10972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The Right Culture</a:t>
            </a:r>
            <a:endParaRPr lang="en-US" sz="3200" dirty="0"/>
          </a:p>
        </p:txBody>
      </p:sp>
      <p:sp>
        <p:nvSpPr>
          <p:cNvPr id="7" name="Text 5"/>
          <p:cNvSpPr/>
          <p:nvPr/>
        </p:nvSpPr>
        <p:spPr>
          <a:xfrm>
            <a:off x="411480" y="1764792"/>
            <a:ext cx="6537960" cy="548640"/>
          </a:xfrm>
          <a:prstGeom prst="rect">
            <a:avLst/>
          </a:prstGeom>
          <a:noFill/>
          <a:ln/>
        </p:spPr>
        <p:txBody>
          <a:bodyPr wrap="square" lIns="0" tIns="0" rIns="0" bIns="0" rtlCol="0" anchor="ctr"/>
          <a:lstStyle/>
          <a:p>
            <a:pPr indent="0" marL="0">
              <a:buNone/>
            </a:pPr>
            <a:r>
              <a:rPr lang="en-US" sz="1200" i="1" dirty="0">
                <a:solidFill>
                  <a:srgbClr val="93C5FD"/>
                </a:solidFill>
                <a:latin typeface="Arial" pitchFamily="34" charset="0"/>
                <a:ea typeface="Arial" pitchFamily="34" charset="-122"/>
                <a:cs typeface="Arial" pitchFamily="34" charset="-120"/>
              </a:rPr>
              <a:t>All the right people, product thinking, and process in the world won't matter without a culture that supports empowered product teams.</a:t>
            </a:r>
            <a:endParaRPr lang="en-US" sz="1200" dirty="0"/>
          </a:p>
        </p:txBody>
      </p:sp>
      <p:sp>
        <p:nvSpPr>
          <p:cNvPr id="8" name="Shape 6"/>
          <p:cNvSpPr/>
          <p:nvPr/>
        </p:nvSpPr>
        <p:spPr>
          <a:xfrm>
            <a:off x="411480" y="2423160"/>
            <a:ext cx="653796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9" name="Shape 7"/>
          <p:cNvSpPr/>
          <p:nvPr/>
        </p:nvSpPr>
        <p:spPr>
          <a:xfrm>
            <a:off x="411480" y="2423160"/>
            <a:ext cx="118872" cy="1371600"/>
          </a:xfrm>
          <a:prstGeom prst="rect">
            <a:avLst/>
          </a:prstGeom>
          <a:solidFill>
            <a:srgbClr val="93C5FD"/>
          </a:solidFill>
          <a:ln/>
        </p:spPr>
      </p:sp>
      <p:sp>
        <p:nvSpPr>
          <p:cNvPr id="10" name="Text 8"/>
          <p:cNvSpPr/>
          <p:nvPr/>
        </p:nvSpPr>
        <p:spPr>
          <a:xfrm>
            <a:off x="658368" y="2487168"/>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1" name="Text 9"/>
          <p:cNvSpPr/>
          <p:nvPr/>
        </p:nvSpPr>
        <p:spPr>
          <a:xfrm>
            <a:off x="658368" y="2761488"/>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Product transformation is ultimately a culture transformation. The behaviors, norms, and incentives in an organization either enable great product work or undermine it. Strong product cultures are characterized by customer obsession, outcome orientation, continuous learning, and genuine trust in empowered teams — and these take years of consistent leadership to build.</a:t>
            </a:r>
            <a:endParaRPr lang="en-US" sz="1150" dirty="0"/>
          </a:p>
        </p:txBody>
      </p:sp>
      <p:sp>
        <p:nvSpPr>
          <p:cNvPr id="12" name="Text 10"/>
          <p:cNvSpPr/>
          <p:nvPr/>
        </p:nvSpPr>
        <p:spPr>
          <a:xfrm>
            <a:off x="411480" y="3950208"/>
            <a:ext cx="2743200" cy="292608"/>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THEMES</a:t>
            </a:r>
            <a:endParaRPr lang="en-US" sz="800" dirty="0"/>
          </a:p>
        </p:txBody>
      </p:sp>
      <p:sp>
        <p:nvSpPr>
          <p:cNvPr id="13" name="Text 11"/>
          <p:cNvSpPr/>
          <p:nvPr/>
        </p:nvSpPr>
        <p:spPr>
          <a:xfrm>
            <a:off x="411480" y="4242816"/>
            <a:ext cx="6537960" cy="233172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Good product team culture is built on trust, customer obsession, and accountability for outcomes — not on process compliance or activity metrics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Loss of innovation and loss of velocity each have specific, diagnosable, addressable root causes — neither is inevitable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Leadership behavior is the single strongest signal of culture — what leaders do under pressure defines what the team believes is real</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Transformation from feature factory to empowered product team is hard, takes 2–3 years of consistent effort, and requires executive commitment</a:t>
            </a:r>
            <a:endParaRPr lang="en-US" sz="1100" dirty="0"/>
          </a:p>
        </p:txBody>
      </p:sp>
      <p:sp>
        <p:nvSpPr>
          <p:cNvPr id="14" name="Shape 12"/>
          <p:cNvSpPr/>
          <p:nvPr/>
        </p:nvSpPr>
        <p:spPr>
          <a:xfrm>
            <a:off x="0" y="6583680"/>
            <a:ext cx="7132320" cy="274320"/>
          </a:xfrm>
          <a:prstGeom prst="rect">
            <a:avLst/>
          </a:prstGeom>
          <a:solidFill>
            <a:srgbClr val="080E22"/>
          </a:solidFill>
          <a:ln/>
        </p:spPr>
      </p:sp>
      <p:sp>
        <p:nvSpPr>
          <p:cNvPr id="15" name="Text 13"/>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4A5274"/>
                </a:solidFill>
                <a:latin typeface="Arial" pitchFamily="34" charset="0"/>
                <a:ea typeface="Arial" pitchFamily="34" charset="-122"/>
                <a:cs typeface="Arial" pitchFamily="34" charset="-120"/>
              </a:rPr>
              <a:t>INSPIRED  ·  Part 5: The Right Culture</a:t>
            </a:r>
            <a:endParaRPr lang="en-US" sz="800" dirty="0"/>
          </a:p>
        </p:txBody>
      </p:sp>
      <p:sp>
        <p:nvSpPr>
          <p:cNvPr id="16" name="Shape 14"/>
          <p:cNvSpPr/>
          <p:nvPr/>
        </p:nvSpPr>
        <p:spPr>
          <a:xfrm>
            <a:off x="7132320" y="0"/>
            <a:ext cx="5029200" cy="6858000"/>
          </a:xfrm>
          <a:prstGeom prst="rect">
            <a:avLst/>
          </a:prstGeom>
          <a:solidFill>
            <a:srgbClr val="0A1628"/>
          </a:solidFill>
          <a:ln/>
        </p:spPr>
      </p:sp>
      <p:sp>
        <p:nvSpPr>
          <p:cNvPr id="17" name="Shape 15"/>
          <p:cNvSpPr/>
          <p:nvPr/>
        </p:nvSpPr>
        <p:spPr>
          <a:xfrm>
            <a:off x="7132320" y="0"/>
            <a:ext cx="5029200" cy="182880"/>
          </a:xfrm>
          <a:prstGeom prst="rect">
            <a:avLst/>
          </a:prstGeom>
          <a:solidFill>
            <a:srgbClr val="2563EB"/>
          </a:solidFill>
          <a:ln/>
        </p:spPr>
      </p:sp>
      <p:sp>
        <p:nvSpPr>
          <p:cNvPr id="18" name="Text 16"/>
          <p:cNvSpPr/>
          <p:nvPr/>
        </p:nvSpPr>
        <p:spPr>
          <a:xfrm>
            <a:off x="7388352" y="292608"/>
            <a:ext cx="4663440" cy="347472"/>
          </a:xfrm>
          <a:prstGeom prst="rect">
            <a:avLst/>
          </a:prstGeom>
          <a:noFill/>
          <a:ln/>
        </p:spPr>
        <p:txBody>
          <a:bodyPr wrap="square" lIns="0" tIns="0" rIns="0" bIns="0" rtlCol="0" anchor="ctr"/>
          <a:lstStyle/>
          <a:p>
            <a:pPr indent="0" marL="0">
              <a:buNone/>
            </a:pPr>
            <a:r>
              <a:rPr lang="en-US" sz="800" b="1" spc="200" kern="0" dirty="0">
                <a:solidFill>
                  <a:srgbClr val="2563EB"/>
                </a:solidFill>
                <a:latin typeface="Arial" pitchFamily="34" charset="0"/>
                <a:ea typeface="Arial" pitchFamily="34" charset="-122"/>
                <a:cs typeface="Arial" pitchFamily="34" charset="-120"/>
              </a:rPr>
              <a:t>CHAPTERS IN THIS PART</a:t>
            </a:r>
            <a:endParaRPr lang="en-US" sz="800" dirty="0"/>
          </a:p>
        </p:txBody>
      </p:sp>
      <p:sp>
        <p:nvSpPr>
          <p:cNvPr id="19" name="Shape 17"/>
          <p:cNvSpPr/>
          <p:nvPr/>
        </p:nvSpPr>
        <p:spPr>
          <a:xfrm>
            <a:off x="7388352" y="749808"/>
            <a:ext cx="4590288" cy="493776"/>
          </a:xfrm>
          <a:prstGeom prst="rect">
            <a:avLst/>
          </a:prstGeom>
          <a:solidFill>
            <a:srgbClr val="0D1F3C"/>
          </a:solidFill>
          <a:ln/>
        </p:spPr>
      </p:sp>
      <p:sp>
        <p:nvSpPr>
          <p:cNvPr id="20" name="Text 18"/>
          <p:cNvSpPr/>
          <p:nvPr/>
        </p:nvSpPr>
        <p:spPr>
          <a:xfrm>
            <a:off x="7479792" y="795528"/>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37  </a:t>
            </a:r>
            <a:pPr indent="0" marL="0">
              <a:buNone/>
            </a:pPr>
            <a:r>
              <a:rPr lang="en-US" sz="1050" b="1" dirty="0">
                <a:solidFill>
                  <a:srgbClr val="FFFFFF"/>
                </a:solidFill>
                <a:latin typeface="Arial" pitchFamily="34" charset="0"/>
                <a:ea typeface="Arial" pitchFamily="34" charset="-122"/>
                <a:cs typeface="Arial" pitchFamily="34" charset="-120"/>
              </a:rPr>
              <a:t>Good Team / Bad Team</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The contrasting behaviors of high-performing vs. struggling teams</a:t>
            </a:r>
            <a:endParaRPr lang="en-US" sz="1100" dirty="0"/>
          </a:p>
        </p:txBody>
      </p:sp>
      <p:sp>
        <p:nvSpPr>
          <p:cNvPr id="21" name="Shape 19"/>
          <p:cNvSpPr/>
          <p:nvPr/>
        </p:nvSpPr>
        <p:spPr>
          <a:xfrm>
            <a:off x="7388352" y="1316736"/>
            <a:ext cx="4590288" cy="493776"/>
          </a:xfrm>
          <a:prstGeom prst="rect">
            <a:avLst/>
          </a:prstGeom>
          <a:solidFill>
            <a:srgbClr val="0D1F3C"/>
          </a:solidFill>
          <a:ln/>
        </p:spPr>
      </p:sp>
      <p:sp>
        <p:nvSpPr>
          <p:cNvPr id="22" name="Text 20"/>
          <p:cNvSpPr/>
          <p:nvPr/>
        </p:nvSpPr>
        <p:spPr>
          <a:xfrm>
            <a:off x="7479792" y="1362456"/>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38  </a:t>
            </a:r>
            <a:pPr indent="0" marL="0">
              <a:buNone/>
            </a:pPr>
            <a:r>
              <a:rPr lang="en-US" sz="1050" b="1" dirty="0">
                <a:solidFill>
                  <a:srgbClr val="FFFFFF"/>
                </a:solidFill>
                <a:latin typeface="Arial" pitchFamily="34" charset="0"/>
                <a:ea typeface="Arial" pitchFamily="34" charset="-122"/>
                <a:cs typeface="Arial" pitchFamily="34" charset="-120"/>
              </a:rPr>
              <a:t>Top Reasons for Loss of Innovation</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The specific patterns that kill a team's ability to innovate</a:t>
            </a:r>
            <a:endParaRPr lang="en-US" sz="1100" dirty="0"/>
          </a:p>
        </p:txBody>
      </p:sp>
      <p:sp>
        <p:nvSpPr>
          <p:cNvPr id="23" name="Shape 21"/>
          <p:cNvSpPr/>
          <p:nvPr/>
        </p:nvSpPr>
        <p:spPr>
          <a:xfrm>
            <a:off x="7388352" y="1883664"/>
            <a:ext cx="4590288" cy="493776"/>
          </a:xfrm>
          <a:prstGeom prst="rect">
            <a:avLst/>
          </a:prstGeom>
          <a:solidFill>
            <a:srgbClr val="0D1F3C"/>
          </a:solidFill>
          <a:ln/>
        </p:spPr>
      </p:sp>
      <p:sp>
        <p:nvSpPr>
          <p:cNvPr id="24" name="Text 22"/>
          <p:cNvSpPr/>
          <p:nvPr/>
        </p:nvSpPr>
        <p:spPr>
          <a:xfrm>
            <a:off x="7479792" y="1929384"/>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39  </a:t>
            </a:r>
            <a:pPr indent="0" marL="0">
              <a:buNone/>
            </a:pPr>
            <a:r>
              <a:rPr lang="en-US" sz="1050" b="1" dirty="0">
                <a:solidFill>
                  <a:srgbClr val="FFFFFF"/>
                </a:solidFill>
                <a:latin typeface="Arial" pitchFamily="34" charset="0"/>
                <a:ea typeface="Arial" pitchFamily="34" charset="-122"/>
                <a:cs typeface="Arial" pitchFamily="34" charset="-120"/>
              </a:rPr>
              <a:t>Top Reasons for Loss of Velocity</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Why teams slow down over time — and how to fix it</a:t>
            </a:r>
            <a:endParaRPr lang="en-US" sz="1100" dirty="0"/>
          </a:p>
        </p:txBody>
      </p:sp>
      <p:sp>
        <p:nvSpPr>
          <p:cNvPr id="25" name="Shape 23"/>
          <p:cNvSpPr/>
          <p:nvPr/>
        </p:nvSpPr>
        <p:spPr>
          <a:xfrm>
            <a:off x="7388352" y="2450592"/>
            <a:ext cx="4590288" cy="493776"/>
          </a:xfrm>
          <a:prstGeom prst="rect">
            <a:avLst/>
          </a:prstGeom>
          <a:solidFill>
            <a:srgbClr val="0D1F3C"/>
          </a:solidFill>
          <a:ln/>
        </p:spPr>
      </p:sp>
      <p:sp>
        <p:nvSpPr>
          <p:cNvPr id="26" name="Text 24"/>
          <p:cNvSpPr/>
          <p:nvPr/>
        </p:nvSpPr>
        <p:spPr>
          <a:xfrm>
            <a:off x="7479792" y="2496312"/>
            <a:ext cx="4434840" cy="402336"/>
          </a:xfrm>
          <a:prstGeom prst="rect">
            <a:avLst/>
          </a:prstGeom>
          <a:noFill/>
          <a:ln/>
        </p:spPr>
        <p:txBody>
          <a:bodyPr wrap="square" lIns="0" tIns="0" rIns="0" bIns="0" rtlCol="0" anchor="t"/>
          <a:lstStyle/>
          <a:p>
            <a:pPr indent="0" marL="0">
              <a:buNone/>
            </a:pPr>
            <a:r>
              <a:rPr lang="en-US" sz="1100" b="1" dirty="0">
                <a:solidFill>
                  <a:srgbClr val="93C5FD"/>
                </a:solidFill>
                <a:latin typeface="Arial" pitchFamily="34" charset="0"/>
                <a:ea typeface="Arial" pitchFamily="34" charset="-122"/>
                <a:cs typeface="Arial" pitchFamily="34" charset="-120"/>
              </a:rPr>
              <a:t>40  </a:t>
            </a:r>
            <a:pPr indent="0" marL="0">
              <a:buNone/>
            </a:pPr>
            <a:r>
              <a:rPr lang="en-US" sz="1050" b="1" dirty="0">
                <a:solidFill>
                  <a:srgbClr val="FFFFFF"/>
                </a:solidFill>
                <a:latin typeface="Arial" pitchFamily="34" charset="0"/>
                <a:ea typeface="Arial" pitchFamily="34" charset="-122"/>
                <a:cs typeface="Arial" pitchFamily="34" charset="-120"/>
              </a:rPr>
              <a:t>Establishing a Strong Product Culture</a:t>
            </a:r>
            <a:pPr indent="0" marL="0">
              <a:buNone/>
            </a:pPr>
            <a:endParaRPr lang="en-US" sz="1100" dirty="0"/>
          </a:p>
          <a:p>
            <a:pPr indent="0" marL="0">
              <a:buNone/>
            </a:pPr>
            <a:r>
              <a:rPr lang="en-US" sz="900" dirty="0">
                <a:solidFill>
                  <a:srgbClr val="64748B"/>
                </a:solidFill>
                <a:latin typeface="Arial" pitchFamily="34" charset="0"/>
                <a:ea typeface="Arial" pitchFamily="34" charset="-122"/>
                <a:cs typeface="Arial" pitchFamily="34" charset="-120"/>
              </a:rPr>
              <a:t>     What it takes to build and sustain a product-first culture</a:t>
            </a:r>
            <a:endParaRPr lang="en-US" sz="1100" dirty="0"/>
          </a:p>
        </p:txBody>
      </p:sp>
      <p:sp>
        <p:nvSpPr>
          <p:cNvPr id="27" name="Shape 25"/>
          <p:cNvSpPr/>
          <p:nvPr/>
        </p:nvSpPr>
        <p:spPr>
          <a:xfrm>
            <a:off x="7388352" y="4206240"/>
            <a:ext cx="4590288" cy="36576"/>
          </a:xfrm>
          <a:prstGeom prst="rect">
            <a:avLst/>
          </a:prstGeom>
          <a:solidFill>
            <a:srgbClr val="2A3460"/>
          </a:solidFill>
          <a:ln/>
        </p:spPr>
      </p:sp>
      <p:sp>
        <p:nvSpPr>
          <p:cNvPr id="28" name="Text 26"/>
          <p:cNvSpPr/>
          <p:nvPr/>
        </p:nvSpPr>
        <p:spPr>
          <a:xfrm>
            <a:off x="7388352" y="4315968"/>
            <a:ext cx="4663440" cy="320040"/>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29" name="Shape 27"/>
          <p:cNvSpPr/>
          <p:nvPr/>
        </p:nvSpPr>
        <p:spPr>
          <a:xfrm>
            <a:off x="7388352" y="4681728"/>
            <a:ext cx="4590288" cy="566928"/>
          </a:xfrm>
          <a:prstGeom prst="rect">
            <a:avLst/>
          </a:prstGeom>
          <a:solidFill>
            <a:srgbClr val="0D1F3C"/>
          </a:solidFill>
          <a:ln/>
        </p:spPr>
      </p:sp>
      <p:sp>
        <p:nvSpPr>
          <p:cNvPr id="30" name="Shape 28"/>
          <p:cNvSpPr/>
          <p:nvPr/>
        </p:nvSpPr>
        <p:spPr>
          <a:xfrm>
            <a:off x="7388352" y="4681728"/>
            <a:ext cx="73152" cy="566928"/>
          </a:xfrm>
          <a:prstGeom prst="rect">
            <a:avLst/>
          </a:prstGeom>
          <a:solidFill>
            <a:srgbClr val="2563EB"/>
          </a:solidFill>
          <a:ln/>
        </p:spPr>
      </p:sp>
      <p:sp>
        <p:nvSpPr>
          <p:cNvPr id="31" name="Text 29"/>
          <p:cNvSpPr/>
          <p:nvPr/>
        </p:nvSpPr>
        <p:spPr>
          <a:xfrm>
            <a:off x="7534656" y="4754880"/>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Q1  Honestly: are your product teams more like missionaries or mercenaries right now?</a:t>
            </a:r>
            <a:endParaRPr lang="en-US" sz="1000" dirty="0"/>
          </a:p>
        </p:txBody>
      </p:sp>
      <p:sp>
        <p:nvSpPr>
          <p:cNvPr id="32" name="Shape 30"/>
          <p:cNvSpPr/>
          <p:nvPr/>
        </p:nvSpPr>
        <p:spPr>
          <a:xfrm>
            <a:off x="7388352" y="5340096"/>
            <a:ext cx="4590288" cy="566928"/>
          </a:xfrm>
          <a:prstGeom prst="rect">
            <a:avLst/>
          </a:prstGeom>
          <a:solidFill>
            <a:srgbClr val="0D1F3C"/>
          </a:solidFill>
          <a:ln/>
        </p:spPr>
      </p:sp>
      <p:sp>
        <p:nvSpPr>
          <p:cNvPr id="33" name="Shape 31"/>
          <p:cNvSpPr/>
          <p:nvPr/>
        </p:nvSpPr>
        <p:spPr>
          <a:xfrm>
            <a:off x="7388352" y="5340096"/>
            <a:ext cx="73152" cy="566928"/>
          </a:xfrm>
          <a:prstGeom prst="rect">
            <a:avLst/>
          </a:prstGeom>
          <a:solidFill>
            <a:srgbClr val="93C5FD"/>
          </a:solidFill>
          <a:ln/>
        </p:spPr>
      </p:sp>
      <p:sp>
        <p:nvSpPr>
          <p:cNvPr id="34" name="Text 32"/>
          <p:cNvSpPr/>
          <p:nvPr/>
        </p:nvSpPr>
        <p:spPr>
          <a:xfrm>
            <a:off x="7534656" y="5413248"/>
            <a:ext cx="4407408" cy="420624"/>
          </a:xfrm>
          <a:prstGeom prst="rect">
            <a:avLst/>
          </a:prstGeom>
          <a:noFill/>
          <a:ln/>
        </p:spPr>
        <p:txBody>
          <a:bodyPr wrap="square" lIns="0" tIns="0" rIns="0" bIns="0" rtlCol="0" anchor="t"/>
          <a:lstStyle/>
          <a:p>
            <a:pPr indent="0" marL="0">
              <a:buNone/>
            </a:pPr>
            <a:r>
              <a:rPr lang="en-US" sz="1000" dirty="0">
                <a:solidFill>
                  <a:srgbClr val="CDD3EA"/>
                </a:solidFill>
                <a:latin typeface="Arial" pitchFamily="34" charset="0"/>
                <a:ea typeface="Arial" pitchFamily="34" charset="-122"/>
                <a:cs typeface="Arial" pitchFamily="34" charset="-120"/>
              </a:rPr>
              <a:t>Q2  Which of the innovation killers from this part are active in your organization today?</a:t>
            </a:r>
            <a:endParaRPr lang="en-US" sz="1000" dirty="0"/>
          </a:p>
        </p:txBody>
      </p:sp>
      <p:sp>
        <p:nvSpPr>
          <p:cNvPr id="35" name="Shape 33"/>
          <p:cNvSpPr/>
          <p:nvPr/>
        </p:nvSpPr>
        <p:spPr>
          <a:xfrm>
            <a:off x="7388352" y="6172200"/>
            <a:ext cx="4590288" cy="548640"/>
          </a:xfrm>
          <a:prstGeom prst="rect">
            <a:avLst/>
          </a:prstGeom>
          <a:solidFill>
            <a:srgbClr val="2563EB">
              <a:alpha val="80000"/>
            </a:srgbClr>
          </a:solidFill>
          <a:ln/>
        </p:spPr>
      </p:sp>
      <p:sp>
        <p:nvSpPr>
          <p:cNvPr id="36" name="Text 34"/>
          <p:cNvSpPr/>
          <p:nvPr/>
        </p:nvSpPr>
        <p:spPr>
          <a:xfrm>
            <a:off x="7516368" y="6199632"/>
            <a:ext cx="4434840" cy="201168"/>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Root of Every Culture</a:t>
            </a:r>
            <a:endParaRPr lang="en-US" sz="700" dirty="0"/>
          </a:p>
        </p:txBody>
      </p:sp>
      <p:sp>
        <p:nvSpPr>
          <p:cNvPr id="37" name="Text 35"/>
          <p:cNvSpPr/>
          <p:nvPr/>
        </p:nvSpPr>
        <p:spPr>
          <a:xfrm>
            <a:off x="7516368" y="6373368"/>
            <a:ext cx="44348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Culture is what gets rewarded and reinforced — nothing else</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5  ›  CH. 37</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Good Product Team / Bad Product Team</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The specific, observable behaviors that separate great product teams from struggling ones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Cagan presents a direct comparison of the behaviors and mindsets of high-performing product teams vs. those that struggle. The patterns are consistent and observable: great teams are missionaries motivated by solving problems; struggling teams are mercenaries executing to a spec. Great teams use discovery to reduce risk; struggling teams use process to manage blame.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Good teams: missionaries solving real customer problems. Bad teams: mercenaries executing a feature list someone else defined.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Good teams use discovery to test risky assumptions before building. Bad teams use delivery process to manage risk after it's too late.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Good teams feel ownership of their product area and accountability for outcomes. Bad teams feel ownership of their tasks and accountability for shipping on time.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Good teams have hard conversations early. Bad teams surface problems late — when they're expensive to fix.</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5  ›  Chapter 37: Good Product Team / Bad Product Team</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For each contrast Cagan describes, honestly assess which side your team is on — and why.</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is one specific behavior your team exhibits that you'd categorize as 'bad team' behavior?</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change about how your team works if they genuinely felt ownership of the outcome?</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behaviors are currently being rewarded in your organization that might be reinforcing 'bad team' patterns?</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Most Important Contrast in Product</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Missionaries build great products. Mercenaries ship tasks.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5  ›  CH. 38</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Top Reasons for Loss of Innovation</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Innovation doesn't die suddenly — it erodes through specific, identifiable patterns</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Loss of product innovation in an organization is almost never random — the same patterns appear repeatedly. Teams that once innovated stop doing so when they lose their product vision, transition to an IT model, allow a sales-driven roadmap to take over, accumulate so much technical debt that no capacity remains, or lose the psychological safety to take risks and learn from failure.</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Loss of product vision: when the team no longer has an inspiring north star, they default to reacting to requests and lose the ability to prioritize for impact</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The IT model takeover: when product teams become order-takers for business stakeholders, discovery stops and delivery becomes the only mode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Sales-driven roadmap: when the largest or loudest customer drives priorities, the product becomes a custom integration for one — unusable by many</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Technical debt accumulation: when shortcuts compound over years, the team's capacity for new product work approaches zero</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5  ›  Chapter 38: Top Reasons for Loss of Innovation</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Which of these innovation killers is most active in your organization right now?</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Has your team's ability to innovate been growing, staying flat, or declining over the past two years?</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Does your team feel safe taking product risks — experimenting, failing, and learning without being punished?</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If you had to diagnose one root cause of reduced innovation in your team, what would it be?</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Patterns That Kill Innovation</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Innovation doesn't die — it gets managed to death</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5  ›  CH. 39</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Top Reasons for Loss of Velocity</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Why teams slow down over time — and the specific causes to diagnose</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Teams that start fast almost always slow down over time, and the causes are predictable: accumulated technical debt that makes every change risky, poor cross-team dependencies that leave teams blocked waiting on others, insufficient test automation that makes every release high-stakes, and loss of clear ownership that leaves decisions unmade. Each cause has specific remedies.</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Technical debt: shortcuts that compound over time until every new feature requires touching a fragile codebase — the #1 cause of velocity loss in mature products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Cross-team dependencies: teams that must wait on other teams to ship create a cascading slowdown that compounds across the organization</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Insufficient test automation: manual QA creates a bottleneck and a risk-aversion that slows every release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Unclear ownership: when no one is clearly accountable for a decision, everything requires consensus — and consensus is slow</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5  ›  Chapter 39: Top Reasons for Loss of Velocity</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Is your team's development velocity increasing, stable, or declining? What's the primary driver?</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much of your engineering capacity goes to managing or working around technical debt each sprint?</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How often is your team blocked on other teams? What are the most common dependencies?</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percentage of your tests are automated vs. manual — and what does that mean for your deployment frequency?</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The Root Causes of Velocity Loss</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Fast teams invest in tech debt and test automation. Slow teams don't.</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7132320" cy="6858000"/>
          </a:xfrm>
          <a:prstGeom prst="rect">
            <a:avLst/>
          </a:prstGeom>
          <a:solidFill>
            <a:srgbClr val="0F172A"/>
          </a:solidFill>
          <a:ln/>
        </p:spPr>
      </p:sp>
      <p:sp>
        <p:nvSpPr>
          <p:cNvPr id="3" name="Shape 1"/>
          <p:cNvSpPr/>
          <p:nvPr/>
        </p:nvSpPr>
        <p:spPr>
          <a:xfrm>
            <a:off x="0" y="0"/>
            <a:ext cx="7132320" cy="164592"/>
          </a:xfrm>
          <a:prstGeom prst="rect">
            <a:avLst/>
          </a:prstGeom>
          <a:solidFill>
            <a:srgbClr val="2563EB"/>
          </a:solidFill>
          <a:ln/>
        </p:spPr>
      </p:sp>
      <p:sp>
        <p:nvSpPr>
          <p:cNvPr id="4" name="Text 2"/>
          <p:cNvSpPr/>
          <p:nvPr/>
        </p:nvSpPr>
        <p:spPr>
          <a:xfrm>
            <a:off x="411480" y="274320"/>
            <a:ext cx="4572000" cy="365760"/>
          </a:xfrm>
          <a:prstGeom prst="rect">
            <a:avLst/>
          </a:prstGeom>
          <a:noFill/>
          <a:ln/>
        </p:spPr>
        <p:txBody>
          <a:bodyPr wrap="square" lIns="0" tIns="0" rIns="0" bIns="0" rtlCol="0" anchor="ctr"/>
          <a:lstStyle/>
          <a:p>
            <a:pPr indent="0" marL="0">
              <a:buNone/>
            </a:pPr>
            <a:r>
              <a:rPr lang="en-US" sz="1000" b="1" spc="200" kern="0" dirty="0">
                <a:solidFill>
                  <a:srgbClr val="2563EB"/>
                </a:solidFill>
                <a:latin typeface="Arial" pitchFamily="34" charset="0"/>
                <a:ea typeface="Arial" pitchFamily="34" charset="-122"/>
                <a:cs typeface="Arial" pitchFamily="34" charset="-120"/>
              </a:rPr>
              <a:t>PART 5  ›  CH. 40</a:t>
            </a:r>
            <a:endParaRPr lang="en-US" sz="1000" dirty="0"/>
          </a:p>
        </p:txBody>
      </p:sp>
      <p:sp>
        <p:nvSpPr>
          <p:cNvPr id="5" name="Text 3"/>
          <p:cNvSpPr/>
          <p:nvPr/>
        </p:nvSpPr>
        <p:spPr>
          <a:xfrm>
            <a:off x="411480" y="621792"/>
            <a:ext cx="6492240" cy="10058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Establishing a Strong Product Culture</a:t>
            </a:r>
            <a:endParaRPr lang="en-US" sz="2800" dirty="0"/>
          </a:p>
        </p:txBody>
      </p:sp>
      <p:sp>
        <p:nvSpPr>
          <p:cNvPr id="6" name="Text 4"/>
          <p:cNvSpPr/>
          <p:nvPr/>
        </p:nvSpPr>
        <p:spPr>
          <a:xfrm>
            <a:off x="411480" y="1609344"/>
            <a:ext cx="6492240" cy="502920"/>
          </a:xfrm>
          <a:prstGeom prst="rect">
            <a:avLst/>
          </a:prstGeom>
          <a:noFill/>
          <a:ln/>
        </p:spPr>
        <p:txBody>
          <a:bodyPr wrap="square" lIns="0" tIns="0" rIns="0" bIns="0" rtlCol="0" anchor="ctr"/>
          <a:lstStyle/>
          <a:p>
            <a:pPr indent="0" marL="0">
              <a:buNone/>
            </a:pPr>
            <a:r>
              <a:rPr lang="en-US" sz="1150" i="1" dirty="0">
                <a:solidFill>
                  <a:srgbClr val="93C5FD"/>
                </a:solidFill>
                <a:latin typeface="Arial" pitchFamily="34" charset="0"/>
                <a:ea typeface="Arial" pitchFamily="34" charset="-122"/>
                <a:cs typeface="Arial" pitchFamily="34" charset="-120"/>
              </a:rPr>
              <a:t>Culture is built through consistent behavior — especially under pressure</a:t>
            </a:r>
            <a:endParaRPr lang="en-US" sz="1150" dirty="0"/>
          </a:p>
        </p:txBody>
      </p:sp>
      <p:sp>
        <p:nvSpPr>
          <p:cNvPr id="7" name="Shape 5"/>
          <p:cNvSpPr/>
          <p:nvPr/>
        </p:nvSpPr>
        <p:spPr>
          <a:xfrm>
            <a:off x="411480" y="2240280"/>
            <a:ext cx="6492240" cy="1371600"/>
          </a:xfrm>
          <a:prstGeom prst="rect">
            <a:avLst/>
          </a:prstGeom>
          <a:solidFill>
            <a:srgbClr val="0D2260"/>
          </a:solidFill>
          <a:ln/>
          <a:effectLst>
            <a:outerShdw sx="100000" sy="100000" kx="0" ky="0" algn="bl" rotWithShape="0" blurRad="101600" dist="38100" dir="8100000">
              <a:srgbClr val="000000">
                <a:alpha val="18000"/>
              </a:srgbClr>
            </a:outerShdw>
          </a:effectLst>
        </p:spPr>
      </p:sp>
      <p:sp>
        <p:nvSpPr>
          <p:cNvPr id="8" name="Shape 6"/>
          <p:cNvSpPr/>
          <p:nvPr/>
        </p:nvSpPr>
        <p:spPr>
          <a:xfrm>
            <a:off x="411480" y="2240280"/>
            <a:ext cx="109728" cy="1371600"/>
          </a:xfrm>
          <a:prstGeom prst="rect">
            <a:avLst/>
          </a:prstGeom>
          <a:solidFill>
            <a:srgbClr val="93C5FD"/>
          </a:solidFill>
          <a:ln/>
        </p:spPr>
      </p:sp>
      <p:sp>
        <p:nvSpPr>
          <p:cNvPr id="9" name="Text 7"/>
          <p:cNvSpPr/>
          <p:nvPr/>
        </p:nvSpPr>
        <p:spPr>
          <a:xfrm>
            <a:off x="640080" y="2313432"/>
            <a:ext cx="6217920" cy="274320"/>
          </a:xfrm>
          <a:prstGeom prst="rect">
            <a:avLst/>
          </a:prstGeom>
          <a:noFill/>
          <a:ln/>
        </p:spPr>
        <p:txBody>
          <a:bodyPr wrap="square" lIns="0" tIns="0" rIns="0" bIns="0" rtlCol="0" anchor="ctr"/>
          <a:lstStyle/>
          <a:p>
            <a:pPr indent="0" marL="0">
              <a:buNone/>
            </a:pPr>
            <a:r>
              <a:rPr lang="en-US" sz="800" b="1" spc="300" kern="0" dirty="0">
                <a:solidFill>
                  <a:srgbClr val="93C5FD"/>
                </a:solidFill>
                <a:latin typeface="Arial" pitchFamily="34" charset="0"/>
                <a:ea typeface="Arial" pitchFamily="34" charset="-122"/>
                <a:cs typeface="Arial" pitchFamily="34" charset="-120"/>
              </a:rPr>
              <a:t>BIG IDEA</a:t>
            </a:r>
            <a:endParaRPr lang="en-US" sz="800" dirty="0"/>
          </a:p>
        </p:txBody>
      </p:sp>
      <p:sp>
        <p:nvSpPr>
          <p:cNvPr id="10" name="Text 8"/>
          <p:cNvSpPr/>
          <p:nvPr/>
        </p:nvSpPr>
        <p:spPr>
          <a:xfrm>
            <a:off x="640080" y="2587752"/>
            <a:ext cx="6217920" cy="960120"/>
          </a:xfrm>
          <a:prstGeom prst="rect">
            <a:avLst/>
          </a:prstGeom>
          <a:noFill/>
          <a:ln/>
        </p:spPr>
        <p:txBody>
          <a:bodyPr wrap="square" lIns="0" tIns="0" rIns="0" bIns="0" rtlCol="0" anchor="ctr"/>
          <a:lstStyle/>
          <a:p>
            <a:pPr indent="0" marL="0">
              <a:buNone/>
            </a:pPr>
            <a:r>
              <a:rPr lang="en-US" sz="1150" i="1" dirty="0">
                <a:solidFill>
                  <a:srgbClr val="FFFFFF"/>
                </a:solidFill>
                <a:latin typeface="Georgia" pitchFamily="34" charset="0"/>
                <a:ea typeface="Georgia" pitchFamily="34" charset="-122"/>
                <a:cs typeface="Georgia" pitchFamily="34" charset="-120"/>
              </a:rPr>
              <a:t>A strong product culture is not declared — it is built through consistent behavior over years. The signals that matter most are what leaders do under pressure: do they trust empowered teams when a project is behind schedule, or do they override the team and micromanage? Do they measure outcomes or outputs? A culture that says it values product thinking but rewards output-focused behavior is a culture that will always default to the feature factory.</a:t>
            </a:r>
            <a:endParaRPr lang="en-US" sz="1150" dirty="0"/>
          </a:p>
        </p:txBody>
      </p:sp>
      <p:sp>
        <p:nvSpPr>
          <p:cNvPr id="11" name="Text 9"/>
          <p:cNvSpPr/>
          <p:nvPr/>
        </p:nvSpPr>
        <p:spPr>
          <a:xfrm>
            <a:off x="411480" y="3749040"/>
            <a:ext cx="2743200" cy="301752"/>
          </a:xfrm>
          <a:prstGeom prst="rect">
            <a:avLst/>
          </a:prstGeom>
          <a:noFill/>
          <a:ln/>
        </p:spPr>
        <p:txBody>
          <a:bodyPr wrap="square" lIns="0" tIns="0" rIns="0" bIns="0" rtlCol="0" anchor="ctr"/>
          <a:lstStyle/>
          <a:p>
            <a:pPr indent="0" marL="0">
              <a:buNone/>
            </a:pPr>
            <a:r>
              <a:rPr lang="en-US" sz="800" b="1" spc="300" kern="0" dirty="0">
                <a:solidFill>
                  <a:srgbClr val="2563EB"/>
                </a:solidFill>
                <a:latin typeface="Arial" pitchFamily="34" charset="0"/>
                <a:ea typeface="Arial" pitchFamily="34" charset="-122"/>
                <a:cs typeface="Arial" pitchFamily="34" charset="-120"/>
              </a:rPr>
              <a:t>KEY POINTS</a:t>
            </a:r>
            <a:endParaRPr lang="en-US" sz="800" dirty="0"/>
          </a:p>
        </p:txBody>
      </p:sp>
      <p:sp>
        <p:nvSpPr>
          <p:cNvPr id="12" name="Text 10"/>
          <p:cNvSpPr/>
          <p:nvPr/>
        </p:nvSpPr>
        <p:spPr>
          <a:xfrm>
            <a:off x="411480" y="4050792"/>
            <a:ext cx="6492240" cy="2514600"/>
          </a:xfrm>
          <a:prstGeom prst="rect">
            <a:avLst/>
          </a:prstGeom>
          <a:noFill/>
          <a:ln/>
        </p:spPr>
        <p:txBody>
          <a:bodyPr wrap="square" lIns="0" tIns="0" rIns="0" bIns="0" rtlCol="0" anchor="t"/>
          <a:lstStyle/>
          <a:p>
            <a:pPr indent="0" marL="0">
              <a:spcAft>
                <a:spcPts val="700"/>
              </a:spcAft>
              <a:buNone/>
            </a:pPr>
            <a:r>
              <a:rPr lang="en-US" sz="1100" b="1" dirty="0">
                <a:solidFill>
                  <a:srgbClr val="93C5FD"/>
                </a:solidFill>
                <a:latin typeface="Arial" pitchFamily="34" charset="0"/>
                <a:ea typeface="Arial" pitchFamily="34" charset="-122"/>
                <a:cs typeface="Arial" pitchFamily="34" charset="-120"/>
              </a:rPr>
              <a:t>1. </a:t>
            </a:r>
            <a:pPr indent="0" marL="0">
              <a:spcAft>
                <a:spcPts val="700"/>
              </a:spcAft>
              <a:buNone/>
            </a:pPr>
            <a:r>
              <a:rPr lang="en-US" sz="1100" dirty="0">
                <a:solidFill>
                  <a:srgbClr val="FFFFFF"/>
                </a:solidFill>
                <a:latin typeface="Arial" pitchFamily="34" charset="0"/>
                <a:ea typeface="Arial" pitchFamily="34" charset="-122"/>
                <a:cs typeface="Arial" pitchFamily="34" charset="-120"/>
              </a:rPr>
              <a:t>Culture is defined by what behaviors are rewarded and reinforced — not by what is written on walls or said in all-hands meetings</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2. </a:t>
            </a:r>
            <a:pPr indent="0" marL="0">
              <a:spcAft>
                <a:spcPts val="700"/>
              </a:spcAft>
              <a:buNone/>
            </a:pPr>
            <a:r>
              <a:rPr lang="en-US" sz="1100" dirty="0">
                <a:solidFill>
                  <a:srgbClr val="FFFFFF"/>
                </a:solidFill>
                <a:latin typeface="Arial" pitchFamily="34" charset="0"/>
                <a:ea typeface="Arial" pitchFamily="34" charset="-122"/>
                <a:cs typeface="Arial" pitchFamily="34" charset="-120"/>
              </a:rPr>
              <a:t>Leaders model the culture through their behavior under pressure — when a project is late or a bet doesn't pay off, their response tells the team what is really valued</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3. </a:t>
            </a:r>
            <a:pPr indent="0" marL="0">
              <a:spcAft>
                <a:spcPts val="700"/>
              </a:spcAft>
              <a:buNone/>
            </a:pPr>
            <a:r>
              <a:rPr lang="en-US" sz="1100" dirty="0">
                <a:solidFill>
                  <a:srgbClr val="FFFFFF"/>
                </a:solidFill>
                <a:latin typeface="Arial" pitchFamily="34" charset="0"/>
                <a:ea typeface="Arial" pitchFamily="34" charset="-122"/>
                <a:cs typeface="Arial" pitchFamily="34" charset="-120"/>
              </a:rPr>
              <a:t>Transformation from feature factory to empowered product team is a 2–3 year journey that requires consistent executive commitment and patience</a:t>
            </a:r>
            <a:pPr indent="0" marL="0">
              <a:spcAft>
                <a:spcPts val="700"/>
              </a:spcAft>
              <a:buNone/>
            </a:pPr>
            <a:r>
              <a:rPr lang="en-US" sz="1100" dirty="0">
                <a:solidFill>
                  <a:srgbClr val="000000"/>
                </a:solidFill>
                <a:latin typeface="Arial" pitchFamily="34" charset="0"/>
                <a:ea typeface="Arial" pitchFamily="34" charset="-122"/>
                <a:cs typeface="Arial" pitchFamily="34" charset="-120"/>
              </a:rPr>
              <a:t>
</a:t>
            </a:r>
            <a:pPr indent="0" marL="0">
              <a:spcAft>
                <a:spcPts val="700"/>
              </a:spcAft>
              <a:buNone/>
            </a:pPr>
            <a:r>
              <a:rPr lang="en-US" sz="1100" b="1" dirty="0">
                <a:solidFill>
                  <a:srgbClr val="93C5FD"/>
                </a:solidFill>
                <a:latin typeface="Arial" pitchFamily="34" charset="0"/>
                <a:ea typeface="Arial" pitchFamily="34" charset="-122"/>
                <a:cs typeface="Arial" pitchFamily="34" charset="-120"/>
              </a:rPr>
              <a:t>4. </a:t>
            </a:r>
            <a:pPr indent="0" marL="0">
              <a:spcAft>
                <a:spcPts val="700"/>
              </a:spcAft>
              <a:buNone/>
            </a:pPr>
            <a:r>
              <a:rPr lang="en-US" sz="1100" dirty="0">
                <a:solidFill>
                  <a:srgbClr val="FFFFFF"/>
                </a:solidFill>
                <a:latin typeface="Arial" pitchFamily="34" charset="0"/>
                <a:ea typeface="Arial" pitchFamily="34" charset="-122"/>
                <a:cs typeface="Arial" pitchFamily="34" charset="-120"/>
              </a:rPr>
              <a:t>Strong product cultures share common traits: customer obsession, data-informed decisions, outcome accountability, and genuine trust in the product team's judgment</a:t>
            </a:r>
            <a:endParaRPr lang="en-US" sz="1100" dirty="0"/>
          </a:p>
        </p:txBody>
      </p:sp>
      <p:sp>
        <p:nvSpPr>
          <p:cNvPr id="13" name="Shape 11"/>
          <p:cNvSpPr/>
          <p:nvPr/>
        </p:nvSpPr>
        <p:spPr>
          <a:xfrm>
            <a:off x="0" y="6583680"/>
            <a:ext cx="7132320" cy="274320"/>
          </a:xfrm>
          <a:prstGeom prst="rect">
            <a:avLst/>
          </a:prstGeom>
          <a:solidFill>
            <a:srgbClr val="0D1230"/>
          </a:solidFill>
          <a:ln/>
        </p:spPr>
      </p:sp>
      <p:sp>
        <p:nvSpPr>
          <p:cNvPr id="14" name="Text 12"/>
          <p:cNvSpPr/>
          <p:nvPr/>
        </p:nvSpPr>
        <p:spPr>
          <a:xfrm>
            <a:off x="411480" y="6601968"/>
            <a:ext cx="6675120" cy="228600"/>
          </a:xfrm>
          <a:prstGeom prst="rect">
            <a:avLst/>
          </a:prstGeom>
          <a:noFill/>
          <a:ln/>
        </p:spPr>
        <p:txBody>
          <a:bodyPr wrap="square" lIns="0" tIns="0" rIns="0" bIns="0" rtlCol="0" anchor="ctr"/>
          <a:lstStyle/>
          <a:p>
            <a:pPr indent="0" marL="0">
              <a:buNone/>
            </a:pPr>
            <a:r>
              <a:rPr lang="en-US" sz="800" dirty="0">
                <a:solidFill>
                  <a:srgbClr val="5A6384"/>
                </a:solidFill>
                <a:latin typeface="Arial" pitchFamily="34" charset="0"/>
                <a:ea typeface="Arial" pitchFamily="34" charset="-122"/>
                <a:cs typeface="Arial" pitchFamily="34" charset="-120"/>
              </a:rPr>
              <a:t>INSPIRED  ·  Part 5  ›  Chapter 40: Establishing a Strong Product Culture</a:t>
            </a:r>
            <a:endParaRPr lang="en-US" sz="800" dirty="0"/>
          </a:p>
        </p:txBody>
      </p:sp>
      <p:sp>
        <p:nvSpPr>
          <p:cNvPr id="15" name="Shape 13"/>
          <p:cNvSpPr/>
          <p:nvPr/>
        </p:nvSpPr>
        <p:spPr>
          <a:xfrm>
            <a:off x="7132320" y="0"/>
            <a:ext cx="5029200" cy="6858000"/>
          </a:xfrm>
          <a:prstGeom prst="rect">
            <a:avLst/>
          </a:prstGeom>
          <a:solidFill>
            <a:srgbClr val="0A1628"/>
          </a:solidFill>
          <a:ln/>
        </p:spPr>
      </p:sp>
      <p:sp>
        <p:nvSpPr>
          <p:cNvPr id="16" name="Shape 14"/>
          <p:cNvSpPr/>
          <p:nvPr/>
        </p:nvSpPr>
        <p:spPr>
          <a:xfrm>
            <a:off x="7132320" y="0"/>
            <a:ext cx="5029200" cy="164592"/>
          </a:xfrm>
          <a:prstGeom prst="rect">
            <a:avLst/>
          </a:prstGeom>
          <a:solidFill>
            <a:srgbClr val="93C5FD"/>
          </a:solidFill>
          <a:ln/>
        </p:spPr>
      </p:sp>
      <p:sp>
        <p:nvSpPr>
          <p:cNvPr id="17" name="Text 15"/>
          <p:cNvSpPr/>
          <p:nvPr/>
        </p:nvSpPr>
        <p:spPr>
          <a:xfrm>
            <a:off x="7406640" y="274320"/>
            <a:ext cx="4663440" cy="384048"/>
          </a:xfrm>
          <a:prstGeom prst="rect">
            <a:avLst/>
          </a:prstGeom>
          <a:noFill/>
          <a:ln/>
        </p:spPr>
        <p:txBody>
          <a:bodyPr wrap="square" lIns="0" tIns="0" rIns="0" bIns="0" rtlCol="0" anchor="ctr"/>
          <a:lstStyle/>
          <a:p>
            <a:pPr indent="0" marL="0">
              <a:buNone/>
            </a:pPr>
            <a:r>
              <a:rPr lang="en-US" sz="800" b="1" spc="200" kern="0" dirty="0">
                <a:solidFill>
                  <a:srgbClr val="93C5FD"/>
                </a:solidFill>
                <a:latin typeface="Arial" pitchFamily="34" charset="0"/>
                <a:ea typeface="Arial" pitchFamily="34" charset="-122"/>
                <a:cs typeface="Arial" pitchFamily="34" charset="-120"/>
              </a:rPr>
              <a:t>DISCUSS WITH YOUR TEAM</a:t>
            </a:r>
            <a:endParaRPr lang="en-US" sz="800" dirty="0"/>
          </a:p>
        </p:txBody>
      </p:sp>
      <p:sp>
        <p:nvSpPr>
          <p:cNvPr id="18" name="Shape 16"/>
          <p:cNvSpPr/>
          <p:nvPr/>
        </p:nvSpPr>
        <p:spPr>
          <a:xfrm>
            <a:off x="7406640" y="804672"/>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19" name="Shape 17"/>
          <p:cNvSpPr/>
          <p:nvPr/>
        </p:nvSpPr>
        <p:spPr>
          <a:xfrm>
            <a:off x="7406640" y="804672"/>
            <a:ext cx="91440" cy="1234440"/>
          </a:xfrm>
          <a:prstGeom prst="rect">
            <a:avLst/>
          </a:prstGeom>
          <a:solidFill>
            <a:srgbClr val="2563EB"/>
          </a:solidFill>
          <a:ln/>
        </p:spPr>
      </p:sp>
      <p:sp>
        <p:nvSpPr>
          <p:cNvPr id="20" name="Text 18"/>
          <p:cNvSpPr/>
          <p:nvPr/>
        </p:nvSpPr>
        <p:spPr>
          <a:xfrm>
            <a:off x="7635240" y="877824"/>
            <a:ext cx="365760" cy="274320"/>
          </a:xfrm>
          <a:prstGeom prst="rect">
            <a:avLst/>
          </a:prstGeom>
          <a:noFill/>
          <a:ln/>
        </p:spPr>
        <p:txBody>
          <a:bodyPr wrap="square" lIns="0" tIns="0" rIns="0" bIns="0" rtlCol="0" anchor="ctr"/>
          <a:lstStyle/>
          <a:p>
            <a:pPr indent="0" marL="0">
              <a:buNone/>
            </a:pPr>
            <a:r>
              <a:rPr lang="en-US" sz="800" b="1" dirty="0">
                <a:solidFill>
                  <a:srgbClr val="2563EB"/>
                </a:solidFill>
                <a:latin typeface="Arial" pitchFamily="34" charset="0"/>
                <a:ea typeface="Arial" pitchFamily="34" charset="-122"/>
                <a:cs typeface="Arial" pitchFamily="34" charset="-120"/>
              </a:rPr>
              <a:t>Q1</a:t>
            </a:r>
            <a:endParaRPr lang="en-US" sz="800" dirty="0"/>
          </a:p>
        </p:txBody>
      </p:sp>
      <p:sp>
        <p:nvSpPr>
          <p:cNvPr id="21" name="Text 19"/>
          <p:cNvSpPr/>
          <p:nvPr/>
        </p:nvSpPr>
        <p:spPr>
          <a:xfrm>
            <a:off x="7635240" y="1143000"/>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behaviors are currently being rewarded in your organization — and what culture do those rewards reinforce?</a:t>
            </a:r>
            <a:endParaRPr lang="en-US" sz="1100" dirty="0"/>
          </a:p>
        </p:txBody>
      </p:sp>
      <p:sp>
        <p:nvSpPr>
          <p:cNvPr id="22" name="Shape 20"/>
          <p:cNvSpPr/>
          <p:nvPr/>
        </p:nvSpPr>
        <p:spPr>
          <a:xfrm>
            <a:off x="7406640" y="2194560"/>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3" name="Shape 21"/>
          <p:cNvSpPr/>
          <p:nvPr/>
        </p:nvSpPr>
        <p:spPr>
          <a:xfrm>
            <a:off x="7406640" y="2194560"/>
            <a:ext cx="91440" cy="1234440"/>
          </a:xfrm>
          <a:prstGeom prst="rect">
            <a:avLst/>
          </a:prstGeom>
          <a:solidFill>
            <a:srgbClr val="93C5FD"/>
          </a:solidFill>
          <a:ln/>
        </p:spPr>
      </p:sp>
      <p:sp>
        <p:nvSpPr>
          <p:cNvPr id="24" name="Text 22"/>
          <p:cNvSpPr/>
          <p:nvPr/>
        </p:nvSpPr>
        <p:spPr>
          <a:xfrm>
            <a:off x="7635240" y="2267712"/>
            <a:ext cx="365760" cy="274320"/>
          </a:xfrm>
          <a:prstGeom prst="rect">
            <a:avLst/>
          </a:prstGeom>
          <a:noFill/>
          <a:ln/>
        </p:spPr>
        <p:txBody>
          <a:bodyPr wrap="square" lIns="0" tIns="0" rIns="0" bIns="0" rtlCol="0" anchor="ctr"/>
          <a:lstStyle/>
          <a:p>
            <a:pPr indent="0" marL="0">
              <a:buNone/>
            </a:pPr>
            <a:r>
              <a:rPr lang="en-US" sz="800" b="1" dirty="0">
                <a:solidFill>
                  <a:srgbClr val="93C5FD"/>
                </a:solidFill>
                <a:latin typeface="Arial" pitchFamily="34" charset="0"/>
                <a:ea typeface="Arial" pitchFamily="34" charset="-122"/>
                <a:cs typeface="Arial" pitchFamily="34" charset="-120"/>
              </a:rPr>
              <a:t>Q2</a:t>
            </a:r>
            <a:endParaRPr lang="en-US" sz="800" dirty="0"/>
          </a:p>
        </p:txBody>
      </p:sp>
      <p:sp>
        <p:nvSpPr>
          <p:cNvPr id="25" name="Text 23"/>
          <p:cNvSpPr/>
          <p:nvPr/>
        </p:nvSpPr>
        <p:spPr>
          <a:xfrm>
            <a:off x="7635240" y="2532888"/>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Think of the last time a project was behind schedule. What did leadership do — and what message did that send?</a:t>
            </a:r>
            <a:endParaRPr lang="en-US" sz="1100" dirty="0"/>
          </a:p>
        </p:txBody>
      </p:sp>
      <p:sp>
        <p:nvSpPr>
          <p:cNvPr id="26" name="Shape 24"/>
          <p:cNvSpPr/>
          <p:nvPr/>
        </p:nvSpPr>
        <p:spPr>
          <a:xfrm>
            <a:off x="7406640" y="3584448"/>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27" name="Shape 25"/>
          <p:cNvSpPr/>
          <p:nvPr/>
        </p:nvSpPr>
        <p:spPr>
          <a:xfrm>
            <a:off x="7406640" y="3584448"/>
            <a:ext cx="91440" cy="1234440"/>
          </a:xfrm>
          <a:prstGeom prst="rect">
            <a:avLst/>
          </a:prstGeom>
          <a:solidFill>
            <a:srgbClr val="06D6A0"/>
          </a:solidFill>
          <a:ln/>
        </p:spPr>
      </p:sp>
      <p:sp>
        <p:nvSpPr>
          <p:cNvPr id="28" name="Text 26"/>
          <p:cNvSpPr/>
          <p:nvPr/>
        </p:nvSpPr>
        <p:spPr>
          <a:xfrm>
            <a:off x="7635240" y="3657600"/>
            <a:ext cx="365760" cy="274320"/>
          </a:xfrm>
          <a:prstGeom prst="rect">
            <a:avLst/>
          </a:prstGeom>
          <a:noFill/>
          <a:ln/>
        </p:spPr>
        <p:txBody>
          <a:bodyPr wrap="square" lIns="0" tIns="0" rIns="0" bIns="0" rtlCol="0" anchor="ctr"/>
          <a:lstStyle/>
          <a:p>
            <a:pPr indent="0" marL="0">
              <a:buNone/>
            </a:pPr>
            <a:r>
              <a:rPr lang="en-US" sz="800" b="1" dirty="0">
                <a:solidFill>
                  <a:srgbClr val="06D6A0"/>
                </a:solidFill>
                <a:latin typeface="Arial" pitchFamily="34" charset="0"/>
                <a:ea typeface="Arial" pitchFamily="34" charset="-122"/>
                <a:cs typeface="Arial" pitchFamily="34" charset="-120"/>
              </a:rPr>
              <a:t>Q3</a:t>
            </a:r>
            <a:endParaRPr lang="en-US" sz="800" dirty="0"/>
          </a:p>
        </p:txBody>
      </p:sp>
      <p:sp>
        <p:nvSpPr>
          <p:cNvPr id="29" name="Text 27"/>
          <p:cNvSpPr/>
          <p:nvPr/>
        </p:nvSpPr>
        <p:spPr>
          <a:xfrm>
            <a:off x="7635240" y="3922776"/>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would a 3-year product culture transformation look like for your organization?</a:t>
            </a:r>
            <a:endParaRPr lang="en-US" sz="1100" dirty="0"/>
          </a:p>
        </p:txBody>
      </p:sp>
      <p:sp>
        <p:nvSpPr>
          <p:cNvPr id="30" name="Shape 28"/>
          <p:cNvSpPr/>
          <p:nvPr/>
        </p:nvSpPr>
        <p:spPr>
          <a:xfrm>
            <a:off x="7406640" y="4974336"/>
            <a:ext cx="4572000" cy="1234440"/>
          </a:xfrm>
          <a:prstGeom prst="rect">
            <a:avLst/>
          </a:prstGeom>
          <a:solidFill>
            <a:srgbClr val="0D1F3C"/>
          </a:solidFill>
          <a:ln/>
          <a:effectLst>
            <a:outerShdw sx="100000" sy="100000" kx="0" ky="0" algn="bl" rotWithShape="0" blurRad="101600" dist="38100" dir="8100000">
              <a:srgbClr val="000000">
                <a:alpha val="18000"/>
              </a:srgbClr>
            </a:outerShdw>
          </a:effectLst>
        </p:spPr>
      </p:sp>
      <p:sp>
        <p:nvSpPr>
          <p:cNvPr id="31" name="Shape 29"/>
          <p:cNvSpPr/>
          <p:nvPr/>
        </p:nvSpPr>
        <p:spPr>
          <a:xfrm>
            <a:off x="7406640" y="4974336"/>
            <a:ext cx="91440" cy="1234440"/>
          </a:xfrm>
          <a:prstGeom prst="rect">
            <a:avLst/>
          </a:prstGeom>
          <a:solidFill>
            <a:srgbClr val="1E3A8A"/>
          </a:solidFill>
          <a:ln/>
        </p:spPr>
      </p:sp>
      <p:sp>
        <p:nvSpPr>
          <p:cNvPr id="32" name="Text 30"/>
          <p:cNvSpPr/>
          <p:nvPr/>
        </p:nvSpPr>
        <p:spPr>
          <a:xfrm>
            <a:off x="7635240" y="5047488"/>
            <a:ext cx="365760" cy="274320"/>
          </a:xfrm>
          <a:prstGeom prst="rect">
            <a:avLst/>
          </a:prstGeom>
          <a:noFill/>
          <a:ln/>
        </p:spPr>
        <p:txBody>
          <a:bodyPr wrap="square" lIns="0" tIns="0" rIns="0" bIns="0" rtlCol="0" anchor="ctr"/>
          <a:lstStyle/>
          <a:p>
            <a:pPr indent="0" marL="0">
              <a:buNone/>
            </a:pPr>
            <a:r>
              <a:rPr lang="en-US" sz="800" b="1" dirty="0">
                <a:solidFill>
                  <a:srgbClr val="1E3A8A"/>
                </a:solidFill>
                <a:latin typeface="Arial" pitchFamily="34" charset="0"/>
                <a:ea typeface="Arial" pitchFamily="34" charset="-122"/>
                <a:cs typeface="Arial" pitchFamily="34" charset="-120"/>
              </a:rPr>
              <a:t>Q4</a:t>
            </a:r>
            <a:endParaRPr lang="en-US" sz="800" dirty="0"/>
          </a:p>
        </p:txBody>
      </p:sp>
      <p:sp>
        <p:nvSpPr>
          <p:cNvPr id="33" name="Text 31"/>
          <p:cNvSpPr/>
          <p:nvPr/>
        </p:nvSpPr>
        <p:spPr>
          <a:xfrm>
            <a:off x="7635240" y="5312664"/>
            <a:ext cx="4343400" cy="822960"/>
          </a:xfrm>
          <a:prstGeom prst="rect">
            <a:avLst/>
          </a:prstGeom>
          <a:noFill/>
          <a:ln/>
        </p:spPr>
        <p:txBody>
          <a:bodyPr wrap="square" lIns="0" tIns="0" rIns="0" bIns="0" rtlCol="0" anchor="t"/>
          <a:lstStyle/>
          <a:p>
            <a:pPr indent="0" marL="0">
              <a:buNone/>
            </a:pPr>
            <a:r>
              <a:rPr lang="en-US" sz="1100" dirty="0">
                <a:solidFill>
                  <a:srgbClr val="CDD3EA"/>
                </a:solidFill>
                <a:latin typeface="Arial" pitchFamily="34" charset="0"/>
                <a:ea typeface="Arial" pitchFamily="34" charset="-122"/>
                <a:cs typeface="Arial" pitchFamily="34" charset="-120"/>
              </a:rPr>
              <a:t>What is the single biggest cultural barrier to great product work at your company right now?</a:t>
            </a:r>
            <a:endParaRPr lang="en-US" sz="1100" dirty="0"/>
          </a:p>
        </p:txBody>
      </p:sp>
      <p:sp>
        <p:nvSpPr>
          <p:cNvPr id="34" name="Shape 32"/>
          <p:cNvSpPr/>
          <p:nvPr/>
        </p:nvSpPr>
        <p:spPr>
          <a:xfrm>
            <a:off x="7406640" y="5870448"/>
            <a:ext cx="4572000" cy="758952"/>
          </a:xfrm>
          <a:prstGeom prst="rect">
            <a:avLst/>
          </a:prstGeom>
          <a:solidFill>
            <a:srgbClr val="2563EB">
              <a:alpha val="85000"/>
            </a:srgbClr>
          </a:solidFill>
          <a:ln/>
        </p:spPr>
      </p:sp>
      <p:sp>
        <p:nvSpPr>
          <p:cNvPr id="35" name="Text 33"/>
          <p:cNvSpPr/>
          <p:nvPr/>
        </p:nvSpPr>
        <p:spPr>
          <a:xfrm>
            <a:off x="7543800" y="5925312"/>
            <a:ext cx="4389120" cy="237744"/>
          </a:xfrm>
          <a:prstGeom prst="rect">
            <a:avLst/>
          </a:prstGeom>
          <a:noFill/>
          <a:ln/>
        </p:spPr>
        <p:txBody>
          <a:bodyPr wrap="square" lIns="0" tIns="0" rIns="0" bIns="0" rtlCol="0" anchor="ctr"/>
          <a:lstStyle/>
          <a:p>
            <a:pPr indent="0" marL="0">
              <a:buNone/>
            </a:pPr>
            <a:r>
              <a:rPr lang="en-US" sz="700" b="1" spc="200" kern="0" dirty="0">
                <a:solidFill>
                  <a:srgbClr val="93C5FD"/>
                </a:solidFill>
                <a:latin typeface="Arial" pitchFamily="34" charset="0"/>
                <a:ea typeface="Arial" pitchFamily="34" charset="-122"/>
                <a:cs typeface="Arial" pitchFamily="34" charset="-120"/>
              </a:rPr>
              <a:t>Culture Is What Gets Reinforced</a:t>
            </a:r>
            <a:endParaRPr lang="en-US" sz="700" dirty="0"/>
          </a:p>
        </p:txBody>
      </p:sp>
      <p:sp>
        <p:nvSpPr>
          <p:cNvPr id="36" name="Text 34"/>
          <p:cNvSpPr/>
          <p:nvPr/>
        </p:nvSpPr>
        <p:spPr>
          <a:xfrm>
            <a:off x="7543800" y="6135624"/>
            <a:ext cx="438912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What you reward is what you get — always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INSPIRED — Team Training Deck</dc:title>
  <dc:subject>PptxGenJS Presentation</dc:subject>
  <dc:creator>Book Study Facilitation Guide</dc:creator>
  <cp:lastModifiedBy>Book Study Facilitation Guide</cp:lastModifiedBy>
  <cp:revision>1</cp:revision>
  <dcterms:created xsi:type="dcterms:W3CDTF">2026-03-10T05:16:14Z</dcterms:created>
  <dcterms:modified xsi:type="dcterms:W3CDTF">2026-03-10T05:16:14Z</dcterms:modified>
</cp:coreProperties>
</file>